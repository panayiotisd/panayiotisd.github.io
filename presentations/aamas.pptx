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04" r:id="rId5"/>
  </p:sldMasterIdLst>
  <p:notesMasterIdLst>
    <p:notesMasterId r:id="rId23"/>
  </p:notesMasterIdLst>
  <p:handoutMasterIdLst>
    <p:handoutMasterId r:id="rId24"/>
  </p:handoutMasterIdLst>
  <p:sldIdLst>
    <p:sldId id="296" r:id="rId6"/>
    <p:sldId id="295" r:id="rId7"/>
    <p:sldId id="297" r:id="rId8"/>
    <p:sldId id="299" r:id="rId9"/>
    <p:sldId id="298" r:id="rId10"/>
    <p:sldId id="300" r:id="rId11"/>
    <p:sldId id="307" r:id="rId12"/>
    <p:sldId id="308" r:id="rId13"/>
    <p:sldId id="301" r:id="rId14"/>
    <p:sldId id="309" r:id="rId15"/>
    <p:sldId id="311" r:id="rId16"/>
    <p:sldId id="304" r:id="rId17"/>
    <p:sldId id="282" r:id="rId18"/>
    <p:sldId id="315" r:id="rId19"/>
    <p:sldId id="302" r:id="rId20"/>
    <p:sldId id="316" r:id="rId21"/>
    <p:sldId id="31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B050"/>
    <a:srgbClr val="0C74ED"/>
    <a:srgbClr val="000000"/>
    <a:srgbClr val="292929"/>
    <a:srgbClr val="495961"/>
    <a:srgbClr val="FEFEFE"/>
    <a:srgbClr val="015DDC"/>
    <a:srgbClr val="EF780B"/>
    <a:srgbClr val="2387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72286" autoAdjust="0"/>
  </p:normalViewPr>
  <p:slideViewPr>
    <p:cSldViewPr>
      <p:cViewPr varScale="1">
        <p:scale>
          <a:sx n="69" d="100"/>
          <a:sy n="69" d="100"/>
        </p:scale>
        <p:origin x="72" y="64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99" d="100"/>
          <a:sy n="99" d="100"/>
        </p:scale>
        <p:origin x="4008"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454761-1460-C44E-8EE9-132392DCD1C4}" type="datetimeFigureOut">
              <a:rPr lang="en-US" smtClean="0"/>
              <a:t>5/21/2026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5A82BE9-307A-AB49-B561-9E71E3CE8979}" type="slidenum">
              <a:rPr lang="en-US" smtClean="0"/>
              <a:t>‹#›</a:t>
            </a:fld>
            <a:endParaRPr lang="en-US"/>
          </a:p>
        </p:txBody>
      </p:sp>
    </p:spTree>
    <p:extLst>
      <p:ext uri="{BB962C8B-B14F-4D97-AF65-F5344CB8AC3E}">
        <p14:creationId xmlns:p14="http://schemas.microsoft.com/office/powerpoint/2010/main" val="20651290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0A3D421-3143-47CA-ACA9-5443A0940D94}" type="datetimeFigureOut">
              <a:rPr lang="en-GB" smtClean="0"/>
              <a:t>21/05/2026</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2FA50D6-6132-4FF4-AFC5-01B946DDB4AB}" type="slidenum">
              <a:rPr lang="en-GB" smtClean="0"/>
              <a:t>‹#›</a:t>
            </a:fld>
            <a:endParaRPr lang="en-GB"/>
          </a:p>
        </p:txBody>
      </p:sp>
    </p:spTree>
    <p:extLst>
      <p:ext uri="{BB962C8B-B14F-4D97-AF65-F5344CB8AC3E}">
        <p14:creationId xmlns:p14="http://schemas.microsoft.com/office/powerpoint/2010/main" val="507693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B6FBD701-B373-FB5B-A5DA-B5AEF790AF69}"/>
            </a:ext>
          </a:extLst>
        </p:cNvPr>
        <p:cNvGrpSpPr/>
        <p:nvPr/>
      </p:nvGrpSpPr>
      <p:grpSpPr>
        <a:xfrm>
          <a:off x="0" y="0"/>
          <a:ext cx="0" cy="0"/>
          <a:chOff x="0" y="0"/>
          <a:chExt cx="0" cy="0"/>
        </a:xfrm>
      </p:grpSpPr>
      <p:sp>
        <p:nvSpPr>
          <p:cNvPr id="199" name="Google Shape;199;g1882fcc12d0_0_0:notes">
            <a:extLst>
              <a:ext uri="{FF2B5EF4-FFF2-40B4-BE49-F238E27FC236}">
                <a16:creationId xmlns:a16="http://schemas.microsoft.com/office/drawing/2014/main" id="{E0D04F96-208C-8DD9-C451-8C45406525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g1882fcc12d0_0_0:notes">
            <a:extLst>
              <a:ext uri="{FF2B5EF4-FFF2-40B4-BE49-F238E27FC236}">
                <a16:creationId xmlns:a16="http://schemas.microsoft.com/office/drawing/2014/main" id="{446711ED-AE0D-9830-E84E-F37C8DA7394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dirty="0"/>
              <a:t>Hello, my name is Panayiotis Danassis. I’m an Assistant Professor at the University of Southampton. This is joint work with my collaborator Naman Goel from the University of Oxford and the Alan Turing Institute.</a:t>
            </a:r>
          </a:p>
          <a:p>
            <a:pPr marL="0" lvl="0" indent="0" algn="l" rtl="0">
              <a:lnSpc>
                <a:spcPct val="100000"/>
              </a:lnSpc>
              <a:spcBef>
                <a:spcPts val="0"/>
              </a:spcBef>
              <a:spcAft>
                <a:spcPts val="0"/>
              </a:spcAft>
              <a:buSzPts val="1400"/>
              <a:buNone/>
            </a:pPr>
            <a:endParaRPr lang="en-GB" dirty="0"/>
          </a:p>
          <a:p>
            <a:pPr marL="0" lvl="0" indent="0" algn="l" rtl="0">
              <a:lnSpc>
                <a:spcPct val="100000"/>
              </a:lnSpc>
              <a:spcBef>
                <a:spcPts val="0"/>
              </a:spcBef>
              <a:spcAft>
                <a:spcPts val="0"/>
              </a:spcAft>
              <a:buSzPts val="1400"/>
              <a:buNone/>
            </a:pPr>
            <a:r>
              <a:rPr lang="en-GB" dirty="0"/>
              <a:t>So, the title asks: </a:t>
            </a:r>
            <a:r>
              <a:rPr lang="en-GB" b="1" dirty="0"/>
              <a:t>Can vibe coding beat graduate CS students? </a:t>
            </a:r>
            <a:r>
              <a:rPr lang="en-GB" dirty="0"/>
              <a:t>And the answer is… </a:t>
            </a:r>
            <a:endParaRPr dirty="0"/>
          </a:p>
        </p:txBody>
      </p:sp>
    </p:spTree>
    <p:extLst>
      <p:ext uri="{BB962C8B-B14F-4D97-AF65-F5344CB8AC3E}">
        <p14:creationId xmlns:p14="http://schemas.microsoft.com/office/powerpoint/2010/main" val="617462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No.</a:t>
            </a:r>
          </a:p>
          <a:p>
            <a:r>
              <a:rPr lang="en-GB" dirty="0"/>
              <a:t>That is the 10-second version of the paper. Of course, the 10-minute version has an asterisk -- and really, the whole paper is about what is hiding behind this asterisk.</a:t>
            </a:r>
          </a:p>
          <a:p>
            <a:r>
              <a:rPr lang="en-GB" dirty="0"/>
              <a:t>But before we get to that, let me explain why this question matters right now.</a:t>
            </a:r>
          </a:p>
          <a:p>
            <a:endParaRPr lang="en-GB" dirty="0"/>
          </a:p>
          <a:p>
            <a:endParaRPr lang="en-GB" dirty="0"/>
          </a:p>
          <a:p>
            <a:endParaRPr lang="en-GB" dirty="0"/>
          </a:p>
          <a:p>
            <a:endParaRPr lang="en-GB" dirty="0"/>
          </a:p>
          <a:p>
            <a:r>
              <a:rPr lang="en-GB" dirty="0"/>
              <a:t>===</a:t>
            </a:r>
          </a:p>
          <a:p>
            <a:endParaRPr lang="en-GB" b="1" dirty="0"/>
          </a:p>
          <a:p>
            <a:endParaRPr lang="en-GB" b="1" dirty="0"/>
          </a:p>
          <a:p>
            <a:endParaRPr lang="en-GB" dirty="0"/>
          </a:p>
          <a:p>
            <a:r>
              <a:rPr lang="en-GB" dirty="0"/>
              <a:t>So that concludes the talk; thank you very much. Am I on time?</a:t>
            </a:r>
          </a:p>
          <a:p>
            <a:endParaRPr lang="en-GB" dirty="0"/>
          </a:p>
          <a:p>
            <a:r>
              <a:rPr lang="en-GB" dirty="0"/>
              <a:t>Okay, of course, this is only the headline answer. There is an asterisk here -- and really, the whole paper is about what is hiding behind this asterisk.</a:t>
            </a:r>
          </a:p>
          <a:p>
            <a:r>
              <a:rPr lang="en-GB" dirty="0"/>
              <a:t>But before we get to that, let me explain why this question matters right now.</a:t>
            </a:r>
          </a:p>
          <a:p>
            <a:endParaRPr lang="en-GB" dirty="0"/>
          </a:p>
        </p:txBody>
      </p:sp>
      <p:sp>
        <p:nvSpPr>
          <p:cNvPr id="4" name="Slide Number Placeholder 3"/>
          <p:cNvSpPr>
            <a:spLocks noGrp="1"/>
          </p:cNvSpPr>
          <p:nvPr>
            <p:ph type="sldNum" sz="quarter" idx="5"/>
          </p:nvPr>
        </p:nvSpPr>
        <p:spPr/>
        <p:txBody>
          <a:bodyPr/>
          <a:lstStyle/>
          <a:p>
            <a:fld id="{C2FA50D6-6132-4FF4-AFC5-01B946DDB4AB}" type="slidenum">
              <a:rPr lang="en-GB" smtClean="0"/>
              <a:t>2</a:t>
            </a:fld>
            <a:endParaRPr lang="en-GB"/>
          </a:p>
        </p:txBody>
      </p:sp>
    </p:spTree>
    <p:extLst>
      <p:ext uri="{BB962C8B-B14F-4D97-AF65-F5344CB8AC3E}">
        <p14:creationId xmlns:p14="http://schemas.microsoft.com/office/powerpoint/2010/main" val="2645180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AI-generated code is no longer a niche tool used by a few early adopters. It is becoming a normal part of software development.</a:t>
            </a:r>
          </a:p>
          <a:p>
            <a:r>
              <a:rPr lang="en-GB" dirty="0"/>
              <a:t>In fact, Google recently reported that </a:t>
            </a:r>
            <a:r>
              <a:rPr lang="en-GB" b="1" dirty="0"/>
              <a:t>75% of all new code at Google is now AI-generated</a:t>
            </a:r>
            <a:r>
              <a:rPr lang="en-GB" dirty="0"/>
              <a:t>.</a:t>
            </a:r>
          </a:p>
        </p:txBody>
      </p:sp>
      <p:sp>
        <p:nvSpPr>
          <p:cNvPr id="4" name="Slide Number Placeholder 3"/>
          <p:cNvSpPr>
            <a:spLocks noGrp="1"/>
          </p:cNvSpPr>
          <p:nvPr>
            <p:ph type="sldNum" sz="quarter" idx="5"/>
          </p:nvPr>
        </p:nvSpPr>
        <p:spPr/>
        <p:txBody>
          <a:bodyPr/>
          <a:lstStyle/>
          <a:p>
            <a:fld id="{C2FA50D6-6132-4FF4-AFC5-01B946DDB4AB}" type="slidenum">
              <a:rPr lang="en-GB" smtClean="0"/>
              <a:t>3</a:t>
            </a:fld>
            <a:endParaRPr lang="en-GB"/>
          </a:p>
        </p:txBody>
      </p:sp>
    </p:spTree>
    <p:extLst>
      <p:ext uri="{BB962C8B-B14F-4D97-AF65-F5344CB8AC3E}">
        <p14:creationId xmlns:p14="http://schemas.microsoft.com/office/powerpoint/2010/main" val="40906886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3EB89-2AED-A6A3-FD23-20FFC9011B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4993BF-B85F-747A-4F82-D271689D1B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B703A2-D1B5-9AFD-7393-3940C8317694}"/>
              </a:ext>
            </a:extLst>
          </p:cNvPr>
          <p:cNvSpPr>
            <a:spLocks noGrp="1"/>
          </p:cNvSpPr>
          <p:nvPr>
            <p:ph type="body" idx="1"/>
          </p:nvPr>
        </p:nvSpPr>
        <p:spPr/>
        <p:txBody>
          <a:bodyPr/>
          <a:lstStyle/>
          <a:p>
            <a:r>
              <a:rPr lang="en-GB" dirty="0"/>
              <a:t>Now, I want to highlight a specific kind of AI-assisted coding that has received a lot of attention recently: </a:t>
            </a:r>
            <a:r>
              <a:rPr lang="en-GB" b="1" dirty="0"/>
              <a:t>vibe coding</a:t>
            </a:r>
            <a:r>
              <a:rPr lang="en-GB" dirty="0"/>
              <a:t>.</a:t>
            </a:r>
          </a:p>
          <a:p>
            <a:r>
              <a:rPr lang="en-GB" dirty="0"/>
              <a:t>The idea is simple: you describe what you want in natural language, and the system turns that into working code.</a:t>
            </a:r>
          </a:p>
          <a:p>
            <a:endParaRPr lang="en-GB" dirty="0"/>
          </a:p>
          <a:p>
            <a:r>
              <a:rPr lang="en-GB" dirty="0"/>
              <a:t>For example, I was organizing a workshop here on Monday, I asked ChatGPT to build the website and a few minutes later, I had this beautiful and functional website!</a:t>
            </a:r>
          </a:p>
        </p:txBody>
      </p:sp>
      <p:sp>
        <p:nvSpPr>
          <p:cNvPr id="4" name="Slide Number Placeholder 3">
            <a:extLst>
              <a:ext uri="{FF2B5EF4-FFF2-40B4-BE49-F238E27FC236}">
                <a16:creationId xmlns:a16="http://schemas.microsoft.com/office/drawing/2014/main" id="{048334C4-5CE3-D3BD-A8F4-C6D532856783}"/>
              </a:ext>
            </a:extLst>
          </p:cNvPr>
          <p:cNvSpPr>
            <a:spLocks noGrp="1"/>
          </p:cNvSpPr>
          <p:nvPr>
            <p:ph type="sldNum" sz="quarter" idx="5"/>
          </p:nvPr>
        </p:nvSpPr>
        <p:spPr/>
        <p:txBody>
          <a:bodyPr/>
          <a:lstStyle/>
          <a:p>
            <a:fld id="{C2FA50D6-6132-4FF4-AFC5-01B946DDB4AB}" type="slidenum">
              <a:rPr lang="en-GB" smtClean="0"/>
              <a:t>4</a:t>
            </a:fld>
            <a:endParaRPr lang="en-GB"/>
          </a:p>
        </p:txBody>
      </p:sp>
    </p:spTree>
    <p:extLst>
      <p:ext uri="{BB962C8B-B14F-4D97-AF65-F5344CB8AC3E}">
        <p14:creationId xmlns:p14="http://schemas.microsoft.com/office/powerpoint/2010/main" val="4223566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promise of vibe-coding is that </a:t>
            </a:r>
            <a:r>
              <a:rPr lang="en-GB" b="1" dirty="0"/>
              <a:t>anyone</a:t>
            </a:r>
            <a:r>
              <a:rPr lang="en-GB" dirty="0"/>
              <a:t>, regardless of technical background, can turn their ideas into code in seconds.</a:t>
            </a:r>
          </a:p>
          <a:p>
            <a:endParaRPr lang="en-GB" dirty="0"/>
          </a:p>
          <a:p>
            <a:r>
              <a:rPr lang="en-GB" dirty="0"/>
              <a:t>And this promise has now become not only a technical trend, but also a business narrative. You see this in startup valuations, headlines, and ads like this one on the right: “Build an app without knowing how to code.”</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But how far does that promise go?</a:t>
            </a:r>
            <a:endParaRPr lang="en-GB" dirty="0"/>
          </a:p>
        </p:txBody>
      </p:sp>
      <p:sp>
        <p:nvSpPr>
          <p:cNvPr id="4" name="Slide Number Placeholder 3"/>
          <p:cNvSpPr>
            <a:spLocks noGrp="1"/>
          </p:cNvSpPr>
          <p:nvPr>
            <p:ph type="sldNum" sz="quarter" idx="5"/>
          </p:nvPr>
        </p:nvSpPr>
        <p:spPr/>
        <p:txBody>
          <a:bodyPr/>
          <a:lstStyle/>
          <a:p>
            <a:fld id="{C2FA50D6-6132-4FF4-AFC5-01B946DDB4AB}" type="slidenum">
              <a:rPr lang="en-GB" smtClean="0"/>
              <a:t>5</a:t>
            </a:fld>
            <a:endParaRPr lang="en-GB"/>
          </a:p>
        </p:txBody>
      </p:sp>
    </p:spTree>
    <p:extLst>
      <p:ext uri="{BB962C8B-B14F-4D97-AF65-F5344CB8AC3E}">
        <p14:creationId xmlns:p14="http://schemas.microsoft.com/office/powerpoint/2010/main" val="112783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in this paper, we try to put the vibe coding promise to the test.</a:t>
            </a:r>
          </a:p>
          <a:p>
            <a:r>
              <a:rPr lang="en-GB" dirty="0"/>
              <a:t>Most existing coding benchmarks focus on problems where there is a clearly defined correct or incorrect answer. For example, “Given an integer array, return X.”</a:t>
            </a:r>
          </a:p>
          <a:p>
            <a:r>
              <a:rPr lang="en-GB" dirty="0"/>
              <a:t>But many real-world coding problems are not like this.</a:t>
            </a:r>
          </a:p>
          <a:p>
            <a:r>
              <a:rPr lang="en-GB" dirty="0"/>
              <a:t>In the real world, we often care about code that has to make trade-offs. It has to plan under time limits. It has to optimize. It has to interact with other agents. It has to perform well, not just compile.</a:t>
            </a:r>
          </a:p>
          <a:p>
            <a:r>
              <a:rPr lang="en-GB" dirty="0"/>
              <a:t>So the question is:</a:t>
            </a:r>
          </a:p>
          <a:p>
            <a:r>
              <a:rPr lang="en-GB" b="0" dirty="0"/>
              <a:t>Does high performance on </a:t>
            </a:r>
            <a:r>
              <a:rPr lang="en-GB" b="1" dirty="0"/>
              <a:t>existing</a:t>
            </a:r>
            <a:r>
              <a:rPr lang="en-GB" b="0" dirty="0"/>
              <a:t> coding benchmarks translate to the ability to </a:t>
            </a:r>
            <a:r>
              <a:rPr lang="en-GB" dirty="0"/>
              <a:t>compete in these kind of settings?</a:t>
            </a:r>
            <a:endParaRPr lang="en-GB"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To answer this, we need two things: a benchmark that contains these elements, and an evaluation method that is not just unit tests, because now we are dealing with problems that have no closed form solution!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For the former, in this work, we use a logistics optimization setting, while for the latter we compare against human coded agents. Let me elaborate on all this.</a:t>
            </a:r>
          </a:p>
          <a:p>
            <a:endParaRPr lang="en-GB" b="1" dirty="0"/>
          </a:p>
          <a:p>
            <a:endParaRPr lang="en-GB" b="1" dirty="0"/>
          </a:p>
          <a:p>
            <a:r>
              <a:rPr lang="en-GB" b="1" dirty="0"/>
              <a:t>3:30 mins</a:t>
            </a:r>
          </a:p>
        </p:txBody>
      </p:sp>
      <p:sp>
        <p:nvSpPr>
          <p:cNvPr id="4" name="Slide Number Placeholder 3"/>
          <p:cNvSpPr>
            <a:spLocks noGrp="1"/>
          </p:cNvSpPr>
          <p:nvPr>
            <p:ph type="sldNum" sz="quarter" idx="5"/>
          </p:nvPr>
        </p:nvSpPr>
        <p:spPr/>
        <p:txBody>
          <a:bodyPr/>
          <a:lstStyle/>
          <a:p>
            <a:fld id="{C2FA50D6-6132-4FF4-AFC5-01B946DDB4AB}" type="slidenum">
              <a:rPr lang="en-GB" smtClean="0"/>
              <a:t>6</a:t>
            </a:fld>
            <a:endParaRPr lang="en-GB"/>
          </a:p>
        </p:txBody>
      </p:sp>
    </p:spTree>
    <p:extLst>
      <p:ext uri="{BB962C8B-B14F-4D97-AF65-F5344CB8AC3E}">
        <p14:creationId xmlns:p14="http://schemas.microsoft.com/office/powerpoint/2010/main" val="8577488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3F003-6D98-AE6A-BB7A-131443BAC3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9B59F5-629D-DDED-BE58-3794DB7CBC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77472D-8179-F5FE-D598-4BDCD7C5A8C1}"/>
              </a:ext>
            </a:extLst>
          </p:cNvPr>
          <p:cNvSpPr>
            <a:spLocks noGrp="1"/>
          </p:cNvSpPr>
          <p:nvPr>
            <p:ph type="body" idx="1"/>
          </p:nvPr>
        </p:nvSpPr>
        <p:spPr/>
        <p:txBody>
          <a:bodyPr/>
          <a:lstStyle/>
          <a:p>
            <a:r>
              <a:rPr lang="en-GB" dirty="0"/>
              <a:t>First, we need a benchmark that actually contains these ingredients. At the bottom right, you see the simplified version of the task we give to the model, which is building an agent to manage a delivery company. Like Amazon for example. The goal is to optimally bid for tasks, and delivery the won tasks, so that to maximize profit.</a:t>
            </a:r>
          </a:p>
        </p:txBody>
      </p:sp>
      <p:sp>
        <p:nvSpPr>
          <p:cNvPr id="4" name="Slide Number Placeholder 3">
            <a:extLst>
              <a:ext uri="{FF2B5EF4-FFF2-40B4-BE49-F238E27FC236}">
                <a16:creationId xmlns:a16="http://schemas.microsoft.com/office/drawing/2014/main" id="{CD9E5684-57AD-56D0-65BE-BA639CA5E5D0}"/>
              </a:ext>
            </a:extLst>
          </p:cNvPr>
          <p:cNvSpPr>
            <a:spLocks noGrp="1"/>
          </p:cNvSpPr>
          <p:nvPr>
            <p:ph type="sldNum" sz="quarter" idx="5"/>
          </p:nvPr>
        </p:nvSpPr>
        <p:spPr/>
        <p:txBody>
          <a:bodyPr/>
          <a:lstStyle/>
          <a:p>
            <a:fld id="{C2FA50D6-6132-4FF4-AFC5-01B946DDB4AB}" type="slidenum">
              <a:rPr lang="en-GB" smtClean="0"/>
              <a:t>7</a:t>
            </a:fld>
            <a:endParaRPr lang="en-GB"/>
          </a:p>
        </p:txBody>
      </p:sp>
    </p:spTree>
    <p:extLst>
      <p:ext uri="{BB962C8B-B14F-4D97-AF65-F5344CB8AC3E}">
        <p14:creationId xmlns:p14="http://schemas.microsoft.com/office/powerpoint/2010/main" val="40689775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FE0C3-5051-2E43-9CD5-6DDE664326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E65956-34BF-9248-3C5F-436D6C342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DFE79D-6219-C0A9-FCE0-CC0516D0459B}"/>
              </a:ext>
            </a:extLst>
          </p:cNvPr>
          <p:cNvSpPr>
            <a:spLocks noGrp="1"/>
          </p:cNvSpPr>
          <p:nvPr>
            <p:ph type="body" idx="1"/>
          </p:nvPr>
        </p:nvSpPr>
        <p:spPr/>
        <p:txBody>
          <a:bodyPr/>
          <a:lstStyle/>
          <a:p>
            <a:r>
              <a:rPr lang="en-GB" dirty="0"/>
              <a:t>Second, we need a different evaluation method. Because this is an open-ended optimization problem, we cannot simply ask whether the generated code is correct or incorrect. There is no simple closed-form optimal answer here, and a pass/fail unit test is not feasible.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So instead, we evaluate LLM-coded agents in a competition against </a:t>
            </a:r>
            <a:r>
              <a:rPr lang="en-GB" b="1" dirty="0"/>
              <a:t>agents coded by students, </a:t>
            </a:r>
            <a:r>
              <a:rPr lang="en-GB" dirty="0"/>
              <a:t>before the advent of LLMs. These students had to solve this as a course project. So the comparison is not against an unrealistic gold standard.</a:t>
            </a:r>
          </a:p>
          <a:p>
            <a:r>
              <a:rPr lang="en-GB" dirty="0"/>
              <a:t>This allows us to ask a very concrete question: if we gave modern LLMs the same kind of task, would they produce agents that can compete with these students?</a:t>
            </a:r>
          </a:p>
        </p:txBody>
      </p:sp>
      <p:sp>
        <p:nvSpPr>
          <p:cNvPr id="4" name="Slide Number Placeholder 3">
            <a:extLst>
              <a:ext uri="{FF2B5EF4-FFF2-40B4-BE49-F238E27FC236}">
                <a16:creationId xmlns:a16="http://schemas.microsoft.com/office/drawing/2014/main" id="{C66C6273-80A6-0402-DCA6-E9F3F9B162BE}"/>
              </a:ext>
            </a:extLst>
          </p:cNvPr>
          <p:cNvSpPr>
            <a:spLocks noGrp="1"/>
          </p:cNvSpPr>
          <p:nvPr>
            <p:ph type="sldNum" sz="quarter" idx="5"/>
          </p:nvPr>
        </p:nvSpPr>
        <p:spPr/>
        <p:txBody>
          <a:bodyPr/>
          <a:lstStyle/>
          <a:p>
            <a:fld id="{C2FA50D6-6132-4FF4-AFC5-01B946DDB4AB}" type="slidenum">
              <a:rPr lang="en-GB" smtClean="0"/>
              <a:t>8</a:t>
            </a:fld>
            <a:endParaRPr lang="en-GB"/>
          </a:p>
        </p:txBody>
      </p:sp>
    </p:spTree>
    <p:extLst>
      <p:ext uri="{BB962C8B-B14F-4D97-AF65-F5344CB8AC3E}">
        <p14:creationId xmlns:p14="http://schemas.microsoft.com/office/powerpoint/2010/main" val="24056961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Let’s start with the benchmark.</a:t>
            </a:r>
          </a:p>
          <a:p>
            <a:r>
              <a:rPr lang="en-GB" dirty="0"/>
              <a:t>The benchmark is based on what we call the </a:t>
            </a:r>
            <a:r>
              <a:rPr lang="en-GB" b="1" dirty="0"/>
              <a:t>Auction, Pickup, and Delivery Problem. </a:t>
            </a:r>
            <a:r>
              <a:rPr lang="en-GB" dirty="0"/>
              <a:t>The goal is to maximize the profit of a transportation company.</a:t>
            </a:r>
          </a:p>
          <a:p>
            <a:r>
              <a:rPr lang="en-GB" dirty="0"/>
              <a:t>We have multiple companies, represented by agents, competing in the same environment. Each company owns several vehicles.</a:t>
            </a:r>
          </a:p>
          <a:p>
            <a:r>
              <a:rPr lang="en-GB" dirty="0"/>
              <a:t>Then tasks appear in the network and are auctioned one by one. To bid well, an agent has to reason about several things, for example: His marginal cost, his opponent’s likely marginal cost, and many other strategic considerations like for example having a loss early on to better position his vehicles.</a:t>
            </a:r>
          </a:p>
          <a:p>
            <a:r>
              <a:rPr lang="en-GB" dirty="0"/>
              <a:t>Then, after the auction is over, each company has to compute a delivery plan for all tasks it won, while respecting constraints.</a:t>
            </a:r>
          </a:p>
        </p:txBody>
      </p:sp>
      <p:sp>
        <p:nvSpPr>
          <p:cNvPr id="4" name="Slide Number Placeholder 3"/>
          <p:cNvSpPr>
            <a:spLocks noGrp="1"/>
          </p:cNvSpPr>
          <p:nvPr>
            <p:ph type="sldNum" sz="quarter" idx="5"/>
          </p:nvPr>
        </p:nvSpPr>
        <p:spPr/>
        <p:txBody>
          <a:bodyPr/>
          <a:lstStyle/>
          <a:p>
            <a:fld id="{C2FA50D6-6132-4FF4-AFC5-01B946DDB4AB}" type="slidenum">
              <a:rPr lang="en-GB" smtClean="0"/>
              <a:t>9</a:t>
            </a:fld>
            <a:endParaRPr lang="en-GB"/>
          </a:p>
        </p:txBody>
      </p:sp>
    </p:spTree>
    <p:extLst>
      <p:ext uri="{BB962C8B-B14F-4D97-AF65-F5344CB8AC3E}">
        <p14:creationId xmlns:p14="http://schemas.microsoft.com/office/powerpoint/2010/main" val="9153887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3372D-8413-B7DF-74AF-5BEAC4CC26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1E5D1D-0D96-B0B9-93A0-07002AA438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EC8AF5-D75E-2CD9-A6EE-E3E08ABF32DC}"/>
              </a:ext>
            </a:extLst>
          </p:cNvPr>
          <p:cNvSpPr>
            <a:spLocks noGrp="1"/>
          </p:cNvSpPr>
          <p:nvPr>
            <p:ph type="body" idx="1"/>
          </p:nvPr>
        </p:nvSpPr>
        <p:spPr/>
        <p:txBody>
          <a:bodyPr/>
          <a:lstStyle/>
          <a:p>
            <a:r>
              <a:rPr lang="en-GB" dirty="0"/>
              <a:t>So why is this not just another coding task?</a:t>
            </a:r>
          </a:p>
          <a:p>
            <a:r>
              <a:rPr lang="en-GB" dirty="0"/>
              <a:t>Because of all the sources of difficulty.</a:t>
            </a:r>
          </a:p>
          <a:p>
            <a:r>
              <a:rPr lang="en-GB" dirty="0"/>
              <a:t>The agent has to compete in sequential auctions, coordinate multiple vehicles, solve an NP-hard routing problem under time limits, reason about capacity and opportunity cost, and anticipate both future tasks and opponent </a:t>
            </a:r>
            <a:r>
              <a:rPr lang="en-GB" dirty="0" err="1"/>
              <a:t>behavior</a:t>
            </a:r>
            <a:r>
              <a:rPr lang="en-GB" dirty="0"/>
              <a:t>, and so on.</a:t>
            </a:r>
          </a:p>
          <a:p>
            <a:r>
              <a:rPr lang="en-GB" dirty="0"/>
              <a:t>I won’t go through every item in detail, but the key point is this: </a:t>
            </a:r>
          </a:p>
          <a:p>
            <a:endParaRPr lang="en-GB" dirty="0"/>
          </a:p>
          <a:p>
            <a:r>
              <a:rPr lang="en-GB" dirty="0"/>
              <a:t>there is no single off-the-shelf or memorized algorithm you can drop in here and expect to win.</a:t>
            </a:r>
          </a:p>
        </p:txBody>
      </p:sp>
      <p:sp>
        <p:nvSpPr>
          <p:cNvPr id="4" name="Slide Number Placeholder 3">
            <a:extLst>
              <a:ext uri="{FF2B5EF4-FFF2-40B4-BE49-F238E27FC236}">
                <a16:creationId xmlns:a16="http://schemas.microsoft.com/office/drawing/2014/main" id="{11178B7A-EAF0-844F-38E8-979A17CEC020}"/>
              </a:ext>
            </a:extLst>
          </p:cNvPr>
          <p:cNvSpPr>
            <a:spLocks noGrp="1"/>
          </p:cNvSpPr>
          <p:nvPr>
            <p:ph type="sldNum" sz="quarter" idx="5"/>
          </p:nvPr>
        </p:nvSpPr>
        <p:spPr/>
        <p:txBody>
          <a:bodyPr/>
          <a:lstStyle/>
          <a:p>
            <a:fld id="{C2FA50D6-6132-4FF4-AFC5-01B946DDB4AB}" type="slidenum">
              <a:rPr lang="en-GB" smtClean="0"/>
              <a:t>10</a:t>
            </a:fld>
            <a:endParaRPr lang="en-GB"/>
          </a:p>
        </p:txBody>
      </p:sp>
    </p:spTree>
    <p:extLst>
      <p:ext uri="{BB962C8B-B14F-4D97-AF65-F5344CB8AC3E}">
        <p14:creationId xmlns:p14="http://schemas.microsoft.com/office/powerpoint/2010/main" val="38219386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who are the competitors?</a:t>
            </a:r>
          </a:p>
          <a:p>
            <a:r>
              <a:rPr lang="en-GB" dirty="0"/>
              <a:t>On the human side, we have agents developed before the advent of LLMs.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Twelve of them were developed by students in the Intelligent Agents course at EPFL. These were Master’s students — not professional machine learning or software engineers. These students had to solve this as a course project. So the comparison is not against an unrealistic gold standard.</a:t>
            </a:r>
          </a:p>
          <a:p>
            <a:r>
              <a:rPr lang="en-GB" dirty="0"/>
              <a:t>We also include simple baseline agents developed by members of the EPFL AI Lab. These baselines use simple strategies like bidding a fix number.</a:t>
            </a:r>
          </a:p>
          <a:p>
            <a:endParaRPr lang="en-GB" dirty="0"/>
          </a:p>
          <a:p>
            <a:r>
              <a:rPr lang="en-GB" dirty="0"/>
              <a:t>On the LLM side, we use four state-of-the-art models: GPT-5 Thinking, Gemini 2.5 Pro, Claude Opus 4.1, and DeepSeek R1. Importantly, we also test five prompting strategies.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Two are author-written prompts. These are prompts that we wrote to contain the information students received in the course. This allows us to ask a very concrete question: </a:t>
            </a:r>
            <a:r>
              <a:rPr lang="en-GB" b="1" dirty="0"/>
              <a:t>if we gave modern LLMs the same kind of information that students received, would they produce agents that can compete with these students?</a:t>
            </a:r>
          </a:p>
          <a:p>
            <a:r>
              <a:rPr lang="en-GB" dirty="0"/>
              <a:t>Then we test iterative refinement: generate an agent, evaluate it, give the model feedback, and ask whether it wants to improve the agent before entering the tournament.</a:t>
            </a:r>
          </a:p>
          <a:p>
            <a:r>
              <a:rPr lang="en-GB" dirty="0"/>
              <a:t>We also test an “LLM as critic” setup, where GPT-5 reviews the generated code and suggests improvements.</a:t>
            </a:r>
          </a:p>
          <a:p>
            <a:r>
              <a:rPr lang="en-GB" dirty="0"/>
              <a:t>Finally, we test a GPT-5-generated optimized prompt.</a:t>
            </a:r>
          </a:p>
          <a:p>
            <a:r>
              <a:rPr lang="en-GB" dirty="0"/>
              <a:t>For robustness, each model-prompt combination is run twice, giving us 40 LLM-coded agents in total.</a:t>
            </a:r>
          </a:p>
          <a:p>
            <a:endParaRPr lang="en-GB" dirty="0"/>
          </a:p>
          <a:p>
            <a:r>
              <a:rPr lang="en-GB" b="1" dirty="0"/>
              <a:t>7mins</a:t>
            </a:r>
          </a:p>
        </p:txBody>
      </p:sp>
      <p:sp>
        <p:nvSpPr>
          <p:cNvPr id="4" name="Slide Number Placeholder 3"/>
          <p:cNvSpPr>
            <a:spLocks noGrp="1"/>
          </p:cNvSpPr>
          <p:nvPr>
            <p:ph type="sldNum" sz="quarter" idx="5"/>
          </p:nvPr>
        </p:nvSpPr>
        <p:spPr/>
        <p:txBody>
          <a:bodyPr/>
          <a:lstStyle/>
          <a:p>
            <a:fld id="{C2FA50D6-6132-4FF4-AFC5-01B946DDB4AB}" type="slidenum">
              <a:rPr lang="en-GB" smtClean="0"/>
              <a:t>11</a:t>
            </a:fld>
            <a:endParaRPr lang="en-GB"/>
          </a:p>
        </p:txBody>
      </p:sp>
    </p:spTree>
    <p:extLst>
      <p:ext uri="{BB962C8B-B14F-4D97-AF65-F5344CB8AC3E}">
        <p14:creationId xmlns:p14="http://schemas.microsoft.com/office/powerpoint/2010/main" val="20952513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evaluate the agents in a tournament, not with a unit test.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There are 57 agents, 4 network topologies, and 12 double all-play-all tournaments. Every agent plays every other agent twice, swapping company assignments for fairness.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 total, we run almost 40,000 matches!</a:t>
            </a:r>
          </a:p>
          <a:p>
            <a:endParaRPr lang="en-GB" dirty="0"/>
          </a:p>
          <a:p>
            <a:r>
              <a:rPr lang="en-GB" dirty="0"/>
              <a:t>We are not asking: “Does the code run?”</a:t>
            </a:r>
          </a:p>
          <a:p>
            <a:r>
              <a:rPr lang="en-GB" dirty="0"/>
              <a:t>We are asking: “When this code faces another agent, does it make good enough decisions to win?”</a:t>
            </a:r>
          </a:p>
          <a:p>
            <a:endParaRPr lang="en-GB" dirty="0"/>
          </a:p>
          <a:p>
            <a:endParaRPr lang="en-GB" dirty="0"/>
          </a:p>
        </p:txBody>
      </p:sp>
      <p:sp>
        <p:nvSpPr>
          <p:cNvPr id="4" name="Slide Number Placeholder 3"/>
          <p:cNvSpPr>
            <a:spLocks noGrp="1"/>
          </p:cNvSpPr>
          <p:nvPr>
            <p:ph type="sldNum" sz="quarter" idx="5"/>
          </p:nvPr>
        </p:nvSpPr>
        <p:spPr/>
        <p:txBody>
          <a:bodyPr/>
          <a:lstStyle/>
          <a:p>
            <a:fld id="{C2FA50D6-6132-4FF4-AFC5-01B946DDB4AB}" type="slidenum">
              <a:rPr lang="en-GB" smtClean="0"/>
              <a:t>12</a:t>
            </a:fld>
            <a:endParaRPr lang="en-GB"/>
          </a:p>
        </p:txBody>
      </p:sp>
    </p:spTree>
    <p:extLst>
      <p:ext uri="{BB962C8B-B14F-4D97-AF65-F5344CB8AC3E}">
        <p14:creationId xmlns:p14="http://schemas.microsoft.com/office/powerpoint/2010/main" val="33145083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headline result is very clear: </a:t>
            </a:r>
            <a:r>
              <a:rPr lang="en-GB" b="1" dirty="0"/>
              <a:t>humans dominated</a:t>
            </a:r>
            <a:r>
              <a:rPr lang="en-GB" dirty="0"/>
              <a:t>.</a:t>
            </a:r>
          </a:p>
          <a:p>
            <a:r>
              <a:rPr lang="en-GB" dirty="0"/>
              <a:t>The top five spots are consistently won by human-coded agents.</a:t>
            </a:r>
          </a:p>
          <a:p>
            <a:r>
              <a:rPr lang="en-GB" dirty="0"/>
              <a:t>The best LLM-coded agents are not terrible, but they do not beat the strongest student solutions. And again, these are students, not professional engineers!</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Now, most of LLM-generated agents, specifically </a:t>
            </a:r>
            <a:r>
              <a:rPr lang="en-GB" b="1" dirty="0"/>
              <a:t>33 out of 40,</a:t>
            </a:r>
            <a:r>
              <a:rPr lang="en-GB" dirty="0"/>
              <a:t> do not just lose to the best students. They also lose to relatively simple hand-written baselines.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We also tried giving the best human solution as input to the best-performing LLM, asking it to improve the code.</a:t>
            </a:r>
          </a:p>
          <a:p>
            <a:r>
              <a:rPr lang="en-GB" dirty="0"/>
              <a:t>And instead of improving it, the model made the solution significantly worse.</a:t>
            </a:r>
          </a:p>
          <a:p>
            <a:r>
              <a:rPr lang="en-GB" dirty="0"/>
              <a:t>This is a very important cautionary result. It suggests that unguided refactoring or “improvement” by an LLM can degrade strategic code, even when the original code is strong.</a:t>
            </a:r>
          </a:p>
          <a:p>
            <a:endParaRPr lang="en-GB" dirty="0"/>
          </a:p>
          <a:p>
            <a:r>
              <a:rPr lang="en-GB" dirty="0"/>
              <a:t>We also observed many shortfalls during testing. As an example, that is not part of the tournament, comes from A*. Several models implemented an inadmissible heuristic while claiming it was admissible. So, the question here is, does an LLM implementation actually satisfy the assumptions it claims to satisfy?</a:t>
            </a:r>
          </a:p>
          <a:p>
            <a:endParaRPr lang="en-GB" dirty="0"/>
          </a:p>
        </p:txBody>
      </p:sp>
      <p:sp>
        <p:nvSpPr>
          <p:cNvPr id="4" name="Slide Number Placeholder 3"/>
          <p:cNvSpPr>
            <a:spLocks noGrp="1"/>
          </p:cNvSpPr>
          <p:nvPr>
            <p:ph type="sldNum" sz="quarter" idx="5"/>
          </p:nvPr>
        </p:nvSpPr>
        <p:spPr/>
        <p:txBody>
          <a:bodyPr/>
          <a:lstStyle/>
          <a:p>
            <a:fld id="{C2FA50D6-6132-4FF4-AFC5-01B946DDB4AB}" type="slidenum">
              <a:rPr lang="en-GB" smtClean="0"/>
              <a:t>13</a:t>
            </a:fld>
            <a:endParaRPr lang="en-GB"/>
          </a:p>
        </p:txBody>
      </p:sp>
    </p:spTree>
    <p:extLst>
      <p:ext uri="{BB962C8B-B14F-4D97-AF65-F5344CB8AC3E}">
        <p14:creationId xmlns:p14="http://schemas.microsoft.com/office/powerpoint/2010/main" val="32576672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So what should we take away from this?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First: </a:t>
            </a:r>
            <a:r>
              <a:rPr lang="en-GB" b="1" dirty="0"/>
              <a:t>runnable is not the same as competitive</a:t>
            </a:r>
            <a:r>
              <a:rPr lang="en-GB"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Second: LLMs are useful for scaffolding, but humans need to remain in the loop, especially for problems requiring optimization and planning and for mission critical applications.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Third: refactor with caution.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Finally, let me be clear about scope. This is not a leaderboard of LLMs, and we are not claiming to have found the optimal prompt or the best LLM performance. But this work points to a broader opportunity. Many AI evaluations are still static: prompt, answer, correctness check. In many real-world settings, difficulty comes from interaction — agents adapt, incentives matter, and decisions shape what happens next. Exactly the kind of setting the AAMAS community understands deeply. This is what this work is mainly about: defining the next frontier of AI Evaluation.</a:t>
            </a:r>
          </a:p>
        </p:txBody>
      </p:sp>
      <p:sp>
        <p:nvSpPr>
          <p:cNvPr id="4" name="Slide Number Placeholder 3"/>
          <p:cNvSpPr>
            <a:spLocks noGrp="1"/>
          </p:cNvSpPr>
          <p:nvPr>
            <p:ph type="sldNum" sz="quarter" idx="5"/>
          </p:nvPr>
        </p:nvSpPr>
        <p:spPr/>
        <p:txBody>
          <a:bodyPr/>
          <a:lstStyle/>
          <a:p>
            <a:fld id="{C2FA50D6-6132-4FF4-AFC5-01B946DDB4AB}" type="slidenum">
              <a:rPr lang="en-GB" smtClean="0"/>
              <a:t>14</a:t>
            </a:fld>
            <a:endParaRPr lang="en-GB"/>
          </a:p>
        </p:txBody>
      </p:sp>
    </p:spTree>
    <p:extLst>
      <p:ext uri="{BB962C8B-B14F-4D97-AF65-F5344CB8AC3E}">
        <p14:creationId xmlns:p14="http://schemas.microsoft.com/office/powerpoint/2010/main" val="20314044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To conclude, </a:t>
            </a:r>
          </a:p>
          <a:p>
            <a:r>
              <a:rPr lang="en-GB" b="0" dirty="0"/>
              <a:t>We showed that producing code that compiles i</a:t>
            </a:r>
            <a:r>
              <a:rPr lang="en-GB" dirty="0"/>
              <a:t>s not the finish line when your code has to face another agent. This should not be read as an argument against using LLMs for coding. On the contrary, they are remarkable engineering tools. But our results suggest that generating runnable code and designing competitive strategic </a:t>
            </a:r>
            <a:r>
              <a:rPr lang="en-GB" dirty="0" err="1"/>
              <a:t>behavior</a:t>
            </a:r>
            <a:r>
              <a:rPr lang="en-GB" dirty="0"/>
              <a:t> are still very different challenges.</a:t>
            </a:r>
            <a:endParaRPr lang="en-GB" b="0" dirty="0"/>
          </a:p>
          <a:p>
            <a:endParaRPr lang="en-GB" b="0" dirty="0"/>
          </a:p>
          <a:p>
            <a:r>
              <a:rPr lang="en-GB" dirty="0"/>
              <a:t>Finally, I would like to sincerely thank Professor Emeritus Boi </a:t>
            </a:r>
            <a:r>
              <a:rPr lang="en-GB" dirty="0" err="1"/>
              <a:t>Faltings</a:t>
            </a:r>
            <a:r>
              <a:rPr lang="en-GB" dirty="0"/>
              <a:t>, the members of the Artificial Intelligence Laboratory at EPFL, and the students who contributed their code as baselines.</a:t>
            </a:r>
          </a:p>
          <a:p>
            <a:endParaRPr lang="en-GB" dirty="0"/>
          </a:p>
          <a:p>
            <a:r>
              <a:rPr lang="en-GB" dirty="0"/>
              <a:t>Thank you for attention. I’m happy to take questions.</a:t>
            </a:r>
          </a:p>
          <a:p>
            <a:endParaRPr lang="en-GB" b="0" dirty="0"/>
          </a:p>
          <a:p>
            <a:endParaRPr lang="en-GB" b="0" dirty="0"/>
          </a:p>
          <a:p>
            <a:r>
              <a:rPr lang="en-GB" b="1" dirty="0"/>
              <a:t>10:00mins</a:t>
            </a:r>
          </a:p>
        </p:txBody>
      </p:sp>
      <p:sp>
        <p:nvSpPr>
          <p:cNvPr id="4" name="Slide Number Placeholder 3"/>
          <p:cNvSpPr>
            <a:spLocks noGrp="1"/>
          </p:cNvSpPr>
          <p:nvPr>
            <p:ph type="sldNum" sz="quarter" idx="5"/>
          </p:nvPr>
        </p:nvSpPr>
        <p:spPr/>
        <p:txBody>
          <a:bodyPr/>
          <a:lstStyle/>
          <a:p>
            <a:fld id="{C2FA50D6-6132-4FF4-AFC5-01B946DDB4AB}" type="slidenum">
              <a:rPr lang="en-GB" smtClean="0"/>
              <a:t>15</a:t>
            </a:fld>
            <a:endParaRPr lang="en-GB"/>
          </a:p>
        </p:txBody>
      </p:sp>
    </p:spTree>
    <p:extLst>
      <p:ext uri="{BB962C8B-B14F-4D97-AF65-F5344CB8AC3E}">
        <p14:creationId xmlns:p14="http://schemas.microsoft.com/office/powerpoint/2010/main" val="19270065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 me be clear about scope. This is not a leaderboard of LLMs, and we are not claiming to find the optimal prompt or the best possible LLM performance.</a:t>
            </a:r>
          </a:p>
          <a:p>
            <a:r>
              <a:rPr lang="en-GB" dirty="0"/>
              <a:t>The study is based on one domain, APDP, but a rich one: logistics, auctions, planning, and multi-agent interaction.</a:t>
            </a:r>
          </a:p>
          <a:p>
            <a:r>
              <a:rPr lang="en-GB" dirty="0"/>
              <a:t>The broader point is that we need AI evaluations where difficulty comes not just from producing an answer, but from acting strategically in an interactive environment.</a:t>
            </a:r>
          </a:p>
          <a:p>
            <a:endParaRPr lang="en-GB" dirty="0"/>
          </a:p>
        </p:txBody>
      </p:sp>
      <p:sp>
        <p:nvSpPr>
          <p:cNvPr id="4" name="Slide Number Placeholder 3"/>
          <p:cNvSpPr>
            <a:spLocks noGrp="1"/>
          </p:cNvSpPr>
          <p:nvPr>
            <p:ph type="sldNum" sz="quarter" idx="5"/>
          </p:nvPr>
        </p:nvSpPr>
        <p:spPr/>
        <p:txBody>
          <a:bodyPr/>
          <a:lstStyle/>
          <a:p>
            <a:fld id="{C2FA50D6-6132-4FF4-AFC5-01B946DDB4AB}" type="slidenum">
              <a:rPr lang="en-GB" smtClean="0"/>
              <a:t>17</a:t>
            </a:fld>
            <a:endParaRPr lang="en-GB"/>
          </a:p>
        </p:txBody>
      </p:sp>
    </p:spTree>
    <p:extLst>
      <p:ext uri="{BB962C8B-B14F-4D97-AF65-F5344CB8AC3E}">
        <p14:creationId xmlns:p14="http://schemas.microsoft.com/office/powerpoint/2010/main" val="10232573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ductory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354560" y="2060849"/>
            <a:ext cx="7591573" cy="1226567"/>
          </a:xfrm>
          <a:prstGeom prst="rect">
            <a:avLst/>
          </a:prstGeom>
        </p:spPr>
        <p:txBody>
          <a:bodyPr anchor="ctr" anchorCtr="0"/>
          <a:lstStyle>
            <a:lvl1pPr algn="l">
              <a:defRPr sz="3200" b="1" spc="-150" baseline="0">
                <a:solidFill>
                  <a:schemeClr val="bg1"/>
                </a:solidFill>
              </a:defRPr>
            </a:lvl1pPr>
          </a:lstStyle>
          <a:p>
            <a:r>
              <a:rPr lang="en-US" dirty="0"/>
              <a:t>Presentation title</a:t>
            </a:r>
            <a:endParaRPr lang="en-GB" dirty="0"/>
          </a:p>
        </p:txBody>
      </p:sp>
      <p:sp>
        <p:nvSpPr>
          <p:cNvPr id="3" name="Subtitle 2"/>
          <p:cNvSpPr>
            <a:spLocks noGrp="1"/>
          </p:cNvSpPr>
          <p:nvPr>
            <p:ph type="subTitle" idx="1"/>
          </p:nvPr>
        </p:nvSpPr>
        <p:spPr>
          <a:xfrm>
            <a:off x="2351584" y="3287415"/>
            <a:ext cx="7584843" cy="864096"/>
          </a:xfrm>
          <a:prstGeom prst="rect">
            <a:avLst/>
          </a:prstGeom>
        </p:spPr>
        <p:txBody>
          <a:bodyPr anchor="ctr" anchorCtr="0"/>
          <a:lstStyle>
            <a:lvl1pPr marL="0" indent="0" algn="l">
              <a:buNone/>
              <a:defRPr sz="20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6" name="Text Placeholder 3"/>
          <p:cNvSpPr>
            <a:spLocks noGrp="1"/>
          </p:cNvSpPr>
          <p:nvPr>
            <p:ph type="body" sz="quarter" idx="10" hasCustomPrompt="1"/>
          </p:nvPr>
        </p:nvSpPr>
        <p:spPr>
          <a:xfrm>
            <a:off x="2351584" y="4149081"/>
            <a:ext cx="3071283" cy="359395"/>
          </a:xfrm>
          <a:prstGeom prst="rect">
            <a:avLst/>
          </a:prstGeom>
        </p:spPr>
        <p:txBody>
          <a:bodyPr/>
          <a:lstStyle>
            <a:lvl1pPr marL="0" indent="0">
              <a:buNone/>
              <a:defRPr sz="1400">
                <a:solidFill>
                  <a:schemeClr val="bg1"/>
                </a:solidFill>
              </a:defRPr>
            </a:lvl1pPr>
          </a:lstStyle>
          <a:p>
            <a:pPr lvl="0"/>
            <a:r>
              <a:rPr lang="en-GB" dirty="0"/>
              <a:t>22 June 2021</a:t>
            </a:r>
          </a:p>
        </p:txBody>
      </p:sp>
      <p:pic>
        <p:nvPicPr>
          <p:cNvPr id="7" name="University Logo (White)" descr="Graphical user interface&#10;&#10;Description automatically generated with medium confidence">
            <a:extLst>
              <a:ext uri="{FF2B5EF4-FFF2-40B4-BE49-F238E27FC236}">
                <a16:creationId xmlns:a16="http://schemas.microsoft.com/office/drawing/2014/main" id="{13715225-994B-F847-BBCD-98E6DC60B0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311546" y="-279124"/>
            <a:ext cx="2880320" cy="1619892"/>
          </a:xfrm>
          <a:prstGeom prst="rect">
            <a:avLst/>
          </a:prstGeom>
        </p:spPr>
      </p:pic>
    </p:spTree>
    <p:extLst>
      <p:ext uri="{BB962C8B-B14F-4D97-AF65-F5344CB8AC3E}">
        <p14:creationId xmlns:p14="http://schemas.microsoft.com/office/powerpoint/2010/main" val="2398703511"/>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Questions End Slide">
    <p:spTree>
      <p:nvGrpSpPr>
        <p:cNvPr id="1" name=""/>
        <p:cNvGrpSpPr/>
        <p:nvPr/>
      </p:nvGrpSpPr>
      <p:grpSpPr>
        <a:xfrm>
          <a:off x="0" y="0"/>
          <a:ext cx="0" cy="0"/>
          <a:chOff x="0" y="0"/>
          <a:chExt cx="0" cy="0"/>
        </a:xfrm>
      </p:grpSpPr>
      <p:sp>
        <p:nvSpPr>
          <p:cNvPr id="8" name="Title 1"/>
          <p:cNvSpPr txBox="1"/>
          <p:nvPr userDrawn="1"/>
        </p:nvSpPr>
        <p:spPr>
          <a:xfrm>
            <a:off x="2351584" y="2700210"/>
            <a:ext cx="7584843" cy="584775"/>
          </a:xfrm>
          <a:prstGeom prst="rect">
            <a:avLst/>
          </a:prstGeom>
          <a:noFill/>
        </p:spPr>
        <p:txBody>
          <a:bodyPr wrap="square" rtlCol="0">
            <a:spAutoFit/>
          </a:bodyPr>
          <a:lstStyle/>
          <a:p>
            <a:r>
              <a:rPr lang="en-GB" sz="3200" b="1" spc="-150" dirty="0">
                <a:solidFill>
                  <a:schemeClr val="bg1"/>
                </a:solidFill>
              </a:rPr>
              <a:t>YOUR</a:t>
            </a:r>
            <a:r>
              <a:rPr lang="en-GB" sz="3200" b="1" spc="-150" baseline="0" dirty="0">
                <a:solidFill>
                  <a:schemeClr val="bg1"/>
                </a:solidFill>
              </a:rPr>
              <a:t> QUESTIONS</a:t>
            </a:r>
            <a:endParaRPr lang="en-GB" sz="3200" b="1" spc="-150" dirty="0">
              <a:solidFill>
                <a:schemeClr val="bg1"/>
              </a:solidFill>
            </a:endParaRPr>
          </a:p>
        </p:txBody>
      </p:sp>
      <p:sp>
        <p:nvSpPr>
          <p:cNvPr id="6" name="Content Placeholder 2"/>
          <p:cNvSpPr>
            <a:spLocks noGrp="1"/>
          </p:cNvSpPr>
          <p:nvPr>
            <p:ph sz="quarter" idx="11" hasCustomPrompt="1"/>
          </p:nvPr>
        </p:nvSpPr>
        <p:spPr>
          <a:xfrm>
            <a:off x="2351584" y="3356522"/>
            <a:ext cx="7584843" cy="1800671"/>
          </a:xfrm>
          <a:prstGeom prst="rect">
            <a:avLst/>
          </a:prstGeom>
        </p:spPr>
        <p:txBody>
          <a:bodyPr/>
          <a:lstStyle>
            <a:lvl1pPr marL="0" indent="0">
              <a:buNone/>
              <a:defRPr sz="1600" b="0" spc="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Copy here</a:t>
            </a:r>
            <a:endParaRPr lang="en-GB" dirty="0"/>
          </a:p>
        </p:txBody>
      </p:sp>
      <p:pic>
        <p:nvPicPr>
          <p:cNvPr id="7" name="University Logo (White)" descr="Graphical user interface&#10;&#10;Description automatically generated with medium confidence">
            <a:extLst>
              <a:ext uri="{FF2B5EF4-FFF2-40B4-BE49-F238E27FC236}">
                <a16:creationId xmlns:a16="http://schemas.microsoft.com/office/drawing/2014/main" id="{132411DA-15FA-804A-A497-A21BA241FF8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311546" y="-279124"/>
            <a:ext cx="2880320" cy="1619892"/>
          </a:xfrm>
          <a:prstGeom prst="rect">
            <a:avLst/>
          </a:prstGeom>
        </p:spPr>
      </p:pic>
    </p:spTree>
    <p:extLst>
      <p:ext uri="{BB962C8B-B14F-4D97-AF65-F5344CB8AC3E}">
        <p14:creationId xmlns:p14="http://schemas.microsoft.com/office/powerpoint/2010/main" val="618859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ver Neural 3">
  <p:cSld name="Cover Neural 3">
    <p:spTree>
      <p:nvGrpSpPr>
        <p:cNvPr id="1" name="Shape 15"/>
        <p:cNvGrpSpPr/>
        <p:nvPr/>
      </p:nvGrpSpPr>
      <p:grpSpPr>
        <a:xfrm>
          <a:off x="0" y="0"/>
          <a:ext cx="0" cy="0"/>
          <a:chOff x="0" y="0"/>
          <a:chExt cx="0" cy="0"/>
        </a:xfrm>
      </p:grpSpPr>
      <p:pic>
        <p:nvPicPr>
          <p:cNvPr id="16" name="Google Shape;16;g1882fcc12d0_0_111"/>
          <p:cNvPicPr preferRelativeResize="0"/>
          <p:nvPr/>
        </p:nvPicPr>
        <p:blipFill rotWithShape="1">
          <a:blip r:embed="rId2">
            <a:alphaModFix/>
          </a:blip>
          <a:srcRect/>
          <a:stretch/>
        </p:blipFill>
        <p:spPr>
          <a:xfrm>
            <a:off x="1234" y="0"/>
            <a:ext cx="12189529" cy="6857998"/>
          </a:xfrm>
          <a:prstGeom prst="rect">
            <a:avLst/>
          </a:prstGeom>
          <a:noFill/>
          <a:ln>
            <a:noFill/>
          </a:ln>
        </p:spPr>
      </p:pic>
      <p:sp>
        <p:nvSpPr>
          <p:cNvPr id="17" name="Google Shape;17;g1882fcc12d0_0_111"/>
          <p:cNvSpPr txBox="1">
            <a:spLocks noGrp="1"/>
          </p:cNvSpPr>
          <p:nvPr>
            <p:ph type="title"/>
          </p:nvPr>
        </p:nvSpPr>
        <p:spPr>
          <a:xfrm>
            <a:off x="729802" y="2327000"/>
            <a:ext cx="7875900" cy="1662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SzPts val="4400"/>
              <a:buNone/>
              <a:defRPr sz="4800">
                <a:solidFill>
                  <a:srgbClr val="202124"/>
                </a:solidFill>
                <a:latin typeface="Google Sans Medium"/>
                <a:ea typeface="Google Sans Medium"/>
                <a:cs typeface="Google Sans Medium"/>
                <a:sym typeface="Google Sans Medium"/>
              </a:defRPr>
            </a:lvl1pPr>
            <a:lvl2pPr lvl="1" algn="l">
              <a:lnSpc>
                <a:spcPct val="100000"/>
              </a:lnSpc>
              <a:spcBef>
                <a:spcPts val="0"/>
              </a:spcBef>
              <a:spcAft>
                <a:spcPts val="0"/>
              </a:spcAft>
              <a:buSzPts val="1400"/>
              <a:buNone/>
              <a:defRPr>
                <a:solidFill>
                  <a:srgbClr val="202124"/>
                </a:solidFill>
              </a:defRPr>
            </a:lvl2pPr>
            <a:lvl3pPr lvl="2" algn="l">
              <a:lnSpc>
                <a:spcPct val="100000"/>
              </a:lnSpc>
              <a:spcBef>
                <a:spcPts val="0"/>
              </a:spcBef>
              <a:spcAft>
                <a:spcPts val="0"/>
              </a:spcAft>
              <a:buSzPts val="1400"/>
              <a:buNone/>
              <a:defRPr>
                <a:solidFill>
                  <a:srgbClr val="202124"/>
                </a:solidFill>
              </a:defRPr>
            </a:lvl3pPr>
            <a:lvl4pPr lvl="3" algn="l">
              <a:lnSpc>
                <a:spcPct val="100000"/>
              </a:lnSpc>
              <a:spcBef>
                <a:spcPts val="0"/>
              </a:spcBef>
              <a:spcAft>
                <a:spcPts val="0"/>
              </a:spcAft>
              <a:buSzPts val="1400"/>
              <a:buNone/>
              <a:defRPr>
                <a:solidFill>
                  <a:srgbClr val="202124"/>
                </a:solidFill>
              </a:defRPr>
            </a:lvl4pPr>
            <a:lvl5pPr lvl="4" algn="l">
              <a:lnSpc>
                <a:spcPct val="100000"/>
              </a:lnSpc>
              <a:spcBef>
                <a:spcPts val="0"/>
              </a:spcBef>
              <a:spcAft>
                <a:spcPts val="0"/>
              </a:spcAft>
              <a:buSzPts val="1400"/>
              <a:buNone/>
              <a:defRPr>
                <a:solidFill>
                  <a:srgbClr val="202124"/>
                </a:solidFill>
              </a:defRPr>
            </a:lvl5pPr>
            <a:lvl6pPr lvl="5" algn="l">
              <a:lnSpc>
                <a:spcPct val="100000"/>
              </a:lnSpc>
              <a:spcBef>
                <a:spcPts val="0"/>
              </a:spcBef>
              <a:spcAft>
                <a:spcPts val="0"/>
              </a:spcAft>
              <a:buSzPts val="1400"/>
              <a:buNone/>
              <a:defRPr>
                <a:solidFill>
                  <a:srgbClr val="202124"/>
                </a:solidFill>
              </a:defRPr>
            </a:lvl6pPr>
            <a:lvl7pPr lvl="6" algn="l">
              <a:lnSpc>
                <a:spcPct val="100000"/>
              </a:lnSpc>
              <a:spcBef>
                <a:spcPts val="0"/>
              </a:spcBef>
              <a:spcAft>
                <a:spcPts val="0"/>
              </a:spcAft>
              <a:buSzPts val="1400"/>
              <a:buNone/>
              <a:defRPr>
                <a:solidFill>
                  <a:srgbClr val="202124"/>
                </a:solidFill>
              </a:defRPr>
            </a:lvl7pPr>
            <a:lvl8pPr lvl="7" algn="l">
              <a:lnSpc>
                <a:spcPct val="100000"/>
              </a:lnSpc>
              <a:spcBef>
                <a:spcPts val="0"/>
              </a:spcBef>
              <a:spcAft>
                <a:spcPts val="0"/>
              </a:spcAft>
              <a:buSzPts val="1400"/>
              <a:buNone/>
              <a:defRPr>
                <a:solidFill>
                  <a:srgbClr val="202124"/>
                </a:solidFill>
              </a:defRPr>
            </a:lvl8pPr>
            <a:lvl9pPr lvl="8" algn="l">
              <a:lnSpc>
                <a:spcPct val="100000"/>
              </a:lnSpc>
              <a:spcBef>
                <a:spcPts val="0"/>
              </a:spcBef>
              <a:spcAft>
                <a:spcPts val="0"/>
              </a:spcAft>
              <a:buSzPts val="1400"/>
              <a:buNone/>
              <a:defRPr>
                <a:solidFill>
                  <a:srgbClr val="202124"/>
                </a:solidFill>
              </a:defRPr>
            </a:lvl9pPr>
          </a:lstStyle>
          <a:p>
            <a:endParaRPr/>
          </a:p>
        </p:txBody>
      </p:sp>
      <p:sp>
        <p:nvSpPr>
          <p:cNvPr id="18" name="Google Shape;18;g1882fcc12d0_0_111"/>
          <p:cNvSpPr txBox="1">
            <a:spLocks noGrp="1"/>
          </p:cNvSpPr>
          <p:nvPr>
            <p:ph type="subTitle" idx="1"/>
          </p:nvPr>
        </p:nvSpPr>
        <p:spPr>
          <a:xfrm>
            <a:off x="739636" y="3920133"/>
            <a:ext cx="7875900" cy="606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SzPts val="2800"/>
              <a:buNone/>
              <a:defRPr>
                <a:solidFill>
                  <a:srgbClr val="9AA0A6"/>
                </a:solidFill>
                <a:latin typeface="Google Sans"/>
                <a:ea typeface="Google Sans"/>
                <a:cs typeface="Google Sans"/>
                <a:sym typeface="Google Sans"/>
              </a:defRPr>
            </a:lvl1pPr>
            <a:lvl2pPr lvl="1" algn="l">
              <a:lnSpc>
                <a:spcPct val="90000"/>
              </a:lnSpc>
              <a:spcBef>
                <a:spcPts val="1000"/>
              </a:spcBef>
              <a:spcAft>
                <a:spcPts val="0"/>
              </a:spcAft>
              <a:buSzPts val="2400"/>
              <a:buNone/>
              <a:defRPr/>
            </a:lvl2pPr>
            <a:lvl3pPr lvl="2" algn="l">
              <a:lnSpc>
                <a:spcPct val="90000"/>
              </a:lnSpc>
              <a:spcBef>
                <a:spcPts val="1000"/>
              </a:spcBef>
              <a:spcAft>
                <a:spcPts val="0"/>
              </a:spcAft>
              <a:buSzPts val="2000"/>
              <a:buNone/>
              <a:defRPr/>
            </a:lvl3pPr>
            <a:lvl4pPr lvl="3" algn="l">
              <a:lnSpc>
                <a:spcPct val="90000"/>
              </a:lnSpc>
              <a:spcBef>
                <a:spcPts val="1000"/>
              </a:spcBef>
              <a:spcAft>
                <a:spcPts val="0"/>
              </a:spcAft>
              <a:buSzPts val="1800"/>
              <a:buNone/>
              <a:defRPr/>
            </a:lvl4pPr>
            <a:lvl5pPr lvl="4" algn="l">
              <a:lnSpc>
                <a:spcPct val="90000"/>
              </a:lnSpc>
              <a:spcBef>
                <a:spcPts val="1000"/>
              </a:spcBef>
              <a:spcAft>
                <a:spcPts val="0"/>
              </a:spcAft>
              <a:buSzPts val="1800"/>
              <a:buNone/>
              <a:defRPr/>
            </a:lvl5pPr>
            <a:lvl6pPr lvl="5" algn="l">
              <a:lnSpc>
                <a:spcPct val="90000"/>
              </a:lnSpc>
              <a:spcBef>
                <a:spcPts val="1000"/>
              </a:spcBef>
              <a:spcAft>
                <a:spcPts val="0"/>
              </a:spcAft>
              <a:buSzPts val="1800"/>
              <a:buNone/>
              <a:defRPr/>
            </a:lvl6pPr>
            <a:lvl7pPr lvl="6" algn="l">
              <a:lnSpc>
                <a:spcPct val="90000"/>
              </a:lnSpc>
              <a:spcBef>
                <a:spcPts val="1000"/>
              </a:spcBef>
              <a:spcAft>
                <a:spcPts val="0"/>
              </a:spcAft>
              <a:buSzPts val="1800"/>
              <a:buNone/>
              <a:defRPr/>
            </a:lvl7pPr>
            <a:lvl8pPr lvl="7" algn="l">
              <a:lnSpc>
                <a:spcPct val="90000"/>
              </a:lnSpc>
              <a:spcBef>
                <a:spcPts val="1000"/>
              </a:spcBef>
              <a:spcAft>
                <a:spcPts val="0"/>
              </a:spcAft>
              <a:buSzPts val="1800"/>
              <a:buNone/>
              <a:defRPr/>
            </a:lvl8pPr>
            <a:lvl9pPr lvl="8" algn="l">
              <a:lnSpc>
                <a:spcPct val="90000"/>
              </a:lnSpc>
              <a:spcBef>
                <a:spcPts val="1000"/>
              </a:spcBef>
              <a:spcAft>
                <a:spcPts val="0"/>
              </a:spcAft>
              <a:buSzPts val="1800"/>
              <a:buNone/>
              <a:defRPr/>
            </a:lvl9pPr>
          </a:lstStyle>
          <a:p>
            <a:endParaRPr/>
          </a:p>
        </p:txBody>
      </p:sp>
    </p:spTree>
    <p:extLst>
      <p:ext uri="{BB962C8B-B14F-4D97-AF65-F5344CB8AC3E}">
        <p14:creationId xmlns:p14="http://schemas.microsoft.com/office/powerpoint/2010/main" val="1222440794"/>
      </p:ext>
    </p:extLst>
  </p:cSld>
  <p:clrMapOvr>
    <a:masterClrMapping/>
  </p:clrMapOvr>
  <p:extLst>
    <p:ext uri="{DCECCB84-F9BA-43D5-87BE-67443E8EF086}">
      <p15:sldGuideLst xmlns:p15="http://schemas.microsoft.com/office/powerpoint/2012/main">
        <p15:guide id="1" orient="horz" pos="2160">
          <p15:clr>
            <a:srgbClr val="CCCCCC"/>
          </p15:clr>
        </p15:guide>
        <p15:guide id="2" pos="3840">
          <p15:clr>
            <a:srgbClr val="CCCCCC"/>
          </p15:clr>
        </p15:guide>
        <p15:guide id="3" orient="horz" pos="2688">
          <p15:clr>
            <a:srgbClr val="4285F4"/>
          </p15:clr>
        </p15:guide>
        <p15:guide id="4" pos="409">
          <p15:clr>
            <a:srgbClr val="4285F4"/>
          </p15:clr>
        </p15:guide>
        <p15:guide id="5" orient="horz" pos="2592">
          <p15:clr>
            <a:srgbClr val="4285F4"/>
          </p15:clr>
        </p15:guide>
        <p15:guide id="6" orient="horz" pos="2376">
          <p15:clr>
            <a:srgbClr val="4285F4"/>
          </p15:clr>
        </p15:guide>
        <p15:guide id="7" orient="horz" pos="1920">
          <p15:clr>
            <a:srgbClr val="4285F4"/>
          </p15:clr>
        </p15:guide>
        <p15:guide id="8" orient="horz" pos="1632">
          <p15:clr>
            <a:srgbClr val="4285F4"/>
          </p15:clr>
        </p15:guide>
        <p15:guide id="9" pos="229">
          <p15:clr>
            <a:srgbClr val="4285F4"/>
          </p15:clr>
        </p15:guide>
        <p15:guide id="10" pos="161">
          <p15:clr>
            <a:srgbClr val="4285F4"/>
          </p15:clr>
        </p15:guide>
        <p15:guide id="11" orient="horz" pos="3737">
          <p15:clr>
            <a:srgbClr val="4285F4"/>
          </p15:clr>
        </p15:guide>
        <p15:guide id="12" orient="horz" pos="3868">
          <p15:clr>
            <a:srgbClr val="4285F4"/>
          </p15:clr>
        </p15:guide>
        <p15:guide id="13" orient="horz" pos="341">
          <p15:clr>
            <a:srgbClr val="FF0000"/>
          </p15:clr>
        </p15:guide>
        <p15:guide id="14" orient="horz" pos="3979">
          <p15:clr>
            <a:srgbClr val="FF0000"/>
          </p15:clr>
        </p15:guide>
        <p15:guide id="15" pos="332">
          <p15:clr>
            <a:srgbClr val="FF0000"/>
          </p15:clr>
        </p15:guide>
        <p15:guide id="16" pos="7338">
          <p15:clr>
            <a:srgbClr val="FF0000"/>
          </p15:clr>
        </p15:guide>
        <p15:guide id="17" pos="917">
          <p15:clr>
            <a:srgbClr val="4285F4"/>
          </p15:clr>
        </p15:guide>
        <p15:guide id="18" pos="4388">
          <p15:clr>
            <a:srgbClr val="4285F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rgbClr val="2E444E"/>
                </a:solidFill>
              </a:defRPr>
            </a:lvl1pPr>
          </a:lstStyle>
          <a:p>
            <a:r>
              <a:rPr lang="en-US" dirty="0"/>
              <a:t>TITLE</a:t>
            </a:r>
            <a:endParaRPr lang="en-GB" dirty="0"/>
          </a:p>
        </p:txBody>
      </p:sp>
      <p:sp>
        <p:nvSpPr>
          <p:cNvPr id="5" name="Text Placeholder 2"/>
          <p:cNvSpPr>
            <a:spLocks noGrp="1"/>
          </p:cNvSpPr>
          <p:nvPr>
            <p:ph type="body" sz="quarter" idx="10"/>
          </p:nvPr>
        </p:nvSpPr>
        <p:spPr>
          <a:xfrm>
            <a:off x="623393" y="1844825"/>
            <a:ext cx="10847916" cy="4393059"/>
          </a:xfrm>
        </p:spPr>
        <p:txBody>
          <a:bodyPr/>
          <a:lstStyle>
            <a:lvl1pPr>
              <a:spcBef>
                <a:spcPts val="0"/>
              </a:spcBef>
              <a:spcAft>
                <a:spcPts val="1200"/>
              </a:spcAft>
              <a:defRPr sz="2000">
                <a:solidFill>
                  <a:srgbClr val="2E444E"/>
                </a:solidFill>
              </a:defRPr>
            </a:lvl1pPr>
            <a:lvl2pPr>
              <a:spcBef>
                <a:spcPts val="0"/>
              </a:spcBef>
              <a:spcAft>
                <a:spcPts val="1200"/>
              </a:spcAft>
              <a:defRPr sz="1800">
                <a:solidFill>
                  <a:srgbClr val="2E444E"/>
                </a:solidFill>
              </a:defRPr>
            </a:lvl2pPr>
            <a:lvl3pPr>
              <a:spcBef>
                <a:spcPts val="0"/>
              </a:spcBef>
              <a:spcAft>
                <a:spcPts val="1200"/>
              </a:spcAft>
              <a:defRPr>
                <a:solidFill>
                  <a:srgbClr val="2E444E"/>
                </a:solidFill>
              </a:defRPr>
            </a:lvl3pPr>
            <a:lvl4pPr>
              <a:spcBef>
                <a:spcPts val="0"/>
              </a:spcBef>
              <a:spcAft>
                <a:spcPts val="1200"/>
              </a:spcAft>
              <a:defRPr>
                <a:solidFill>
                  <a:srgbClr val="2E444E"/>
                </a:solidFill>
              </a:defRPr>
            </a:lvl4pPr>
            <a:lvl5pPr>
              <a:spcBef>
                <a:spcPts val="0"/>
              </a:spcBef>
              <a:spcAft>
                <a:spcPts val="1200"/>
              </a:spcAft>
              <a:defRPr>
                <a:solidFill>
                  <a:srgbClr val="2E444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14669176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1071369"/>
      </p:ext>
    </p:extLst>
  </p:cSld>
  <p:clrMap bg1="lt1" tx1="dk1" bg2="lt2" tx2="dk2" accent1="accent1" accent2="accent2" accent3="accent3" accent4="accent4" accent5="accent5" accent6="accent6" hlink="hlink" folHlink="folHlink"/>
  <p:sldLayoutIdLst>
    <p:sldLayoutId id="2147483680" r:id="rId1"/>
    <p:sldLayoutId id="2147483706" r:id="rId2"/>
    <p:sldLayoutId id="2147483708" r:id="rId3"/>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3392" y="692696"/>
            <a:ext cx="10849205" cy="936104"/>
          </a:xfrm>
          <a:prstGeom prst="rect">
            <a:avLst/>
          </a:prstGeom>
        </p:spPr>
        <p:txBody>
          <a:bodyPr vert="horz" lIns="91440" tIns="45720" rIns="91440" bIns="45720" rtlCol="0" anchor="b" anchorCtr="0">
            <a:noAutofit/>
          </a:bodyPr>
          <a:lstStyle/>
          <a:p>
            <a:r>
              <a:rPr lang="en-US" dirty="0"/>
              <a:t>TITLE</a:t>
            </a:r>
            <a:endParaRPr lang="en-GB" dirty="0"/>
          </a:p>
        </p:txBody>
      </p:sp>
      <p:sp>
        <p:nvSpPr>
          <p:cNvPr id="7" name="Text Placeholder 2"/>
          <p:cNvSpPr>
            <a:spLocks noGrp="1"/>
          </p:cNvSpPr>
          <p:nvPr>
            <p:ph type="body" idx="1"/>
          </p:nvPr>
        </p:nvSpPr>
        <p:spPr>
          <a:xfrm>
            <a:off x="623392" y="1844825"/>
            <a:ext cx="10862997" cy="4381947"/>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3"/>
          <p:cNvSpPr txBox="1"/>
          <p:nvPr/>
        </p:nvSpPr>
        <p:spPr>
          <a:xfrm>
            <a:off x="10992544" y="6400135"/>
            <a:ext cx="960107" cy="246221"/>
          </a:xfrm>
          <a:prstGeom prst="rect">
            <a:avLst/>
          </a:prstGeom>
          <a:noFill/>
        </p:spPr>
        <p:txBody>
          <a:bodyPr wrap="square" rtlCol="0">
            <a:spAutoFit/>
          </a:bodyPr>
          <a:lstStyle/>
          <a:p>
            <a:pPr algn="r"/>
            <a:fld id="{14274112-3819-4E3C-A2C8-15D563C4EB1E}" type="slidenum">
              <a:rPr lang="en-GB" sz="1000" smtClean="0"/>
              <a:t>‹#›</a:t>
            </a:fld>
            <a:endParaRPr lang="en-GB" sz="1000" dirty="0"/>
          </a:p>
        </p:txBody>
      </p:sp>
    </p:spTree>
    <p:extLst>
      <p:ext uri="{BB962C8B-B14F-4D97-AF65-F5344CB8AC3E}">
        <p14:creationId xmlns:p14="http://schemas.microsoft.com/office/powerpoint/2010/main" val="175160366"/>
      </p:ext>
    </p:extLst>
  </p:cSld>
  <p:clrMap bg1="lt1" tx1="dk1" bg2="lt2" tx2="dk2" accent1="accent1" accent2="accent2" accent3="accent3" accent4="accent4" accent5="accent5" accent6="accent6" hlink="hlink" folHlink="folHlink"/>
  <p:sldLayoutIdLst>
    <p:sldLayoutId id="2147483705" r:id="rId1"/>
  </p:sldLayoutIdLst>
  <p:hf hdr="0" ftr="0" dt="0"/>
  <p:txStyles>
    <p:titleStyle>
      <a:lvl1pPr algn="l" defTabSz="914400" rtl="0" eaLnBrk="1" latinLnBrk="0" hangingPunct="1">
        <a:spcBef>
          <a:spcPct val="0"/>
        </a:spcBef>
        <a:buNone/>
        <a:defRPr sz="3200" kern="1200" spc="-150">
          <a:solidFill>
            <a:srgbClr val="495961"/>
          </a:solidFill>
          <a:latin typeface="+mj-lt"/>
          <a:ea typeface="+mj-ea"/>
          <a:cs typeface="+mj-cs"/>
        </a:defRPr>
      </a:lvl1pPr>
    </p:titleStyle>
    <p:bodyStyle>
      <a:lvl1pPr marL="342900" indent="-342900" algn="l" defTabSz="914400" rtl="0" eaLnBrk="1" latinLnBrk="0" hangingPunct="1">
        <a:spcBef>
          <a:spcPts val="0"/>
        </a:spcBef>
        <a:spcAft>
          <a:spcPts val="1200"/>
        </a:spcAft>
        <a:buFont typeface="Arial" panose="020B0604020202020204" pitchFamily="34" charset="0"/>
        <a:buChar char="•"/>
        <a:defRPr sz="2000" kern="1200">
          <a:solidFill>
            <a:srgbClr val="495961"/>
          </a:solidFill>
          <a:latin typeface="+mn-lt"/>
          <a:ea typeface="+mn-ea"/>
          <a:cs typeface="+mn-cs"/>
        </a:defRPr>
      </a:lvl1pPr>
      <a:lvl2pPr marL="742950" indent="-285750" algn="l" defTabSz="914400" rtl="0" eaLnBrk="1" latinLnBrk="0" hangingPunct="1">
        <a:spcBef>
          <a:spcPts val="0"/>
        </a:spcBef>
        <a:spcAft>
          <a:spcPts val="1200"/>
        </a:spcAft>
        <a:buFont typeface="Arial" panose="020B0604020202020204" pitchFamily="34" charset="0"/>
        <a:buChar char="–"/>
        <a:defRPr sz="1800" kern="1200">
          <a:solidFill>
            <a:srgbClr val="495961"/>
          </a:solidFill>
          <a:latin typeface="+mn-lt"/>
          <a:ea typeface="+mn-ea"/>
          <a:cs typeface="+mn-cs"/>
        </a:defRPr>
      </a:lvl2pPr>
      <a:lvl3pPr marL="1143000" indent="-228600" algn="l" defTabSz="914400" rtl="0" eaLnBrk="1" latinLnBrk="0" hangingPunct="1">
        <a:spcBef>
          <a:spcPts val="0"/>
        </a:spcBef>
        <a:spcAft>
          <a:spcPts val="1200"/>
        </a:spcAft>
        <a:buFont typeface="Arial" panose="020B0604020202020204" pitchFamily="34" charset="0"/>
        <a:buChar char="•"/>
        <a:defRPr sz="1800" kern="1200">
          <a:solidFill>
            <a:srgbClr val="495961"/>
          </a:solidFill>
          <a:latin typeface="+mn-lt"/>
          <a:ea typeface="+mn-ea"/>
          <a:cs typeface="+mn-cs"/>
        </a:defRPr>
      </a:lvl3pPr>
      <a:lvl4pPr marL="1600200" indent="-228600" algn="l" defTabSz="914400" rtl="0" eaLnBrk="1" latinLnBrk="0" hangingPunct="1">
        <a:spcBef>
          <a:spcPts val="0"/>
        </a:spcBef>
        <a:spcAft>
          <a:spcPts val="1200"/>
        </a:spcAft>
        <a:buFont typeface="Arial" panose="020B0604020202020204" pitchFamily="34" charset="0"/>
        <a:buChar char="–"/>
        <a:defRPr sz="1600" kern="1200">
          <a:solidFill>
            <a:srgbClr val="495961"/>
          </a:solidFill>
          <a:latin typeface="+mn-lt"/>
          <a:ea typeface="+mn-ea"/>
          <a:cs typeface="+mn-cs"/>
        </a:defRPr>
      </a:lvl4pPr>
      <a:lvl5pPr marL="2057400" indent="-228600" algn="l" defTabSz="914400" rtl="0" eaLnBrk="1" latinLnBrk="0" hangingPunct="1">
        <a:spcBef>
          <a:spcPts val="0"/>
        </a:spcBef>
        <a:spcAft>
          <a:spcPts val="1200"/>
        </a:spcAft>
        <a:buFont typeface="Arial" panose="020B0604020202020204" pitchFamily="34" charset="0"/>
        <a:buChar char="»"/>
        <a:defRPr sz="1400" kern="1200">
          <a:solidFill>
            <a:srgbClr val="49596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6.png"/><Relationship Id="rId11" Type="http://schemas.microsoft.com/office/2007/relationships/hdphoto" Target="../media/hdphoto2.wdp"/><Relationship Id="rId5" Type="http://schemas.openxmlformats.org/officeDocument/2006/relationships/image" Target="../media/image5.svg"/><Relationship Id="rId10" Type="http://schemas.openxmlformats.org/officeDocument/2006/relationships/image" Target="../media/image9.png"/><Relationship Id="rId4" Type="http://schemas.openxmlformats.org/officeDocument/2006/relationships/image" Target="../media/image4.png"/><Relationship Id="rId9"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5.sv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5.sv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20.pn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microsoft.com/office/2007/relationships/hdphoto" Target="../media/hdphoto4.wdp"/><Relationship Id="rId13" Type="http://schemas.openxmlformats.org/officeDocument/2006/relationships/image" Target="../media/image29.png"/><Relationship Id="rId18" Type="http://schemas.microsoft.com/office/2007/relationships/hdphoto" Target="../media/hdphoto9.wdp"/><Relationship Id="rId26" Type="http://schemas.openxmlformats.org/officeDocument/2006/relationships/image" Target="../media/image36.png"/><Relationship Id="rId3" Type="http://schemas.openxmlformats.org/officeDocument/2006/relationships/image" Target="../media/image23.png"/><Relationship Id="rId21" Type="http://schemas.openxmlformats.org/officeDocument/2006/relationships/image" Target="../media/image33.png"/><Relationship Id="rId7" Type="http://schemas.openxmlformats.org/officeDocument/2006/relationships/image" Target="../media/image26.png"/><Relationship Id="rId12" Type="http://schemas.microsoft.com/office/2007/relationships/hdphoto" Target="../media/hdphoto6.wdp"/><Relationship Id="rId17" Type="http://schemas.openxmlformats.org/officeDocument/2006/relationships/image" Target="../media/image31.png"/><Relationship Id="rId25" Type="http://schemas.openxmlformats.org/officeDocument/2006/relationships/image" Target="../media/image35.png"/><Relationship Id="rId2" Type="http://schemas.openxmlformats.org/officeDocument/2006/relationships/notesSlide" Target="../notesSlides/notesSlide9.xml"/><Relationship Id="rId16" Type="http://schemas.microsoft.com/office/2007/relationships/hdphoto" Target="../media/hdphoto8.wdp"/><Relationship Id="rId20" Type="http://schemas.microsoft.com/office/2007/relationships/hdphoto" Target="../media/hdphoto10.wdp"/><Relationship Id="rId1" Type="http://schemas.openxmlformats.org/officeDocument/2006/relationships/slideLayout" Target="../slideLayouts/slideLayout4.xml"/><Relationship Id="rId6" Type="http://schemas.microsoft.com/office/2007/relationships/hdphoto" Target="../media/hdphoto3.wdp"/><Relationship Id="rId11" Type="http://schemas.openxmlformats.org/officeDocument/2006/relationships/image" Target="../media/image28.png"/><Relationship Id="rId24" Type="http://schemas.microsoft.com/office/2007/relationships/hdphoto" Target="../media/hdphoto12.wdp"/><Relationship Id="rId5" Type="http://schemas.openxmlformats.org/officeDocument/2006/relationships/image" Target="../media/image25.png"/><Relationship Id="rId15" Type="http://schemas.openxmlformats.org/officeDocument/2006/relationships/image" Target="../media/image30.png"/><Relationship Id="rId23" Type="http://schemas.openxmlformats.org/officeDocument/2006/relationships/image" Target="../media/image34.png"/><Relationship Id="rId10" Type="http://schemas.microsoft.com/office/2007/relationships/hdphoto" Target="../media/hdphoto5.wdp"/><Relationship Id="rId19" Type="http://schemas.openxmlformats.org/officeDocument/2006/relationships/image" Target="../media/image32.png"/><Relationship Id="rId4" Type="http://schemas.openxmlformats.org/officeDocument/2006/relationships/image" Target="../media/image24.png"/><Relationship Id="rId9" Type="http://schemas.openxmlformats.org/officeDocument/2006/relationships/image" Target="../media/image27.png"/><Relationship Id="rId14" Type="http://schemas.microsoft.com/office/2007/relationships/hdphoto" Target="../media/hdphoto7.wdp"/><Relationship Id="rId22" Type="http://schemas.microsoft.com/office/2007/relationships/hdphoto" Target="../media/hdphoto11.wdp"/></Relationships>
</file>

<file path=ppt/slides/_rels/slide10.xml.rels><?xml version="1.0" encoding="UTF-8" standalone="yes"?>
<Relationships xmlns="http://schemas.openxmlformats.org/package/2006/relationships"><Relationship Id="rId8" Type="http://schemas.microsoft.com/office/2007/relationships/hdphoto" Target="../media/hdphoto4.wdp"/><Relationship Id="rId13" Type="http://schemas.openxmlformats.org/officeDocument/2006/relationships/image" Target="../media/image29.png"/><Relationship Id="rId18" Type="http://schemas.microsoft.com/office/2007/relationships/hdphoto" Target="../media/hdphoto9.wdp"/><Relationship Id="rId26" Type="http://schemas.openxmlformats.org/officeDocument/2006/relationships/image" Target="../media/image36.png"/><Relationship Id="rId3" Type="http://schemas.openxmlformats.org/officeDocument/2006/relationships/image" Target="../media/image23.png"/><Relationship Id="rId21" Type="http://schemas.openxmlformats.org/officeDocument/2006/relationships/image" Target="../media/image33.png"/><Relationship Id="rId7" Type="http://schemas.openxmlformats.org/officeDocument/2006/relationships/image" Target="../media/image26.png"/><Relationship Id="rId12" Type="http://schemas.microsoft.com/office/2007/relationships/hdphoto" Target="../media/hdphoto6.wdp"/><Relationship Id="rId17" Type="http://schemas.openxmlformats.org/officeDocument/2006/relationships/image" Target="../media/image31.png"/><Relationship Id="rId25" Type="http://schemas.openxmlformats.org/officeDocument/2006/relationships/image" Target="../media/image35.png"/><Relationship Id="rId2" Type="http://schemas.openxmlformats.org/officeDocument/2006/relationships/notesSlide" Target="../notesSlides/notesSlide10.xml"/><Relationship Id="rId16" Type="http://schemas.microsoft.com/office/2007/relationships/hdphoto" Target="../media/hdphoto8.wdp"/><Relationship Id="rId20" Type="http://schemas.microsoft.com/office/2007/relationships/hdphoto" Target="../media/hdphoto10.wdp"/><Relationship Id="rId1" Type="http://schemas.openxmlformats.org/officeDocument/2006/relationships/slideLayout" Target="../slideLayouts/slideLayout4.xml"/><Relationship Id="rId6" Type="http://schemas.microsoft.com/office/2007/relationships/hdphoto" Target="../media/hdphoto3.wdp"/><Relationship Id="rId11" Type="http://schemas.openxmlformats.org/officeDocument/2006/relationships/image" Target="../media/image28.png"/><Relationship Id="rId24" Type="http://schemas.microsoft.com/office/2007/relationships/hdphoto" Target="../media/hdphoto12.wdp"/><Relationship Id="rId5" Type="http://schemas.openxmlformats.org/officeDocument/2006/relationships/image" Target="../media/image25.png"/><Relationship Id="rId15" Type="http://schemas.openxmlformats.org/officeDocument/2006/relationships/image" Target="../media/image30.png"/><Relationship Id="rId23" Type="http://schemas.openxmlformats.org/officeDocument/2006/relationships/image" Target="../media/image34.png"/><Relationship Id="rId10" Type="http://schemas.microsoft.com/office/2007/relationships/hdphoto" Target="../media/hdphoto5.wdp"/><Relationship Id="rId19" Type="http://schemas.openxmlformats.org/officeDocument/2006/relationships/image" Target="../media/image32.png"/><Relationship Id="rId4" Type="http://schemas.openxmlformats.org/officeDocument/2006/relationships/image" Target="../media/image24.png"/><Relationship Id="rId9" Type="http://schemas.openxmlformats.org/officeDocument/2006/relationships/image" Target="../media/image27.png"/><Relationship Id="rId14" Type="http://schemas.microsoft.com/office/2007/relationships/hdphoto" Target="../media/hdphoto7.wdp"/><Relationship Id="rId22" Type="http://schemas.microsoft.com/office/2007/relationships/hdphoto" Target="../media/hdphoto11.wdp"/></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40.png"/><Relationship Id="rId4" Type="http://schemas.openxmlformats.org/officeDocument/2006/relationships/image" Target="../media/image39.png"/></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microsoft.com/office/2007/relationships/hdphoto" Target="../media/hdphoto13.wdp"/><Relationship Id="rId3" Type="http://schemas.openxmlformats.org/officeDocument/2006/relationships/image" Target="../media/image45.png"/><Relationship Id="rId7"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46.png"/><Relationship Id="rId5" Type="http://schemas.openxmlformats.org/officeDocument/2006/relationships/image" Target="../media/image42.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9794AE5D-5CBE-D146-DC7C-01C73C5DB54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3A9AA37-9B69-F877-88EB-795FDA08FC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8" name="Google Shape;202;g1882fcc12d0_0_0">
            <a:extLst>
              <a:ext uri="{FF2B5EF4-FFF2-40B4-BE49-F238E27FC236}">
                <a16:creationId xmlns:a16="http://schemas.microsoft.com/office/drawing/2014/main" id="{ACD2E9BA-6C7A-67B3-E379-D39CD6217F6D}"/>
              </a:ext>
            </a:extLst>
          </p:cNvPr>
          <p:cNvSpPr txBox="1">
            <a:spLocks noGrp="1"/>
          </p:cNvSpPr>
          <p:nvPr>
            <p:ph type="subTitle" idx="1"/>
          </p:nvPr>
        </p:nvSpPr>
        <p:spPr>
          <a:xfrm>
            <a:off x="767408" y="3676680"/>
            <a:ext cx="9612679" cy="606000"/>
          </a:xfrm>
          <a:prstGeom prst="rect">
            <a:avLst/>
          </a:prstGeom>
          <a:noFill/>
          <a:ln>
            <a:noFill/>
          </a:ln>
        </p:spPr>
        <p:txBody>
          <a:bodyPr spcFirstLastPara="1" wrap="square" lIns="91425" tIns="45700" rIns="91425" bIns="45700" anchor="t" anchorCtr="0">
            <a:noAutofit/>
          </a:bodyPr>
          <a:lstStyle/>
          <a:p>
            <a:pPr marL="0" lvl="0" indent="0"/>
            <a:r>
              <a:rPr lang="en-US" sz="1800" dirty="0">
                <a:solidFill>
                  <a:srgbClr val="202124"/>
                </a:solidFill>
                <a:latin typeface="+mn-lt"/>
              </a:rPr>
              <a:t>Panayiotis Danassis</a:t>
            </a:r>
            <a:r>
              <a:rPr lang="en-US" sz="1800" baseline="30000" dirty="0">
                <a:solidFill>
                  <a:srgbClr val="202124"/>
                </a:solidFill>
                <a:latin typeface="+mn-lt"/>
              </a:rPr>
              <a:t>1</a:t>
            </a:r>
            <a:r>
              <a:rPr lang="en-US" sz="1800" dirty="0">
                <a:solidFill>
                  <a:srgbClr val="202124"/>
                </a:solidFill>
                <a:latin typeface="+mn-lt"/>
              </a:rPr>
              <a:t>, Naman Goel</a:t>
            </a:r>
            <a:r>
              <a:rPr lang="en-US" sz="1800" baseline="30000" dirty="0">
                <a:solidFill>
                  <a:srgbClr val="202124"/>
                </a:solidFill>
              </a:rPr>
              <a:t>2</a:t>
            </a:r>
            <a:endParaRPr lang="en-US" sz="1800" dirty="0">
              <a:solidFill>
                <a:srgbClr val="202124"/>
              </a:solidFill>
              <a:latin typeface="+mn-lt"/>
            </a:endParaRPr>
          </a:p>
        </p:txBody>
      </p:sp>
      <p:sp>
        <p:nvSpPr>
          <p:cNvPr id="10" name="Google Shape;203;g1882fcc12d0_0_0">
            <a:extLst>
              <a:ext uri="{FF2B5EF4-FFF2-40B4-BE49-F238E27FC236}">
                <a16:creationId xmlns:a16="http://schemas.microsoft.com/office/drawing/2014/main" id="{37BEBB5A-8CFF-DA7A-0554-E0FFEA0C62E5}"/>
              </a:ext>
            </a:extLst>
          </p:cNvPr>
          <p:cNvSpPr txBox="1">
            <a:spLocks noGrp="1"/>
          </p:cNvSpPr>
          <p:nvPr>
            <p:ph type="title"/>
          </p:nvPr>
        </p:nvSpPr>
        <p:spPr>
          <a:xfrm>
            <a:off x="739624" y="1113318"/>
            <a:ext cx="6724528" cy="2126386"/>
          </a:xfrm>
          <a:prstGeom prst="rect">
            <a:avLst/>
          </a:prstGeom>
          <a:noFill/>
          <a:ln>
            <a:noFill/>
          </a:ln>
        </p:spPr>
        <p:txBody>
          <a:bodyPr spcFirstLastPara="1" wrap="square" lIns="91425" tIns="45700" rIns="91425" bIns="45700" anchor="t" anchorCtr="0">
            <a:noAutofit/>
          </a:bodyPr>
          <a:lstStyle/>
          <a:p>
            <a:r>
              <a:rPr lang="en-GB" sz="4400" dirty="0">
                <a:latin typeface="+mj-lt"/>
              </a:rPr>
              <a:t>Can Vibe Coding Beat Graduate CS Students?</a:t>
            </a:r>
            <a:endParaRPr lang="en-GB" sz="3600" dirty="0">
              <a:latin typeface="+mj-lt"/>
            </a:endParaRPr>
          </a:p>
        </p:txBody>
      </p:sp>
      <p:sp>
        <p:nvSpPr>
          <p:cNvPr id="11" name="TextBox 10">
            <a:extLst>
              <a:ext uri="{FF2B5EF4-FFF2-40B4-BE49-F238E27FC236}">
                <a16:creationId xmlns:a16="http://schemas.microsoft.com/office/drawing/2014/main" id="{BC8C5296-EBC2-1456-B2A3-F5BA01EBC3A6}"/>
              </a:ext>
            </a:extLst>
          </p:cNvPr>
          <p:cNvSpPr txBox="1"/>
          <p:nvPr/>
        </p:nvSpPr>
        <p:spPr>
          <a:xfrm>
            <a:off x="739624" y="4129916"/>
            <a:ext cx="6095222" cy="523220"/>
          </a:xfrm>
          <a:prstGeom prst="rect">
            <a:avLst/>
          </a:prstGeom>
          <a:noFill/>
        </p:spPr>
        <p:txBody>
          <a:bodyPr wrap="square">
            <a:spAutoFit/>
          </a:bodyPr>
          <a:lstStyle/>
          <a:p>
            <a:r>
              <a:rPr lang="en-US" sz="1400" b="0" i="0" u="none" strike="noStrike" baseline="30000" dirty="0">
                <a:solidFill>
                  <a:srgbClr val="202124"/>
                </a:solidFill>
                <a:effectLst/>
              </a:rPr>
              <a:t>1</a:t>
            </a:r>
            <a:r>
              <a:rPr lang="en-US" sz="1400" b="0" i="0" u="none" strike="noStrike" dirty="0">
                <a:solidFill>
                  <a:srgbClr val="202124"/>
                </a:solidFill>
                <a:effectLst/>
              </a:rPr>
              <a:t> </a:t>
            </a:r>
            <a:r>
              <a:rPr lang="en-US" sz="1400" dirty="0">
                <a:solidFill>
                  <a:srgbClr val="202124"/>
                </a:solidFill>
              </a:rPr>
              <a:t>University of Southampton</a:t>
            </a:r>
            <a:endParaRPr lang="en-US" b="0" dirty="0">
              <a:effectLst/>
            </a:endParaRPr>
          </a:p>
          <a:p>
            <a:r>
              <a:rPr lang="en-US" sz="1400" b="0" i="0" u="none" strike="noStrike" baseline="30000" dirty="0">
                <a:solidFill>
                  <a:srgbClr val="202124"/>
                </a:solidFill>
                <a:effectLst/>
              </a:rPr>
              <a:t>2</a:t>
            </a:r>
            <a:r>
              <a:rPr lang="en-US" sz="1400" b="0" i="0" u="none" strike="noStrike" dirty="0">
                <a:solidFill>
                  <a:srgbClr val="202124"/>
                </a:solidFill>
                <a:effectLst/>
              </a:rPr>
              <a:t> </a:t>
            </a:r>
            <a:r>
              <a:rPr lang="en-GB" sz="1400" dirty="0">
                <a:solidFill>
                  <a:srgbClr val="202124"/>
                </a:solidFill>
              </a:rPr>
              <a:t>University of Oxford and Alan Turing Institute</a:t>
            </a:r>
            <a:endParaRPr lang="en-US" dirty="0"/>
          </a:p>
        </p:txBody>
      </p:sp>
      <p:pic>
        <p:nvPicPr>
          <p:cNvPr id="12" name="Picture 11">
            <a:extLst>
              <a:ext uri="{FF2B5EF4-FFF2-40B4-BE49-F238E27FC236}">
                <a16:creationId xmlns:a16="http://schemas.microsoft.com/office/drawing/2014/main" id="{9EFF12D9-AF3A-8D88-35CC-19325522F6C0}"/>
              </a:ext>
            </a:extLst>
          </p:cNvPr>
          <p:cNvPicPr>
            <a:picLocks noChangeAspect="1"/>
          </p:cNvPicPr>
          <p:nvPr/>
        </p:nvPicPr>
        <p:blipFill>
          <a:blip r:embed="rId4" cstate="print">
            <a:extLst>
              <a:ext uri="{28A0092B-C50C-407E-A947-70E740481C1C}">
                <a14:useLocalDpi xmlns:a14="http://schemas.microsoft.com/office/drawing/2010/main" val="0"/>
              </a:ext>
            </a:extLst>
          </a:blip>
          <a:srcRect r="82484"/>
          <a:stretch>
            <a:fillRect/>
          </a:stretch>
        </p:blipFill>
        <p:spPr>
          <a:xfrm>
            <a:off x="283912" y="5434260"/>
            <a:ext cx="911424" cy="1138006"/>
          </a:xfrm>
          <a:prstGeom prst="rect">
            <a:avLst/>
          </a:prstGeom>
        </p:spPr>
      </p:pic>
      <p:pic>
        <p:nvPicPr>
          <p:cNvPr id="13" name="Graphic 12">
            <a:extLst>
              <a:ext uri="{FF2B5EF4-FFF2-40B4-BE49-F238E27FC236}">
                <a16:creationId xmlns:a16="http://schemas.microsoft.com/office/drawing/2014/main" id="{73DD2348-03EC-96D9-D31A-48AD0D6D7D48}"/>
              </a:ext>
            </a:extLst>
          </p:cNvPr>
          <p:cNvPicPr>
            <a:picLocks noChangeAspect="1"/>
          </p:cNvPicPr>
          <p:nvPr/>
        </p:nvPicPr>
        <p:blipFill>
          <a:blip>
            <a:extLst>
              <a:ext uri="{96DAC541-7B7A-43D3-8B79-37D633B846F1}">
                <asvg:svgBlip xmlns:asvg="http://schemas.microsoft.com/office/drawing/2016/SVG/main" r:embed="rId5"/>
              </a:ext>
            </a:extLst>
          </a:blip>
          <a:srcRect r="74638"/>
          <a:stretch>
            <a:fillRect/>
          </a:stretch>
        </p:blipFill>
        <p:spPr>
          <a:xfrm>
            <a:off x="1415480" y="5512054"/>
            <a:ext cx="911424" cy="1060211"/>
          </a:xfrm>
          <a:prstGeom prst="rect">
            <a:avLst/>
          </a:prstGeom>
        </p:spPr>
      </p:pic>
      <p:pic>
        <p:nvPicPr>
          <p:cNvPr id="14" name="Picture 2" descr="Contact us | The Alan Turing Institute">
            <a:extLst>
              <a:ext uri="{FF2B5EF4-FFF2-40B4-BE49-F238E27FC236}">
                <a16:creationId xmlns:a16="http://schemas.microsoft.com/office/drawing/2014/main" id="{971B9B44-189B-B8B4-6407-4D638E99D93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547048" y="5512054"/>
            <a:ext cx="2509375" cy="106021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AAMAS | 2026">
            <a:extLst>
              <a:ext uri="{FF2B5EF4-FFF2-40B4-BE49-F238E27FC236}">
                <a16:creationId xmlns:a16="http://schemas.microsoft.com/office/drawing/2014/main" id="{ADD5F362-C15A-4A6D-82DE-6D6E6E44B27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336360" y="5432071"/>
            <a:ext cx="2683851" cy="1142384"/>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465515A3-DD77-6E75-6738-5F84F4C0CBBD}"/>
              </a:ext>
            </a:extLst>
          </p:cNvPr>
          <p:cNvPicPr>
            <a:picLocks noChangeAspect="1"/>
          </p:cNvPicPr>
          <p:nvPr/>
        </p:nvPicPr>
        <p:blipFill>
          <a:blip r:embed="rId8" cstate="print">
            <a:alphaModFix amt="50000"/>
            <a:extLst>
              <a:ext uri="{BEBA8EAE-BF5A-486C-A8C5-ECC9F3942E4B}">
                <a14:imgProps xmlns:a14="http://schemas.microsoft.com/office/drawing/2010/main">
                  <a14:imgLayer r:embed="rId9">
                    <a14:imgEffect>
                      <a14:backgroundRemoval t="10000" b="90000" l="10000" r="90000">
                        <a14:foregroundMark x1="27113" y1="43142" x2="27273" y2="43381"/>
                        <a14:foregroundMark x1="26635" y1="41707" x2="34131" y2="46093"/>
                        <a14:foregroundMark x1="34131" y1="46093" x2="30303" y2="33732"/>
                        <a14:foregroundMark x1="30303" y1="33732" x2="26156" y2="33413"/>
                        <a14:foregroundMark x1="24163" y1="30702" x2="23046" y2="44498"/>
                        <a14:foregroundMark x1="23046" y1="44498" x2="31898" y2="49601"/>
                        <a14:foregroundMark x1="31898" y1="49601" x2="37480" y2="42663"/>
                        <a14:foregroundMark x1="37480" y1="42663" x2="35885" y2="34769"/>
                        <a14:foregroundMark x1="35885" y1="34769" x2="29506" y2="30702"/>
                        <a14:foregroundMark x1="29506" y1="30702" x2="23604" y2="30781"/>
                        <a14:foregroundMark x1="26475" y1="32935" x2="25040" y2="32695"/>
                        <a14:foregroundMark x1="27033" y1="35088" x2="27512" y2="35407"/>
                        <a14:foregroundMark x1="27512" y1="35486" x2="28389" y2="35327"/>
                        <a14:foregroundMark x1="27113" y1="34211" x2="28150" y2="34769"/>
                        <a14:foregroundMark x1="25997" y1="32695" x2="24960" y2="32057"/>
                        <a14:foregroundMark x1="32217" y1="35167" x2="31818" y2="36045"/>
                        <a14:foregroundMark x1="32616" y1="36842" x2="32935" y2="36204"/>
                        <a14:foregroundMark x1="27033" y1="36045" x2="25917" y2="36204"/>
                        <a14:foregroundMark x1="58692" y1="61643" x2="59091" y2="62041"/>
                        <a14:foregroundMark x1="57656" y1="61722" x2="56938" y2="61244"/>
                        <a14:foregroundMark x1="59888" y1="60766" x2="59490" y2="61643"/>
                        <a14:foregroundMark x1="81260" y1="59011" x2="81021" y2="58293"/>
                        <a14:foregroundMark x1="81659" y1="58214" x2="81180" y2="58931"/>
                        <a14:foregroundMark x1="80781" y1="58852" x2="80383" y2="59011"/>
                      </a14:backgroundRemoval>
                    </a14:imgEffect>
                  </a14:imgLayer>
                </a14:imgProps>
              </a:ext>
              <a:ext uri="{28A0092B-C50C-407E-A947-70E740481C1C}">
                <a14:useLocalDpi xmlns:a14="http://schemas.microsoft.com/office/drawing/2010/main" val="0"/>
              </a:ext>
            </a:extLst>
          </a:blip>
          <a:stretch>
            <a:fillRect/>
          </a:stretch>
        </p:blipFill>
        <p:spPr>
          <a:xfrm>
            <a:off x="7248128" y="4357366"/>
            <a:ext cx="470867" cy="470867"/>
          </a:xfrm>
          <a:prstGeom prst="rect">
            <a:avLst/>
          </a:prstGeom>
        </p:spPr>
      </p:pic>
      <p:pic>
        <p:nvPicPr>
          <p:cNvPr id="19" name="Picture 18">
            <a:extLst>
              <a:ext uri="{FF2B5EF4-FFF2-40B4-BE49-F238E27FC236}">
                <a16:creationId xmlns:a16="http://schemas.microsoft.com/office/drawing/2014/main" id="{64E8D045-3850-51D6-3BC5-E2C75F9C1B6A}"/>
              </a:ext>
            </a:extLst>
          </p:cNvPr>
          <p:cNvPicPr>
            <a:picLocks noChangeAspect="1"/>
          </p:cNvPicPr>
          <p:nvPr/>
        </p:nvPicPr>
        <p:blipFill>
          <a:blip r:embed="rId10" cstate="print">
            <a:alphaModFix amt="50000"/>
            <a:extLst>
              <a:ext uri="{BEBA8EAE-BF5A-486C-A8C5-ECC9F3942E4B}">
                <a14:imgProps xmlns:a14="http://schemas.microsoft.com/office/drawing/2010/main">
                  <a14:imgLayer r:embed="rId11">
                    <a14:imgEffect>
                      <a14:backgroundRemoval t="10000" b="90000" l="10000" r="90000">
                        <a14:foregroundMark x1="65949" y1="31659" x2="71292" y2="33413"/>
                        <a14:foregroundMark x1="70893" y1="35646" x2="70016" y2="36762"/>
                        <a14:foregroundMark x1="68740" y1="44179" x2="58852" y2="49601"/>
                        <a14:foregroundMark x1="58852" y1="49601" x2="68262" y2="52313"/>
                        <a14:foregroundMark x1="68262" y1="52313" x2="63636" y2="44817"/>
                        <a14:foregroundMark x1="70255" y1="29585" x2="57496" y2="43301"/>
                        <a14:foregroundMark x1="57496" y1="43301" x2="73525" y2="52153"/>
                        <a14:foregroundMark x1="73525" y1="52153" x2="74960" y2="36523"/>
                        <a14:foregroundMark x1="74960" y1="36523" x2="71212" y2="30622"/>
                        <a14:foregroundMark x1="73285" y1="35885" x2="68660" y2="42424"/>
                        <a14:foregroundMark x1="68660" y1="42424" x2="71292" y2="46491"/>
                        <a14:foregroundMark x1="68740" y1="46411" x2="68900" y2="47687"/>
                        <a14:foregroundMark x1="64593" y1="32137" x2="59968" y2="34450"/>
                        <a14:foregroundMark x1="58054" y1="63317" x2="58373" y2="62759"/>
                        <a14:foregroundMark x1="58931" y1="70813" x2="60128" y2="70255"/>
                        <a14:foregroundMark x1="57895" y1="70574" x2="58692" y2="70335"/>
                        <a14:foregroundMark x1="58214" y1="61324" x2="57815" y2="61802"/>
                        <a14:foregroundMark x1="58852" y1="63158" x2="58692" y2="63158"/>
                        <a14:foregroundMark x1="58453" y1="62679" x2="58533" y2="64434"/>
                        <a14:foregroundMark x1="86922" y1="59888" x2="86045" y2="60287"/>
                        <a14:foregroundMark x1="85167" y1="60447" x2="85486" y2="60287"/>
                        <a14:foregroundMark x1="86523" y1="66986" x2="86683" y2="67384"/>
                        <a14:foregroundMark x1="85726" y1="68341" x2="86683" y2="68102"/>
                        <a14:foregroundMark x1="60845" y1="71132" x2="61404" y2="71053"/>
                      </a14:backgroundRemoval>
                    </a14:imgEffect>
                  </a14:imgLayer>
                </a14:imgProps>
              </a:ext>
              <a:ext uri="{28A0092B-C50C-407E-A947-70E740481C1C}">
                <a14:useLocalDpi xmlns:a14="http://schemas.microsoft.com/office/drawing/2010/main" val="0"/>
              </a:ext>
            </a:extLst>
          </a:blip>
          <a:stretch>
            <a:fillRect/>
          </a:stretch>
        </p:blipFill>
        <p:spPr>
          <a:xfrm>
            <a:off x="7896199" y="3660973"/>
            <a:ext cx="470867" cy="470867"/>
          </a:xfrm>
          <a:prstGeom prst="rect">
            <a:avLst/>
          </a:prstGeom>
        </p:spPr>
      </p:pic>
      <p:pic>
        <p:nvPicPr>
          <p:cNvPr id="20" name="Picture 19">
            <a:extLst>
              <a:ext uri="{FF2B5EF4-FFF2-40B4-BE49-F238E27FC236}">
                <a16:creationId xmlns:a16="http://schemas.microsoft.com/office/drawing/2014/main" id="{A0D951C6-AB3F-EBF0-2A52-A6BC2AC9C0CE}"/>
              </a:ext>
            </a:extLst>
          </p:cNvPr>
          <p:cNvPicPr>
            <a:picLocks noChangeAspect="1"/>
          </p:cNvPicPr>
          <p:nvPr/>
        </p:nvPicPr>
        <p:blipFill>
          <a:blip r:embed="rId10" cstate="print">
            <a:alphaModFix amt="50000"/>
            <a:extLst>
              <a:ext uri="{BEBA8EAE-BF5A-486C-A8C5-ECC9F3942E4B}">
                <a14:imgProps xmlns:a14="http://schemas.microsoft.com/office/drawing/2010/main">
                  <a14:imgLayer r:embed="rId11">
                    <a14:imgEffect>
                      <a14:backgroundRemoval t="10000" b="90000" l="10000" r="90000">
                        <a14:foregroundMark x1="65949" y1="31659" x2="71292" y2="33413"/>
                        <a14:foregroundMark x1="70893" y1="35646" x2="70016" y2="36762"/>
                        <a14:foregroundMark x1="68740" y1="44179" x2="58852" y2="49601"/>
                        <a14:foregroundMark x1="58852" y1="49601" x2="68262" y2="52313"/>
                        <a14:foregroundMark x1="68262" y1="52313" x2="63636" y2="44817"/>
                        <a14:foregroundMark x1="70255" y1="29585" x2="57496" y2="43301"/>
                        <a14:foregroundMark x1="57496" y1="43301" x2="73525" y2="52153"/>
                        <a14:foregroundMark x1="73525" y1="52153" x2="74960" y2="36523"/>
                        <a14:foregroundMark x1="74960" y1="36523" x2="71212" y2="30622"/>
                        <a14:foregroundMark x1="73285" y1="35885" x2="68660" y2="42424"/>
                        <a14:foregroundMark x1="68660" y1="42424" x2="71292" y2="46491"/>
                        <a14:foregroundMark x1="68740" y1="46411" x2="68900" y2="47687"/>
                        <a14:foregroundMark x1="64593" y1="32137" x2="59968" y2="34450"/>
                        <a14:foregroundMark x1="58054" y1="63317" x2="58373" y2="62759"/>
                        <a14:foregroundMark x1="58931" y1="70813" x2="60128" y2="70255"/>
                        <a14:foregroundMark x1="57895" y1="70574" x2="58692" y2="70335"/>
                        <a14:foregroundMark x1="58214" y1="61324" x2="57815" y2="61802"/>
                        <a14:foregroundMark x1="58852" y1="63158" x2="58692" y2="63158"/>
                        <a14:foregroundMark x1="58453" y1="62679" x2="58533" y2="64434"/>
                        <a14:foregroundMark x1="86922" y1="59888" x2="86045" y2="60287"/>
                        <a14:foregroundMark x1="85167" y1="60447" x2="85486" y2="60287"/>
                        <a14:foregroundMark x1="86523" y1="66986" x2="86683" y2="67384"/>
                        <a14:foregroundMark x1="85726" y1="68341" x2="86683" y2="68102"/>
                        <a14:foregroundMark x1="60845" y1="71132" x2="61404" y2="71053"/>
                      </a14:backgroundRemoval>
                    </a14:imgEffect>
                  </a14:imgLayer>
                </a14:imgProps>
              </a:ext>
              <a:ext uri="{28A0092B-C50C-407E-A947-70E740481C1C}">
                <a14:useLocalDpi xmlns:a14="http://schemas.microsoft.com/office/drawing/2010/main" val="0"/>
              </a:ext>
            </a:extLst>
          </a:blip>
          <a:stretch>
            <a:fillRect/>
          </a:stretch>
        </p:blipFill>
        <p:spPr>
          <a:xfrm>
            <a:off x="11313765" y="799554"/>
            <a:ext cx="470867" cy="470867"/>
          </a:xfrm>
          <a:prstGeom prst="rect">
            <a:avLst/>
          </a:prstGeom>
        </p:spPr>
      </p:pic>
      <p:pic>
        <p:nvPicPr>
          <p:cNvPr id="21" name="Picture 20">
            <a:extLst>
              <a:ext uri="{FF2B5EF4-FFF2-40B4-BE49-F238E27FC236}">
                <a16:creationId xmlns:a16="http://schemas.microsoft.com/office/drawing/2014/main" id="{AF27F44A-2DAA-6DEA-5C62-4C6B217C2BE6}"/>
              </a:ext>
            </a:extLst>
          </p:cNvPr>
          <p:cNvPicPr>
            <a:picLocks noChangeAspect="1"/>
          </p:cNvPicPr>
          <p:nvPr/>
        </p:nvPicPr>
        <p:blipFill>
          <a:blip r:embed="rId10" cstate="print">
            <a:alphaModFix amt="50000"/>
            <a:extLst>
              <a:ext uri="{BEBA8EAE-BF5A-486C-A8C5-ECC9F3942E4B}">
                <a14:imgProps xmlns:a14="http://schemas.microsoft.com/office/drawing/2010/main">
                  <a14:imgLayer r:embed="rId11">
                    <a14:imgEffect>
                      <a14:backgroundRemoval t="10000" b="90000" l="10000" r="90000">
                        <a14:foregroundMark x1="65949" y1="31659" x2="71292" y2="33413"/>
                        <a14:foregroundMark x1="70893" y1="35646" x2="70016" y2="36762"/>
                        <a14:foregroundMark x1="68740" y1="44179" x2="58852" y2="49601"/>
                        <a14:foregroundMark x1="58852" y1="49601" x2="68262" y2="52313"/>
                        <a14:foregroundMark x1="68262" y1="52313" x2="63636" y2="44817"/>
                        <a14:foregroundMark x1="70255" y1="29585" x2="57496" y2="43301"/>
                        <a14:foregroundMark x1="57496" y1="43301" x2="73525" y2="52153"/>
                        <a14:foregroundMark x1="73525" y1="52153" x2="74960" y2="36523"/>
                        <a14:foregroundMark x1="74960" y1="36523" x2="71212" y2="30622"/>
                        <a14:foregroundMark x1="73285" y1="35885" x2="68660" y2="42424"/>
                        <a14:foregroundMark x1="68660" y1="42424" x2="71292" y2="46491"/>
                        <a14:foregroundMark x1="68740" y1="46411" x2="68900" y2="47687"/>
                        <a14:foregroundMark x1="64593" y1="32137" x2="59968" y2="34450"/>
                        <a14:foregroundMark x1="58054" y1="63317" x2="58373" y2="62759"/>
                        <a14:foregroundMark x1="58931" y1="70813" x2="60128" y2="70255"/>
                        <a14:foregroundMark x1="57895" y1="70574" x2="58692" y2="70335"/>
                        <a14:foregroundMark x1="58214" y1="61324" x2="57815" y2="61802"/>
                        <a14:foregroundMark x1="58852" y1="63158" x2="58692" y2="63158"/>
                        <a14:foregroundMark x1="58453" y1="62679" x2="58533" y2="64434"/>
                        <a14:foregroundMark x1="86922" y1="59888" x2="86045" y2="60287"/>
                        <a14:foregroundMark x1="85167" y1="60447" x2="85486" y2="60287"/>
                        <a14:foregroundMark x1="86523" y1="66986" x2="86683" y2="67384"/>
                        <a14:foregroundMark x1="85726" y1="68341" x2="86683" y2="68102"/>
                        <a14:foregroundMark x1="60845" y1="71132" x2="61404" y2="71053"/>
                      </a14:backgroundRemoval>
                    </a14:imgEffect>
                  </a14:imgLayer>
                </a14:imgProps>
              </a:ext>
              <a:ext uri="{28A0092B-C50C-407E-A947-70E740481C1C}">
                <a14:useLocalDpi xmlns:a14="http://schemas.microsoft.com/office/drawing/2010/main" val="0"/>
              </a:ext>
            </a:extLst>
          </a:blip>
          <a:stretch>
            <a:fillRect/>
          </a:stretch>
        </p:blipFill>
        <p:spPr>
          <a:xfrm flipH="1">
            <a:off x="8367066" y="6336831"/>
            <a:ext cx="470867" cy="470867"/>
          </a:xfrm>
          <a:prstGeom prst="rect">
            <a:avLst/>
          </a:prstGeom>
        </p:spPr>
      </p:pic>
      <p:pic>
        <p:nvPicPr>
          <p:cNvPr id="22" name="Picture 21">
            <a:extLst>
              <a:ext uri="{FF2B5EF4-FFF2-40B4-BE49-F238E27FC236}">
                <a16:creationId xmlns:a16="http://schemas.microsoft.com/office/drawing/2014/main" id="{8D8DEE6E-8E9D-41A3-4F05-B454B55DA0C0}"/>
              </a:ext>
            </a:extLst>
          </p:cNvPr>
          <p:cNvPicPr>
            <a:picLocks noChangeAspect="1"/>
          </p:cNvPicPr>
          <p:nvPr/>
        </p:nvPicPr>
        <p:blipFill>
          <a:blip r:embed="rId8" cstate="print">
            <a:alphaModFix amt="50000"/>
            <a:extLst>
              <a:ext uri="{BEBA8EAE-BF5A-486C-A8C5-ECC9F3942E4B}">
                <a14:imgProps xmlns:a14="http://schemas.microsoft.com/office/drawing/2010/main">
                  <a14:imgLayer r:embed="rId9">
                    <a14:imgEffect>
                      <a14:backgroundRemoval t="10000" b="90000" l="10000" r="90000">
                        <a14:foregroundMark x1="27113" y1="43142" x2="27273" y2="43381"/>
                        <a14:foregroundMark x1="26635" y1="41707" x2="34131" y2="46093"/>
                        <a14:foregroundMark x1="34131" y1="46093" x2="30303" y2="33732"/>
                        <a14:foregroundMark x1="30303" y1="33732" x2="26156" y2="33413"/>
                        <a14:foregroundMark x1="24163" y1="30702" x2="23046" y2="44498"/>
                        <a14:foregroundMark x1="23046" y1="44498" x2="31898" y2="49601"/>
                        <a14:foregroundMark x1="31898" y1="49601" x2="37480" y2="42663"/>
                        <a14:foregroundMark x1="37480" y1="42663" x2="35885" y2="34769"/>
                        <a14:foregroundMark x1="35885" y1="34769" x2="29506" y2="30702"/>
                        <a14:foregroundMark x1="29506" y1="30702" x2="23604" y2="30781"/>
                        <a14:foregroundMark x1="26475" y1="32935" x2="25040" y2="32695"/>
                        <a14:foregroundMark x1="27033" y1="35088" x2="27512" y2="35407"/>
                        <a14:foregroundMark x1="27512" y1="35486" x2="28389" y2="35327"/>
                        <a14:foregroundMark x1="27113" y1="34211" x2="28150" y2="34769"/>
                        <a14:foregroundMark x1="25997" y1="32695" x2="24960" y2="32057"/>
                        <a14:foregroundMark x1="32217" y1="35167" x2="31818" y2="36045"/>
                        <a14:foregroundMark x1="32616" y1="36842" x2="32935" y2="36204"/>
                        <a14:foregroundMark x1="27033" y1="36045" x2="25917" y2="36204"/>
                        <a14:foregroundMark x1="58692" y1="61643" x2="59091" y2="62041"/>
                        <a14:foregroundMark x1="57656" y1="61722" x2="56938" y2="61244"/>
                        <a14:foregroundMark x1="59888" y1="60766" x2="59490" y2="61643"/>
                        <a14:foregroundMark x1="81260" y1="59011" x2="81021" y2="58293"/>
                        <a14:foregroundMark x1="81659" y1="58214" x2="81180" y2="58931"/>
                        <a14:foregroundMark x1="80781" y1="58852" x2="80383" y2="59011"/>
                      </a14:backgroundRemoval>
                    </a14:imgEffect>
                  </a14:imgLayer>
                </a14:imgProps>
              </a:ext>
              <a:ext uri="{28A0092B-C50C-407E-A947-70E740481C1C}">
                <a14:useLocalDpi xmlns:a14="http://schemas.microsoft.com/office/drawing/2010/main" val="0"/>
              </a:ext>
            </a:extLst>
          </a:blip>
          <a:stretch>
            <a:fillRect/>
          </a:stretch>
        </p:blipFill>
        <p:spPr>
          <a:xfrm flipH="1">
            <a:off x="10352314" y="3160959"/>
            <a:ext cx="470867" cy="470867"/>
          </a:xfrm>
          <a:prstGeom prst="rect">
            <a:avLst/>
          </a:prstGeom>
        </p:spPr>
      </p:pic>
      <p:pic>
        <p:nvPicPr>
          <p:cNvPr id="23" name="Picture 22">
            <a:extLst>
              <a:ext uri="{FF2B5EF4-FFF2-40B4-BE49-F238E27FC236}">
                <a16:creationId xmlns:a16="http://schemas.microsoft.com/office/drawing/2014/main" id="{7907729B-93A8-D0CC-C95E-2DFF166E4423}"/>
              </a:ext>
            </a:extLst>
          </p:cNvPr>
          <p:cNvPicPr>
            <a:picLocks noChangeAspect="1"/>
          </p:cNvPicPr>
          <p:nvPr/>
        </p:nvPicPr>
        <p:blipFill>
          <a:blip r:embed="rId8" cstate="print">
            <a:alphaModFix amt="50000"/>
            <a:extLst>
              <a:ext uri="{BEBA8EAE-BF5A-486C-A8C5-ECC9F3942E4B}">
                <a14:imgProps xmlns:a14="http://schemas.microsoft.com/office/drawing/2010/main">
                  <a14:imgLayer r:embed="rId9">
                    <a14:imgEffect>
                      <a14:backgroundRemoval t="10000" b="90000" l="10000" r="90000">
                        <a14:foregroundMark x1="27113" y1="43142" x2="27273" y2="43381"/>
                        <a14:foregroundMark x1="26635" y1="41707" x2="34131" y2="46093"/>
                        <a14:foregroundMark x1="34131" y1="46093" x2="30303" y2="33732"/>
                        <a14:foregroundMark x1="30303" y1="33732" x2="26156" y2="33413"/>
                        <a14:foregroundMark x1="24163" y1="30702" x2="23046" y2="44498"/>
                        <a14:foregroundMark x1="23046" y1="44498" x2="31898" y2="49601"/>
                        <a14:foregroundMark x1="31898" y1="49601" x2="37480" y2="42663"/>
                        <a14:foregroundMark x1="37480" y1="42663" x2="35885" y2="34769"/>
                        <a14:foregroundMark x1="35885" y1="34769" x2="29506" y2="30702"/>
                        <a14:foregroundMark x1="29506" y1="30702" x2="23604" y2="30781"/>
                        <a14:foregroundMark x1="26475" y1="32935" x2="25040" y2="32695"/>
                        <a14:foregroundMark x1="27033" y1="35088" x2="27512" y2="35407"/>
                        <a14:foregroundMark x1="27512" y1="35486" x2="28389" y2="35327"/>
                        <a14:foregroundMark x1="27113" y1="34211" x2="28150" y2="34769"/>
                        <a14:foregroundMark x1="25997" y1="32695" x2="24960" y2="32057"/>
                        <a14:foregroundMark x1="32217" y1="35167" x2="31818" y2="36045"/>
                        <a14:foregroundMark x1="32616" y1="36842" x2="32935" y2="36204"/>
                        <a14:foregroundMark x1="27033" y1="36045" x2="25917" y2="36204"/>
                        <a14:foregroundMark x1="58692" y1="61643" x2="59091" y2="62041"/>
                        <a14:foregroundMark x1="57656" y1="61722" x2="56938" y2="61244"/>
                        <a14:foregroundMark x1="59888" y1="60766" x2="59490" y2="61643"/>
                        <a14:foregroundMark x1="81260" y1="59011" x2="81021" y2="58293"/>
                        <a14:foregroundMark x1="81659" y1="58214" x2="81180" y2="58931"/>
                        <a14:foregroundMark x1="80781" y1="58852" x2="80383" y2="59011"/>
                      </a14:backgroundRemoval>
                    </a14:imgEffect>
                  </a14:imgLayer>
                </a14:imgProps>
              </a:ext>
              <a:ext uri="{28A0092B-C50C-407E-A947-70E740481C1C}">
                <a14:useLocalDpi xmlns:a14="http://schemas.microsoft.com/office/drawing/2010/main" val="0"/>
              </a:ext>
            </a:extLst>
          </a:blip>
          <a:stretch>
            <a:fillRect/>
          </a:stretch>
        </p:blipFill>
        <p:spPr>
          <a:xfrm>
            <a:off x="11689102" y="4357365"/>
            <a:ext cx="470867" cy="470867"/>
          </a:xfrm>
          <a:prstGeom prst="rect">
            <a:avLst/>
          </a:prstGeom>
        </p:spPr>
      </p:pic>
      <p:sp>
        <p:nvSpPr>
          <p:cNvPr id="2" name="Google Shape;203;g1882fcc12d0_0_0">
            <a:extLst>
              <a:ext uri="{FF2B5EF4-FFF2-40B4-BE49-F238E27FC236}">
                <a16:creationId xmlns:a16="http://schemas.microsoft.com/office/drawing/2014/main" id="{F7DB8B08-4B87-5FC7-6B5B-4721FDA3CB82}"/>
              </a:ext>
            </a:extLst>
          </p:cNvPr>
          <p:cNvSpPr txBox="1">
            <a:spLocks/>
          </p:cNvSpPr>
          <p:nvPr/>
        </p:nvSpPr>
        <p:spPr>
          <a:xfrm>
            <a:off x="739624" y="2420888"/>
            <a:ext cx="8812760" cy="1019538"/>
          </a:xfrm>
          <a:prstGeom prst="rect">
            <a:avLst/>
          </a:prstGeom>
          <a:noFill/>
          <a:ln>
            <a:noFill/>
          </a:ln>
        </p:spPr>
        <p:txBody>
          <a:bodyPr spcFirstLastPara="1" wrap="square" lIns="91425" tIns="45700" rIns="91425" bIns="45700" anchor="t" anchorCtr="0">
            <a:noAutofit/>
          </a:bodyPr>
          <a:lstStyle>
            <a:lvl1pPr lvl="0" algn="l" defTabSz="914400" rtl="0" eaLnBrk="1" latinLnBrk="0" hangingPunct="1">
              <a:lnSpc>
                <a:spcPct val="90000"/>
              </a:lnSpc>
              <a:spcBef>
                <a:spcPts val="0"/>
              </a:spcBef>
              <a:spcAft>
                <a:spcPts val="0"/>
              </a:spcAft>
              <a:buSzPts val="4400"/>
              <a:buNone/>
              <a:defRPr sz="4800" kern="1200">
                <a:solidFill>
                  <a:srgbClr val="202124"/>
                </a:solidFill>
                <a:latin typeface="Google Sans Medium"/>
                <a:ea typeface="Google Sans Medium"/>
                <a:cs typeface="Google Sans Medium"/>
                <a:sym typeface="Google Sans Medium"/>
              </a:defRPr>
            </a:lvl1pPr>
            <a:lvl2pPr lvl="1" algn="l">
              <a:lnSpc>
                <a:spcPct val="100000"/>
              </a:lnSpc>
              <a:spcBef>
                <a:spcPts val="0"/>
              </a:spcBef>
              <a:spcAft>
                <a:spcPts val="0"/>
              </a:spcAft>
              <a:buSzPts val="1400"/>
              <a:buNone/>
              <a:defRPr>
                <a:solidFill>
                  <a:srgbClr val="202124"/>
                </a:solidFill>
              </a:defRPr>
            </a:lvl2pPr>
            <a:lvl3pPr lvl="2" algn="l">
              <a:lnSpc>
                <a:spcPct val="100000"/>
              </a:lnSpc>
              <a:spcBef>
                <a:spcPts val="0"/>
              </a:spcBef>
              <a:spcAft>
                <a:spcPts val="0"/>
              </a:spcAft>
              <a:buSzPts val="1400"/>
              <a:buNone/>
              <a:defRPr>
                <a:solidFill>
                  <a:srgbClr val="202124"/>
                </a:solidFill>
              </a:defRPr>
            </a:lvl3pPr>
            <a:lvl4pPr lvl="3" algn="l">
              <a:lnSpc>
                <a:spcPct val="100000"/>
              </a:lnSpc>
              <a:spcBef>
                <a:spcPts val="0"/>
              </a:spcBef>
              <a:spcAft>
                <a:spcPts val="0"/>
              </a:spcAft>
              <a:buSzPts val="1400"/>
              <a:buNone/>
              <a:defRPr>
                <a:solidFill>
                  <a:srgbClr val="202124"/>
                </a:solidFill>
              </a:defRPr>
            </a:lvl4pPr>
            <a:lvl5pPr lvl="4" algn="l">
              <a:lnSpc>
                <a:spcPct val="100000"/>
              </a:lnSpc>
              <a:spcBef>
                <a:spcPts val="0"/>
              </a:spcBef>
              <a:spcAft>
                <a:spcPts val="0"/>
              </a:spcAft>
              <a:buSzPts val="1400"/>
              <a:buNone/>
              <a:defRPr>
                <a:solidFill>
                  <a:srgbClr val="202124"/>
                </a:solidFill>
              </a:defRPr>
            </a:lvl5pPr>
            <a:lvl6pPr lvl="5" algn="l">
              <a:lnSpc>
                <a:spcPct val="100000"/>
              </a:lnSpc>
              <a:spcBef>
                <a:spcPts val="0"/>
              </a:spcBef>
              <a:spcAft>
                <a:spcPts val="0"/>
              </a:spcAft>
              <a:buSzPts val="1400"/>
              <a:buNone/>
              <a:defRPr>
                <a:solidFill>
                  <a:srgbClr val="202124"/>
                </a:solidFill>
              </a:defRPr>
            </a:lvl6pPr>
            <a:lvl7pPr lvl="6" algn="l">
              <a:lnSpc>
                <a:spcPct val="100000"/>
              </a:lnSpc>
              <a:spcBef>
                <a:spcPts val="0"/>
              </a:spcBef>
              <a:spcAft>
                <a:spcPts val="0"/>
              </a:spcAft>
              <a:buSzPts val="1400"/>
              <a:buNone/>
              <a:defRPr>
                <a:solidFill>
                  <a:srgbClr val="202124"/>
                </a:solidFill>
              </a:defRPr>
            </a:lvl7pPr>
            <a:lvl8pPr lvl="7" algn="l">
              <a:lnSpc>
                <a:spcPct val="100000"/>
              </a:lnSpc>
              <a:spcBef>
                <a:spcPts val="0"/>
              </a:spcBef>
              <a:spcAft>
                <a:spcPts val="0"/>
              </a:spcAft>
              <a:buSzPts val="1400"/>
              <a:buNone/>
              <a:defRPr>
                <a:solidFill>
                  <a:srgbClr val="202124"/>
                </a:solidFill>
              </a:defRPr>
            </a:lvl8pPr>
            <a:lvl9pPr lvl="8" algn="l">
              <a:lnSpc>
                <a:spcPct val="100000"/>
              </a:lnSpc>
              <a:spcBef>
                <a:spcPts val="0"/>
              </a:spcBef>
              <a:spcAft>
                <a:spcPts val="0"/>
              </a:spcAft>
              <a:buSzPts val="1400"/>
              <a:buNone/>
              <a:defRPr>
                <a:solidFill>
                  <a:srgbClr val="202124"/>
                </a:solidFill>
              </a:defRPr>
            </a:lvl9pPr>
          </a:lstStyle>
          <a:p>
            <a:r>
              <a:rPr lang="en-GB" sz="3200">
                <a:latin typeface="+mj-lt"/>
              </a:rPr>
              <a:t>An LLM vs. Human Coding Tournament on Market-driven Strategic Planning</a:t>
            </a:r>
            <a:endParaRPr lang="en-GB" sz="3600" dirty="0">
              <a:latin typeface="+mj-lt"/>
            </a:endParaRPr>
          </a:p>
        </p:txBody>
      </p:sp>
    </p:spTree>
    <p:extLst>
      <p:ext uri="{BB962C8B-B14F-4D97-AF65-F5344CB8AC3E}">
        <p14:creationId xmlns:p14="http://schemas.microsoft.com/office/powerpoint/2010/main" val="3189569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92A6C-A8D2-447F-021B-91187ACCAA3E}"/>
            </a:ext>
          </a:extLst>
        </p:cNvPr>
        <p:cNvGrpSpPr/>
        <p:nvPr/>
      </p:nvGrpSpPr>
      <p:grpSpPr>
        <a:xfrm>
          <a:off x="0" y="0"/>
          <a:ext cx="0" cy="0"/>
          <a:chOff x="0" y="0"/>
          <a:chExt cx="0" cy="0"/>
        </a:xfrm>
      </p:grpSpPr>
      <p:pic>
        <p:nvPicPr>
          <p:cNvPr id="25" name="Picture 24">
            <a:extLst>
              <a:ext uri="{FF2B5EF4-FFF2-40B4-BE49-F238E27FC236}">
                <a16:creationId xmlns:a16="http://schemas.microsoft.com/office/drawing/2014/main" id="{E01BC93C-5A4D-1E2B-87E8-61DB7E51B124}"/>
              </a:ext>
            </a:extLst>
          </p:cNvPr>
          <p:cNvPicPr>
            <a:picLocks noChangeAspect="1"/>
          </p:cNvPicPr>
          <p:nvPr/>
        </p:nvPicPr>
        <p:blipFill>
          <a:blip r:embed="rId3">
            <a:alphaModFix amt="10000"/>
            <a:extLst>
              <a:ext uri="{28A0092B-C50C-407E-A947-70E740481C1C}">
                <a14:useLocalDpi xmlns:a14="http://schemas.microsoft.com/office/drawing/2010/main" val="0"/>
              </a:ext>
            </a:extLst>
          </a:blip>
          <a:srcRect t="19551" b="11150"/>
          <a:stretch>
            <a:fillRect/>
          </a:stretch>
        </p:blipFill>
        <p:spPr>
          <a:xfrm>
            <a:off x="0" y="1645394"/>
            <a:ext cx="12192000" cy="5212605"/>
          </a:xfrm>
          <a:prstGeom prst="rect">
            <a:avLst/>
          </a:prstGeom>
        </p:spPr>
      </p:pic>
      <p:sp>
        <p:nvSpPr>
          <p:cNvPr id="14" name="Text Placeholder 13">
            <a:extLst>
              <a:ext uri="{FF2B5EF4-FFF2-40B4-BE49-F238E27FC236}">
                <a16:creationId xmlns:a16="http://schemas.microsoft.com/office/drawing/2014/main" id="{B474C27A-6406-6D8E-6A56-86A4C337BF7C}"/>
              </a:ext>
            </a:extLst>
          </p:cNvPr>
          <p:cNvSpPr>
            <a:spLocks noGrp="1"/>
          </p:cNvSpPr>
          <p:nvPr>
            <p:ph type="body" sz="quarter" idx="10"/>
          </p:nvPr>
        </p:nvSpPr>
        <p:spPr/>
        <p:txBody>
          <a:bodyPr/>
          <a:lstStyle/>
          <a:p>
            <a:pPr marL="0" indent="0" algn="ctr">
              <a:buNone/>
            </a:pPr>
            <a:r>
              <a:rPr lang="en-GB" sz="20000" dirty="0"/>
              <a:t>No</a:t>
            </a:r>
            <a:r>
              <a:rPr lang="en-GB" sz="11600" baseline="80000" dirty="0"/>
              <a:t>*</a:t>
            </a:r>
            <a:endParaRPr lang="en-GB" sz="20000" baseline="80000" dirty="0"/>
          </a:p>
        </p:txBody>
      </p:sp>
      <p:pic>
        <p:nvPicPr>
          <p:cNvPr id="4" name="Picture 3">
            <a:extLst>
              <a:ext uri="{FF2B5EF4-FFF2-40B4-BE49-F238E27FC236}">
                <a16:creationId xmlns:a16="http://schemas.microsoft.com/office/drawing/2014/main" id="{07305AA2-F039-B7E5-0187-464997D59D61}"/>
              </a:ext>
            </a:extLst>
          </p:cNvPr>
          <p:cNvPicPr>
            <a:picLocks noChangeAspect="1"/>
          </p:cNvPicPr>
          <p:nvPr/>
        </p:nvPicPr>
        <p:blipFill>
          <a:blip r:embed="rId4" cstate="print">
            <a:alphaModFix amt="35000"/>
            <a:extLst>
              <a:ext uri="{28A0092B-C50C-407E-A947-70E740481C1C}">
                <a14:useLocalDpi xmlns:a14="http://schemas.microsoft.com/office/drawing/2010/main" val="0"/>
              </a:ext>
            </a:extLst>
          </a:blip>
          <a:srcRect r="82484"/>
          <a:stretch>
            <a:fillRect/>
          </a:stretch>
        </p:blipFill>
        <p:spPr>
          <a:xfrm>
            <a:off x="263352" y="6309320"/>
            <a:ext cx="287455" cy="358917"/>
          </a:xfrm>
          <a:prstGeom prst="rect">
            <a:avLst/>
          </a:prstGeom>
        </p:spPr>
      </p:pic>
      <p:pic>
        <p:nvPicPr>
          <p:cNvPr id="5" name="Graphic 4">
            <a:extLst>
              <a:ext uri="{FF2B5EF4-FFF2-40B4-BE49-F238E27FC236}">
                <a16:creationId xmlns:a16="http://schemas.microsoft.com/office/drawing/2014/main" id="{C94F8A88-991E-3659-74AF-8832D17D399E}"/>
              </a:ext>
            </a:extLst>
          </p:cNvPr>
          <p:cNvPicPr>
            <a:picLocks noChangeAspect="1"/>
          </p:cNvPicPr>
          <p:nvPr/>
        </p:nvPicPr>
        <p:blipFill>
          <a:blip>
            <a:alphaModFix amt="35000"/>
            <a:extLst>
              <a:ext uri="{96DAC541-7B7A-43D3-8B79-37D633B846F1}">
                <asvg:svgBlip xmlns:asvg="http://schemas.microsoft.com/office/drawing/2016/SVG/main" r:embed="rId5"/>
              </a:ext>
            </a:extLst>
          </a:blip>
          <a:srcRect r="74638"/>
          <a:stretch>
            <a:fillRect/>
          </a:stretch>
        </p:blipFill>
        <p:spPr>
          <a:xfrm>
            <a:off x="674840" y="6333856"/>
            <a:ext cx="287455" cy="334381"/>
          </a:xfrm>
          <a:prstGeom prst="rect">
            <a:avLst/>
          </a:prstGeom>
        </p:spPr>
      </p:pic>
      <p:pic>
        <p:nvPicPr>
          <p:cNvPr id="6" name="Picture 2" descr="Contact us | The Alan Turing Institute">
            <a:extLst>
              <a:ext uri="{FF2B5EF4-FFF2-40B4-BE49-F238E27FC236}">
                <a16:creationId xmlns:a16="http://schemas.microsoft.com/office/drawing/2014/main" id="{D8C1B630-55F5-6519-7D38-FE572ABE1645}"/>
              </a:ext>
            </a:extLst>
          </p:cNvPr>
          <p:cNvPicPr>
            <a:picLocks noChangeAspect="1" noChangeArrowheads="1"/>
          </p:cNvPicPr>
          <p:nvPr/>
        </p:nvPicPr>
        <p:blipFill>
          <a:blip r:embed="rId6" cstate="print">
            <a:alphaModFix amt="35000"/>
            <a:extLst>
              <a:ext uri="{28A0092B-C50C-407E-A947-70E740481C1C}">
                <a14:useLocalDpi xmlns:a14="http://schemas.microsoft.com/office/drawing/2010/main" val="0"/>
              </a:ext>
            </a:extLst>
          </a:blip>
          <a:srcRect/>
          <a:stretch>
            <a:fillRect/>
          </a:stretch>
        </p:blipFill>
        <p:spPr bwMode="auto">
          <a:xfrm>
            <a:off x="1086328" y="6333855"/>
            <a:ext cx="791434" cy="334381"/>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203;g1882fcc12d0_0_0">
            <a:extLst>
              <a:ext uri="{FF2B5EF4-FFF2-40B4-BE49-F238E27FC236}">
                <a16:creationId xmlns:a16="http://schemas.microsoft.com/office/drawing/2014/main" id="{40607F29-B2C5-E9F2-C488-57606DA1EEA2}"/>
              </a:ext>
            </a:extLst>
          </p:cNvPr>
          <p:cNvSpPr txBox="1">
            <a:spLocks/>
          </p:cNvSpPr>
          <p:nvPr/>
        </p:nvSpPr>
        <p:spPr>
          <a:xfrm>
            <a:off x="574743" y="1044973"/>
            <a:ext cx="10945216" cy="600422"/>
          </a:xfrm>
          <a:prstGeom prst="rect">
            <a:avLst/>
          </a:prstGeom>
          <a:noFill/>
          <a:ln>
            <a:noFill/>
          </a:ln>
        </p:spPr>
        <p:txBody>
          <a:bodyPr spcFirstLastPara="1" vert="horz" wrap="square" lIns="91425" tIns="45700" rIns="91425" bIns="45700" rtlCol="0" anchor="t" anchorCtr="0">
            <a:noAutofit/>
          </a:bodyPr>
          <a:lstStyle>
            <a:lvl1pPr algn="l" defTabSz="914400" rtl="0" eaLnBrk="1" latinLnBrk="0" hangingPunct="1">
              <a:spcBef>
                <a:spcPct val="0"/>
              </a:spcBef>
              <a:buNone/>
              <a:defRPr sz="3200" kern="1200" spc="-150">
                <a:solidFill>
                  <a:srgbClr val="2E444E"/>
                </a:solidFill>
                <a:latin typeface="+mj-lt"/>
                <a:ea typeface="+mj-ea"/>
                <a:cs typeface="+mj-cs"/>
              </a:defRPr>
            </a:lvl1pPr>
          </a:lstStyle>
          <a:p>
            <a:r>
              <a:rPr lang="en-GB" dirty="0"/>
              <a:t>Can Vibe Coding Beat Graduate CS Students?</a:t>
            </a:r>
          </a:p>
        </p:txBody>
      </p:sp>
      <p:grpSp>
        <p:nvGrpSpPr>
          <p:cNvPr id="20" name="Group 19">
            <a:extLst>
              <a:ext uri="{FF2B5EF4-FFF2-40B4-BE49-F238E27FC236}">
                <a16:creationId xmlns:a16="http://schemas.microsoft.com/office/drawing/2014/main" id="{C5E91A20-3ED7-34EC-5BF1-39D3E7C0D4B7}"/>
              </a:ext>
            </a:extLst>
          </p:cNvPr>
          <p:cNvGrpSpPr/>
          <p:nvPr/>
        </p:nvGrpSpPr>
        <p:grpSpPr>
          <a:xfrm>
            <a:off x="10200456" y="116632"/>
            <a:ext cx="1728192" cy="2015803"/>
            <a:chOff x="9264352" y="1773389"/>
            <a:chExt cx="1728192" cy="2015803"/>
          </a:xfrm>
        </p:grpSpPr>
        <p:sp>
          <p:nvSpPr>
            <p:cNvPr id="15" name="Rectangle: Rounded Corners 14">
              <a:extLst>
                <a:ext uri="{FF2B5EF4-FFF2-40B4-BE49-F238E27FC236}">
                  <a16:creationId xmlns:a16="http://schemas.microsoft.com/office/drawing/2014/main" id="{B5F4BE4D-B04D-7A0C-FCCF-775C95A9E06D}"/>
                </a:ext>
              </a:extLst>
            </p:cNvPr>
            <p:cNvSpPr/>
            <p:nvPr/>
          </p:nvSpPr>
          <p:spPr>
            <a:xfrm>
              <a:off x="9264352" y="1773389"/>
              <a:ext cx="1728192" cy="2015803"/>
            </a:xfrm>
            <a:prstGeom prst="roundRect">
              <a:avLst/>
            </a:prstGeom>
            <a:noFill/>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8" name="Picture 17">
              <a:extLst>
                <a:ext uri="{FF2B5EF4-FFF2-40B4-BE49-F238E27FC236}">
                  <a16:creationId xmlns:a16="http://schemas.microsoft.com/office/drawing/2014/main" id="{A9518CBD-6C2D-893B-43EB-E4F451062C86}"/>
                </a:ext>
              </a:extLst>
            </p:cNvPr>
            <p:cNvPicPr>
              <a:picLocks noChangeAspect="1"/>
            </p:cNvPicPr>
            <p:nvPr/>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9336284" y="2133429"/>
              <a:ext cx="1584328" cy="1584328"/>
            </a:xfrm>
            <a:prstGeom prst="rect">
              <a:avLst/>
            </a:prstGeom>
          </p:spPr>
        </p:pic>
        <p:sp>
          <p:nvSpPr>
            <p:cNvPr id="19" name="TextBox 18">
              <a:extLst>
                <a:ext uri="{FF2B5EF4-FFF2-40B4-BE49-F238E27FC236}">
                  <a16:creationId xmlns:a16="http://schemas.microsoft.com/office/drawing/2014/main" id="{D77BEC14-9761-920B-5E0A-C389F02BD9E3}"/>
                </a:ext>
              </a:extLst>
            </p:cNvPr>
            <p:cNvSpPr txBox="1"/>
            <p:nvPr/>
          </p:nvSpPr>
          <p:spPr>
            <a:xfrm>
              <a:off x="9631356" y="1773389"/>
              <a:ext cx="994183" cy="400110"/>
            </a:xfrm>
            <a:prstGeom prst="rect">
              <a:avLst/>
            </a:prstGeom>
            <a:noFill/>
          </p:spPr>
          <p:txBody>
            <a:bodyPr wrap="none" rtlCol="0">
              <a:spAutoFit/>
            </a:bodyPr>
            <a:lstStyle/>
            <a:p>
              <a:r>
                <a:rPr lang="en-GB" sz="2000" b="1" dirty="0">
                  <a:solidFill>
                    <a:schemeClr val="bg2"/>
                  </a:solidFill>
                </a:rPr>
                <a:t>Paper:</a:t>
              </a:r>
            </a:p>
          </p:txBody>
        </p:sp>
      </p:grpSp>
      <p:sp>
        <p:nvSpPr>
          <p:cNvPr id="21" name="Google Shape;203;g1882fcc12d0_0_0">
            <a:extLst>
              <a:ext uri="{FF2B5EF4-FFF2-40B4-BE49-F238E27FC236}">
                <a16:creationId xmlns:a16="http://schemas.microsoft.com/office/drawing/2014/main" id="{DE9F7142-001D-E241-4A03-5F474FB44677}"/>
              </a:ext>
            </a:extLst>
          </p:cNvPr>
          <p:cNvSpPr txBox="1">
            <a:spLocks/>
          </p:cNvSpPr>
          <p:nvPr/>
        </p:nvSpPr>
        <p:spPr>
          <a:xfrm>
            <a:off x="3239077" y="5712802"/>
            <a:ext cx="5616624" cy="600422"/>
          </a:xfrm>
          <a:prstGeom prst="rect">
            <a:avLst/>
          </a:prstGeom>
          <a:noFill/>
          <a:ln>
            <a:noFill/>
          </a:ln>
        </p:spPr>
        <p:txBody>
          <a:bodyPr spcFirstLastPara="1" vert="horz" wrap="square" lIns="91425" tIns="45700" rIns="91425" bIns="45700" rtlCol="0" anchor="t" anchorCtr="0">
            <a:noAutofit/>
          </a:bodyPr>
          <a:lstStyle>
            <a:lvl1pPr algn="l" defTabSz="914400" rtl="0" eaLnBrk="1" latinLnBrk="0" hangingPunct="1">
              <a:spcBef>
                <a:spcPct val="0"/>
              </a:spcBef>
              <a:buNone/>
              <a:defRPr sz="3200" kern="1200" spc="-150">
                <a:solidFill>
                  <a:srgbClr val="2E444E"/>
                </a:solidFill>
                <a:latin typeface="+mj-lt"/>
                <a:ea typeface="+mj-ea"/>
                <a:cs typeface="+mj-cs"/>
              </a:defRPr>
            </a:lvl1pPr>
          </a:lstStyle>
          <a:p>
            <a:r>
              <a:rPr lang="en-GB" dirty="0"/>
              <a:t>Thank you for your attention!</a:t>
            </a:r>
          </a:p>
        </p:txBody>
      </p:sp>
      <p:sp>
        <p:nvSpPr>
          <p:cNvPr id="23" name="Text Placeholder 13">
            <a:extLst>
              <a:ext uri="{FF2B5EF4-FFF2-40B4-BE49-F238E27FC236}">
                <a16:creationId xmlns:a16="http://schemas.microsoft.com/office/drawing/2014/main" id="{4B4A5794-5168-0EB9-D802-24B78AFF3808}"/>
              </a:ext>
            </a:extLst>
          </p:cNvPr>
          <p:cNvSpPr txBox="1">
            <a:spLocks/>
          </p:cNvSpPr>
          <p:nvPr/>
        </p:nvSpPr>
        <p:spPr>
          <a:xfrm>
            <a:off x="623393" y="1844824"/>
            <a:ext cx="10847916" cy="4393059"/>
          </a:xfrm>
          <a:prstGeom prst="rect">
            <a:avLst/>
          </a:prstGeom>
        </p:spPr>
        <p:txBody>
          <a:bodyPr vert="horz" lIns="91440" tIns="45720" rIns="91440" bIns="45720" rtlCol="0">
            <a:no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kern="1200">
                <a:solidFill>
                  <a:srgbClr val="2E444E"/>
                </a:solidFill>
                <a:latin typeface="+mn-lt"/>
                <a:ea typeface="+mn-ea"/>
                <a:cs typeface="+mn-cs"/>
              </a:defRPr>
            </a:lvl1pPr>
            <a:lvl2pPr marL="742950" indent="-285750" algn="l" defTabSz="914400" rtl="0" eaLnBrk="1" latinLnBrk="0" hangingPunct="1">
              <a:spcBef>
                <a:spcPts val="0"/>
              </a:spcBef>
              <a:spcAft>
                <a:spcPts val="1200"/>
              </a:spcAft>
              <a:buFont typeface="Arial" panose="020B0604020202020204" pitchFamily="34" charset="0"/>
              <a:buChar char="–"/>
              <a:defRPr sz="1800" kern="1200">
                <a:solidFill>
                  <a:srgbClr val="2E444E"/>
                </a:solidFill>
                <a:latin typeface="+mn-lt"/>
                <a:ea typeface="+mn-ea"/>
                <a:cs typeface="+mn-cs"/>
              </a:defRPr>
            </a:lvl2pPr>
            <a:lvl3pPr marL="1143000" indent="-228600" algn="l" defTabSz="914400" rtl="0" eaLnBrk="1" latinLnBrk="0" hangingPunct="1">
              <a:spcBef>
                <a:spcPts val="0"/>
              </a:spcBef>
              <a:spcAft>
                <a:spcPts val="1200"/>
              </a:spcAft>
              <a:buFont typeface="Arial" panose="020B0604020202020204" pitchFamily="34" charset="0"/>
              <a:buChar char="•"/>
              <a:defRPr sz="1800" kern="1200">
                <a:solidFill>
                  <a:srgbClr val="2E444E"/>
                </a:solidFill>
                <a:latin typeface="+mn-lt"/>
                <a:ea typeface="+mn-ea"/>
                <a:cs typeface="+mn-cs"/>
              </a:defRPr>
            </a:lvl3pPr>
            <a:lvl4pPr marL="1600200" indent="-228600" algn="l" defTabSz="914400" rtl="0" eaLnBrk="1" latinLnBrk="0" hangingPunct="1">
              <a:spcBef>
                <a:spcPts val="0"/>
              </a:spcBef>
              <a:spcAft>
                <a:spcPts val="1200"/>
              </a:spcAft>
              <a:buFont typeface="Arial" panose="020B0604020202020204" pitchFamily="34" charset="0"/>
              <a:buChar char="–"/>
              <a:defRPr sz="1600" kern="1200">
                <a:solidFill>
                  <a:srgbClr val="2E444E"/>
                </a:solidFill>
                <a:latin typeface="+mn-lt"/>
                <a:ea typeface="+mn-ea"/>
                <a:cs typeface="+mn-cs"/>
              </a:defRPr>
            </a:lvl4pPr>
            <a:lvl5pPr marL="2057400" indent="-228600" algn="l" defTabSz="914400" rtl="0" eaLnBrk="1" latinLnBrk="0" hangingPunct="1">
              <a:spcBef>
                <a:spcPts val="0"/>
              </a:spcBef>
              <a:spcAft>
                <a:spcPts val="1200"/>
              </a:spcAft>
              <a:buFont typeface="Arial" panose="020B0604020202020204" pitchFamily="34" charset="0"/>
              <a:buChar char="»"/>
              <a:defRPr sz="1400" kern="1200">
                <a:solidFill>
                  <a:srgbClr val="2E444E"/>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GB" sz="20000" dirty="0"/>
              <a:t>No</a:t>
            </a:r>
            <a:r>
              <a:rPr lang="en-GB" sz="11600" baseline="80000" dirty="0">
                <a:solidFill>
                  <a:schemeClr val="accent2"/>
                </a:solidFill>
              </a:rPr>
              <a:t>*</a:t>
            </a:r>
            <a:endParaRPr lang="en-GB" sz="20000" baseline="80000" dirty="0">
              <a:solidFill>
                <a:schemeClr val="accent2"/>
              </a:solidFill>
            </a:endParaRPr>
          </a:p>
        </p:txBody>
      </p:sp>
      <p:pic>
        <p:nvPicPr>
          <p:cNvPr id="2" name="Picture 4" descr="AAMAS | 2026">
            <a:extLst>
              <a:ext uri="{FF2B5EF4-FFF2-40B4-BE49-F238E27FC236}">
                <a16:creationId xmlns:a16="http://schemas.microsoft.com/office/drawing/2014/main" id="{7E0F82D0-2808-EBE8-6FEB-4B1DA2D94363}"/>
              </a:ext>
            </a:extLst>
          </p:cNvPr>
          <p:cNvPicPr>
            <a:picLocks noChangeAspect="1" noChangeArrowheads="1"/>
          </p:cNvPicPr>
          <p:nvPr/>
        </p:nvPicPr>
        <p:blipFill>
          <a:blip r:embed="rId8" cstate="print">
            <a:alphaModFix amt="35000"/>
            <a:extLst>
              <a:ext uri="{28A0092B-C50C-407E-A947-70E740481C1C}">
                <a14:useLocalDpi xmlns:a14="http://schemas.microsoft.com/office/drawing/2010/main" val="0"/>
              </a:ext>
            </a:extLst>
          </a:blip>
          <a:srcRect/>
          <a:stretch>
            <a:fillRect/>
          </a:stretch>
        </p:blipFill>
        <p:spPr bwMode="auto">
          <a:xfrm>
            <a:off x="10920536" y="6340045"/>
            <a:ext cx="756489" cy="32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145829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21"/>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2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21" grpId="0"/>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0A216-F004-7F43-CB47-47643BCE73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82D53-5E8F-B6A7-5053-61DAE52EF34B}"/>
              </a:ext>
            </a:extLst>
          </p:cNvPr>
          <p:cNvSpPr>
            <a:spLocks noGrp="1"/>
          </p:cNvSpPr>
          <p:nvPr>
            <p:ph type="title"/>
          </p:nvPr>
        </p:nvSpPr>
        <p:spPr/>
        <p:txBody>
          <a:bodyPr/>
          <a:lstStyle/>
          <a:p>
            <a:r>
              <a:rPr lang="en-GB" dirty="0"/>
              <a:t>AI Code Generation</a:t>
            </a:r>
          </a:p>
        </p:txBody>
      </p:sp>
      <p:sp>
        <p:nvSpPr>
          <p:cNvPr id="3" name="Text Placeholder 2">
            <a:extLst>
              <a:ext uri="{FF2B5EF4-FFF2-40B4-BE49-F238E27FC236}">
                <a16:creationId xmlns:a16="http://schemas.microsoft.com/office/drawing/2014/main" id="{ABB0E9D5-F7CA-53A4-E2A8-F97CFE87D2FB}"/>
              </a:ext>
            </a:extLst>
          </p:cNvPr>
          <p:cNvSpPr>
            <a:spLocks noGrp="1"/>
          </p:cNvSpPr>
          <p:nvPr>
            <p:ph type="body" sz="quarter" idx="10"/>
          </p:nvPr>
        </p:nvSpPr>
        <p:spPr>
          <a:xfrm>
            <a:off x="335361" y="2924944"/>
            <a:ext cx="5328591" cy="1008112"/>
          </a:xfrm>
        </p:spPr>
        <p:txBody>
          <a:bodyPr/>
          <a:lstStyle/>
          <a:p>
            <a:pPr marL="0" indent="0" algn="ctr">
              <a:buNone/>
            </a:pPr>
            <a:r>
              <a:rPr lang="en-GB" sz="2800" dirty="0"/>
              <a:t>75% of all new code at Google is now AI-generated </a:t>
            </a:r>
            <a:r>
              <a:rPr lang="en-GB" sz="2800" baseline="30000" dirty="0"/>
              <a:t>1</a:t>
            </a:r>
          </a:p>
        </p:txBody>
      </p:sp>
      <p:sp>
        <p:nvSpPr>
          <p:cNvPr id="9" name="TextBox 8">
            <a:extLst>
              <a:ext uri="{FF2B5EF4-FFF2-40B4-BE49-F238E27FC236}">
                <a16:creationId xmlns:a16="http://schemas.microsoft.com/office/drawing/2014/main" id="{5062B01C-83C3-8021-3369-F55500B721D3}"/>
              </a:ext>
            </a:extLst>
          </p:cNvPr>
          <p:cNvSpPr txBox="1"/>
          <p:nvPr/>
        </p:nvSpPr>
        <p:spPr>
          <a:xfrm>
            <a:off x="3500820" y="6654673"/>
            <a:ext cx="5093061" cy="200055"/>
          </a:xfrm>
          <a:prstGeom prst="rect">
            <a:avLst/>
          </a:prstGeom>
          <a:noFill/>
        </p:spPr>
        <p:txBody>
          <a:bodyPr wrap="none" rtlCol="0">
            <a:spAutoFit/>
          </a:bodyPr>
          <a:lstStyle/>
          <a:p>
            <a:r>
              <a:rPr lang="en-GB" sz="700" dirty="0"/>
              <a:t>1. https://blog.google/innovation-and-ai/infrastructure-and-cloud/google-cloud/cloud-next-2026-sundar-pichai/</a:t>
            </a:r>
          </a:p>
        </p:txBody>
      </p:sp>
      <p:pic>
        <p:nvPicPr>
          <p:cNvPr id="13" name="Picture 12">
            <a:extLst>
              <a:ext uri="{FF2B5EF4-FFF2-40B4-BE49-F238E27FC236}">
                <a16:creationId xmlns:a16="http://schemas.microsoft.com/office/drawing/2014/main" id="{A08162B0-4E32-42A5-1899-65EBE2E28F77}"/>
              </a:ext>
            </a:extLst>
          </p:cNvPr>
          <p:cNvPicPr>
            <a:picLocks noChangeAspect="1"/>
          </p:cNvPicPr>
          <p:nvPr/>
        </p:nvPicPr>
        <p:blipFill>
          <a:blip r:embed="rId3" cstate="print">
            <a:extLst>
              <a:ext uri="{28A0092B-C50C-407E-A947-70E740481C1C}">
                <a14:useLocalDpi xmlns:a14="http://schemas.microsoft.com/office/drawing/2010/main" val="0"/>
              </a:ext>
            </a:extLst>
          </a:blip>
          <a:srcRect l="9817" t="4851" r="9817" b="6950"/>
          <a:stretch>
            <a:fillRect/>
          </a:stretch>
        </p:blipFill>
        <p:spPr>
          <a:xfrm>
            <a:off x="6384032" y="1738930"/>
            <a:ext cx="5472607" cy="3380140"/>
          </a:xfrm>
          <a:prstGeom prst="rect">
            <a:avLst/>
          </a:prstGeom>
        </p:spPr>
      </p:pic>
      <p:grpSp>
        <p:nvGrpSpPr>
          <p:cNvPr id="15" name="Group 14">
            <a:extLst>
              <a:ext uri="{FF2B5EF4-FFF2-40B4-BE49-F238E27FC236}">
                <a16:creationId xmlns:a16="http://schemas.microsoft.com/office/drawing/2014/main" id="{40D84EF5-A05B-D120-EFB6-3FD18233E751}"/>
              </a:ext>
            </a:extLst>
          </p:cNvPr>
          <p:cNvGrpSpPr/>
          <p:nvPr/>
        </p:nvGrpSpPr>
        <p:grpSpPr>
          <a:xfrm>
            <a:off x="263352" y="6309320"/>
            <a:ext cx="11413673" cy="358917"/>
            <a:chOff x="263352" y="6309320"/>
            <a:chExt cx="11413673" cy="358917"/>
          </a:xfrm>
        </p:grpSpPr>
        <p:pic>
          <p:nvPicPr>
            <p:cNvPr id="10" name="Picture 9">
              <a:extLst>
                <a:ext uri="{FF2B5EF4-FFF2-40B4-BE49-F238E27FC236}">
                  <a16:creationId xmlns:a16="http://schemas.microsoft.com/office/drawing/2014/main" id="{CE57DFA1-8EA7-15DD-2FCA-F001FAC35B23}"/>
                </a:ext>
              </a:extLst>
            </p:cNvPr>
            <p:cNvPicPr>
              <a:picLocks noChangeAspect="1"/>
            </p:cNvPicPr>
            <p:nvPr/>
          </p:nvPicPr>
          <p:blipFill>
            <a:blip r:embed="rId4" cstate="print">
              <a:alphaModFix amt="35000"/>
              <a:extLst>
                <a:ext uri="{28A0092B-C50C-407E-A947-70E740481C1C}">
                  <a14:useLocalDpi xmlns:a14="http://schemas.microsoft.com/office/drawing/2010/main" val="0"/>
                </a:ext>
              </a:extLst>
            </a:blip>
            <a:srcRect r="82484"/>
            <a:stretch>
              <a:fillRect/>
            </a:stretch>
          </p:blipFill>
          <p:spPr>
            <a:xfrm>
              <a:off x="263352" y="6309320"/>
              <a:ext cx="287455" cy="358917"/>
            </a:xfrm>
            <a:prstGeom prst="rect">
              <a:avLst/>
            </a:prstGeom>
          </p:spPr>
        </p:pic>
        <p:pic>
          <p:nvPicPr>
            <p:cNvPr id="11" name="Graphic 10">
              <a:extLst>
                <a:ext uri="{FF2B5EF4-FFF2-40B4-BE49-F238E27FC236}">
                  <a16:creationId xmlns:a16="http://schemas.microsoft.com/office/drawing/2014/main" id="{892FD447-EF0A-2634-E9C2-782532A67758}"/>
                </a:ext>
              </a:extLst>
            </p:cNvPr>
            <p:cNvPicPr>
              <a:picLocks noChangeAspect="1"/>
            </p:cNvPicPr>
            <p:nvPr/>
          </p:nvPicPr>
          <p:blipFill>
            <a:blip>
              <a:alphaModFix amt="35000"/>
              <a:extLst>
                <a:ext uri="{96DAC541-7B7A-43D3-8B79-37D633B846F1}">
                  <asvg:svgBlip xmlns:asvg="http://schemas.microsoft.com/office/drawing/2016/SVG/main" r:embed="rId5"/>
                </a:ext>
              </a:extLst>
            </a:blip>
            <a:srcRect r="74638"/>
            <a:stretch>
              <a:fillRect/>
            </a:stretch>
          </p:blipFill>
          <p:spPr>
            <a:xfrm>
              <a:off x="674840" y="6333856"/>
              <a:ext cx="287455" cy="334381"/>
            </a:xfrm>
            <a:prstGeom prst="rect">
              <a:avLst/>
            </a:prstGeom>
          </p:spPr>
        </p:pic>
        <p:pic>
          <p:nvPicPr>
            <p:cNvPr id="12" name="Picture 2" descr="Contact us | The Alan Turing Institute">
              <a:extLst>
                <a:ext uri="{FF2B5EF4-FFF2-40B4-BE49-F238E27FC236}">
                  <a16:creationId xmlns:a16="http://schemas.microsoft.com/office/drawing/2014/main" id="{3FC2991B-BD4E-013C-FAEF-A310D2AD905A}"/>
                </a:ext>
              </a:extLst>
            </p:cNvPr>
            <p:cNvPicPr>
              <a:picLocks noChangeAspect="1" noChangeArrowheads="1"/>
            </p:cNvPicPr>
            <p:nvPr/>
          </p:nvPicPr>
          <p:blipFill>
            <a:blip r:embed="rId6" cstate="print">
              <a:alphaModFix amt="35000"/>
              <a:extLst>
                <a:ext uri="{28A0092B-C50C-407E-A947-70E740481C1C}">
                  <a14:useLocalDpi xmlns:a14="http://schemas.microsoft.com/office/drawing/2010/main" val="0"/>
                </a:ext>
              </a:extLst>
            </a:blip>
            <a:srcRect/>
            <a:stretch>
              <a:fillRect/>
            </a:stretch>
          </p:blipFill>
          <p:spPr bwMode="auto">
            <a:xfrm>
              <a:off x="1086328" y="6333855"/>
              <a:ext cx="791434" cy="33438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AAMAS | 2026">
              <a:extLst>
                <a:ext uri="{FF2B5EF4-FFF2-40B4-BE49-F238E27FC236}">
                  <a16:creationId xmlns:a16="http://schemas.microsoft.com/office/drawing/2014/main" id="{2A7B575A-B8FB-FE75-E73B-F69D49B4E5B4}"/>
                </a:ext>
              </a:extLst>
            </p:cNvPr>
            <p:cNvPicPr>
              <a:picLocks noChangeAspect="1" noChangeArrowheads="1"/>
            </p:cNvPicPr>
            <p:nvPr/>
          </p:nvPicPr>
          <p:blipFill>
            <a:blip r:embed="rId7" cstate="print">
              <a:alphaModFix amt="35000"/>
              <a:extLst>
                <a:ext uri="{28A0092B-C50C-407E-A947-70E740481C1C}">
                  <a14:useLocalDpi xmlns:a14="http://schemas.microsoft.com/office/drawing/2010/main" val="0"/>
                </a:ext>
              </a:extLst>
            </a:blip>
            <a:srcRect/>
            <a:stretch>
              <a:fillRect/>
            </a:stretch>
          </p:blipFill>
          <p:spPr bwMode="auto">
            <a:xfrm>
              <a:off x="10920536" y="6340045"/>
              <a:ext cx="756489" cy="3220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6068525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5E3CF-5673-A3A4-A028-2577F77A30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BC3D2A-27B2-70B5-0F77-91775E693BDC}"/>
              </a:ext>
            </a:extLst>
          </p:cNvPr>
          <p:cNvSpPr>
            <a:spLocks noGrp="1"/>
          </p:cNvSpPr>
          <p:nvPr>
            <p:ph type="title"/>
          </p:nvPr>
        </p:nvSpPr>
        <p:spPr/>
        <p:txBody>
          <a:bodyPr/>
          <a:lstStyle/>
          <a:p>
            <a:r>
              <a:rPr lang="en-GB" dirty="0"/>
              <a:t>The Vibe Coding Promise</a:t>
            </a:r>
          </a:p>
        </p:txBody>
      </p:sp>
      <p:sp>
        <p:nvSpPr>
          <p:cNvPr id="3" name="Text Placeholder 2">
            <a:extLst>
              <a:ext uri="{FF2B5EF4-FFF2-40B4-BE49-F238E27FC236}">
                <a16:creationId xmlns:a16="http://schemas.microsoft.com/office/drawing/2014/main" id="{90081FFE-C025-FAF9-5657-DAB22FF9C57D}"/>
              </a:ext>
            </a:extLst>
          </p:cNvPr>
          <p:cNvSpPr>
            <a:spLocks noGrp="1"/>
          </p:cNvSpPr>
          <p:nvPr>
            <p:ph type="body" sz="quarter" idx="10"/>
          </p:nvPr>
        </p:nvSpPr>
        <p:spPr>
          <a:xfrm>
            <a:off x="623393" y="1844825"/>
            <a:ext cx="5472607" cy="4393059"/>
          </a:xfrm>
        </p:spPr>
        <p:txBody>
          <a:bodyPr/>
          <a:lstStyle/>
          <a:p>
            <a:r>
              <a:rPr lang="en-GB" dirty="0"/>
              <a:t>Vibe Coding: Natural language → Code</a:t>
            </a:r>
          </a:p>
          <a:p>
            <a:endParaRPr lang="en-GB" dirty="0"/>
          </a:p>
        </p:txBody>
      </p:sp>
      <p:pic>
        <p:nvPicPr>
          <p:cNvPr id="16" name="ammas workshop x3 speed">
            <a:hlinkClick r:id="" action="ppaction://media"/>
            <a:extLst>
              <a:ext uri="{FF2B5EF4-FFF2-40B4-BE49-F238E27FC236}">
                <a16:creationId xmlns:a16="http://schemas.microsoft.com/office/drawing/2014/main" id="{880031BE-02FF-EC9A-3295-72D9D77DBD7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744556" y="3717032"/>
            <a:ext cx="4606876" cy="2591412"/>
          </a:xfrm>
          <a:prstGeom prst="rect">
            <a:avLst/>
          </a:prstGeom>
        </p:spPr>
      </p:pic>
      <p:pic>
        <p:nvPicPr>
          <p:cNvPr id="17" name="Picture 16">
            <a:extLst>
              <a:ext uri="{FF2B5EF4-FFF2-40B4-BE49-F238E27FC236}">
                <a16:creationId xmlns:a16="http://schemas.microsoft.com/office/drawing/2014/main" id="{AC08FD07-8D62-7CF8-43AC-9139973EB25E}"/>
              </a:ext>
            </a:extLst>
          </p:cNvPr>
          <p:cNvPicPr>
            <a:picLocks noChangeAspect="1"/>
          </p:cNvPicPr>
          <p:nvPr/>
        </p:nvPicPr>
        <p:blipFill>
          <a:blip r:embed="rId6"/>
          <a:stretch>
            <a:fillRect/>
          </a:stretch>
        </p:blipFill>
        <p:spPr>
          <a:xfrm>
            <a:off x="-1011954" y="0"/>
            <a:ext cx="14215908" cy="6858000"/>
          </a:xfrm>
          <a:prstGeom prst="rect">
            <a:avLst/>
          </a:prstGeom>
        </p:spPr>
      </p:pic>
    </p:spTree>
    <p:extLst>
      <p:ext uri="{BB962C8B-B14F-4D97-AF65-F5344CB8AC3E}">
        <p14:creationId xmlns:p14="http://schemas.microsoft.com/office/powerpoint/2010/main" val="1079384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mediacall" presetSubtype="0" fill="hold" nodeType="withEffect">
                                  <p:stCondLst>
                                    <p:cond delay="0"/>
                                  </p:stCondLst>
                                  <p:childTnLst>
                                    <p:cmd type="call" cmd="playFrom(0.0)">
                                      <p:cBhvr>
                                        <p:cTn id="8" dur="8010" fill="hold"/>
                                        <p:tgtEl>
                                          <p:spTgt spid="16"/>
                                        </p:tgtEl>
                                      </p:cBhvr>
                                    </p:cmd>
                                  </p:childTnLst>
                                </p:cTn>
                              </p:par>
                            </p:childTnLst>
                          </p:cTn>
                        </p:par>
                        <p:par>
                          <p:cTn id="9" fill="hold">
                            <p:stCondLst>
                              <p:cond delay="8010"/>
                            </p:stCondLst>
                            <p:childTnLst>
                              <p:par>
                                <p:cTn id="10" presetID="1" presetClass="entr" presetSubtype="0" fill="hold" nodeType="afterEffect">
                                  <p:stCondLst>
                                    <p:cond delay="500"/>
                                  </p:stCondLst>
                                  <p:childTnLst>
                                    <p:set>
                                      <p:cBhvr>
                                        <p:cTn id="11"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mute="1">
                <p:cTn id="12" fill="hold" display="0">
                  <p:stCondLst>
                    <p:cond delay="indefinite"/>
                  </p:stCondLst>
                </p:cTn>
                <p:tgtEl>
                  <p:spTgt spid="16"/>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39870-54E0-444A-E15D-ED035E4DC0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5086DC-6C49-AC36-1721-26092FC0FA5C}"/>
              </a:ext>
            </a:extLst>
          </p:cNvPr>
          <p:cNvSpPr>
            <a:spLocks noGrp="1"/>
          </p:cNvSpPr>
          <p:nvPr>
            <p:ph type="title"/>
          </p:nvPr>
        </p:nvSpPr>
        <p:spPr/>
        <p:txBody>
          <a:bodyPr/>
          <a:lstStyle/>
          <a:p>
            <a:r>
              <a:rPr lang="en-GB" dirty="0"/>
              <a:t>The Vibe Coding Promise</a:t>
            </a:r>
          </a:p>
        </p:txBody>
      </p:sp>
      <p:sp>
        <p:nvSpPr>
          <p:cNvPr id="3" name="Text Placeholder 2">
            <a:extLst>
              <a:ext uri="{FF2B5EF4-FFF2-40B4-BE49-F238E27FC236}">
                <a16:creationId xmlns:a16="http://schemas.microsoft.com/office/drawing/2014/main" id="{576B567B-CECD-15A4-C3CE-74D0F9A8AFAD}"/>
              </a:ext>
            </a:extLst>
          </p:cNvPr>
          <p:cNvSpPr>
            <a:spLocks noGrp="1"/>
          </p:cNvSpPr>
          <p:nvPr>
            <p:ph type="body" sz="quarter" idx="10"/>
          </p:nvPr>
        </p:nvSpPr>
        <p:spPr>
          <a:xfrm>
            <a:off x="623393" y="1844825"/>
            <a:ext cx="5472607" cy="4393059"/>
          </a:xfrm>
        </p:spPr>
        <p:txBody>
          <a:bodyPr/>
          <a:lstStyle/>
          <a:p>
            <a:r>
              <a:rPr lang="en-GB" dirty="0"/>
              <a:t>Vibe Coding: Natural language → Code</a:t>
            </a:r>
          </a:p>
          <a:p>
            <a:endParaRPr lang="en-GB" dirty="0"/>
          </a:p>
          <a:p>
            <a:r>
              <a:rPr lang="en-GB" dirty="0"/>
              <a:t>All people, </a:t>
            </a:r>
            <a:r>
              <a:rPr lang="en-GB" b="1" dirty="0"/>
              <a:t>irrespective of technical backgrounds </a:t>
            </a:r>
            <a:r>
              <a:rPr lang="en-GB" dirty="0"/>
              <a:t>can turn their ideas into code in seconds!</a:t>
            </a:r>
          </a:p>
          <a:p>
            <a:endParaRPr lang="en-GB" dirty="0"/>
          </a:p>
          <a:p>
            <a:endParaRPr lang="en-GB" dirty="0"/>
          </a:p>
        </p:txBody>
      </p:sp>
      <p:sp>
        <p:nvSpPr>
          <p:cNvPr id="4" name="Rectangle: Rounded Corners 3">
            <a:extLst>
              <a:ext uri="{FF2B5EF4-FFF2-40B4-BE49-F238E27FC236}">
                <a16:creationId xmlns:a16="http://schemas.microsoft.com/office/drawing/2014/main" id="{56D2F7EC-E111-0931-C14C-7C0FE646AEAD}"/>
              </a:ext>
            </a:extLst>
          </p:cNvPr>
          <p:cNvSpPr/>
          <p:nvPr/>
        </p:nvSpPr>
        <p:spPr>
          <a:xfrm>
            <a:off x="767408" y="2636912"/>
            <a:ext cx="5400600" cy="1224136"/>
          </a:xfrm>
          <a:prstGeom prst="roundRect">
            <a:avLst/>
          </a:prstGeom>
          <a:noFill/>
          <a:ln w="76200">
            <a:solidFill>
              <a:schemeClr val="bg2"/>
            </a:solidFill>
          </a:ln>
        </p:spPr>
        <p:style>
          <a:lnRef idx="2">
            <a:schemeClr val="accent1"/>
          </a:lnRef>
          <a:fillRef idx="1">
            <a:schemeClr val="lt1"/>
          </a:fillRef>
          <a:effectRef idx="0">
            <a:schemeClr val="accent1"/>
          </a:effectRef>
          <a:fontRef idx="minor">
            <a:schemeClr val="dk1"/>
          </a:fontRef>
        </p:style>
        <p:txBody>
          <a:bodyPr rtlCol="0" anchor="ctr"/>
          <a:lstStyle/>
          <a:p>
            <a:endParaRPr lang="en-GB" dirty="0"/>
          </a:p>
        </p:txBody>
      </p:sp>
      <p:grpSp>
        <p:nvGrpSpPr>
          <p:cNvPr id="9" name="Group 8">
            <a:extLst>
              <a:ext uri="{FF2B5EF4-FFF2-40B4-BE49-F238E27FC236}">
                <a16:creationId xmlns:a16="http://schemas.microsoft.com/office/drawing/2014/main" id="{E62356A2-CB44-1CC7-FEC4-CD39ED256B2B}"/>
              </a:ext>
            </a:extLst>
          </p:cNvPr>
          <p:cNvGrpSpPr/>
          <p:nvPr/>
        </p:nvGrpSpPr>
        <p:grpSpPr>
          <a:xfrm>
            <a:off x="-24680" y="4195522"/>
            <a:ext cx="4370081" cy="2689862"/>
            <a:chOff x="-24680" y="4168138"/>
            <a:chExt cx="4370081" cy="2689862"/>
          </a:xfrm>
        </p:grpSpPr>
        <p:sp>
          <p:nvSpPr>
            <p:cNvPr id="6" name="Rectangle 5">
              <a:extLst>
                <a:ext uri="{FF2B5EF4-FFF2-40B4-BE49-F238E27FC236}">
                  <a16:creationId xmlns:a16="http://schemas.microsoft.com/office/drawing/2014/main" id="{9925D30E-9ED0-5611-B2DE-E43ADB36CE42}"/>
                </a:ext>
              </a:extLst>
            </p:cNvPr>
            <p:cNvSpPr/>
            <p:nvPr/>
          </p:nvSpPr>
          <p:spPr>
            <a:xfrm>
              <a:off x="-24680" y="4168138"/>
              <a:ext cx="4242005" cy="2689862"/>
            </a:xfrm>
            <a:prstGeom prst="rect">
              <a:avLst/>
            </a:prstGeom>
            <a:solidFill>
              <a:srgbClr val="000000"/>
            </a:solidFill>
            <a:ln>
              <a:solidFill>
                <a:srgbClr val="292929"/>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40A5F0B3-E64A-F016-B9E9-33D0818996FE}"/>
                </a:ext>
              </a:extLst>
            </p:cNvPr>
            <p:cNvPicPr>
              <a:picLocks noChangeAspect="1"/>
            </p:cNvPicPr>
            <p:nvPr/>
          </p:nvPicPr>
          <p:blipFill>
            <a:blip r:embed="rId5"/>
            <a:stretch>
              <a:fillRect/>
            </a:stretch>
          </p:blipFill>
          <p:spPr>
            <a:xfrm>
              <a:off x="0" y="4168138"/>
              <a:ext cx="4345401" cy="2285771"/>
            </a:xfrm>
            <a:prstGeom prst="rect">
              <a:avLst/>
            </a:prstGeom>
          </p:spPr>
        </p:pic>
      </p:grpSp>
      <p:pic>
        <p:nvPicPr>
          <p:cNvPr id="8" name="Picture 7">
            <a:extLst>
              <a:ext uri="{FF2B5EF4-FFF2-40B4-BE49-F238E27FC236}">
                <a16:creationId xmlns:a16="http://schemas.microsoft.com/office/drawing/2014/main" id="{B8AAE525-FAD7-927F-31BB-EE095AA04E71}"/>
              </a:ext>
            </a:extLst>
          </p:cNvPr>
          <p:cNvPicPr>
            <a:picLocks noChangeAspect="1"/>
          </p:cNvPicPr>
          <p:nvPr/>
        </p:nvPicPr>
        <p:blipFill>
          <a:blip r:embed="rId6"/>
          <a:stretch>
            <a:fillRect/>
          </a:stretch>
        </p:blipFill>
        <p:spPr>
          <a:xfrm>
            <a:off x="4217325" y="4195522"/>
            <a:ext cx="4110700" cy="2662478"/>
          </a:xfrm>
          <a:prstGeom prst="rect">
            <a:avLst/>
          </a:prstGeom>
        </p:spPr>
      </p:pic>
      <p:pic>
        <p:nvPicPr>
          <p:cNvPr id="5" name="not know how to code">
            <a:hlinkClick r:id="" action="ppaction://media"/>
            <a:extLst>
              <a:ext uri="{FF2B5EF4-FFF2-40B4-BE49-F238E27FC236}">
                <a16:creationId xmlns:a16="http://schemas.microsoft.com/office/drawing/2014/main" id="{0DA58402-7F52-817F-843A-5A0B2E66FCB6}"/>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8328025" y="0"/>
            <a:ext cx="3863975" cy="6858000"/>
          </a:xfrm>
          <a:prstGeom prst="rect">
            <a:avLst/>
          </a:prstGeom>
        </p:spPr>
      </p:pic>
    </p:spTree>
    <p:extLst>
      <p:ext uri="{BB962C8B-B14F-4D97-AF65-F5344CB8AC3E}">
        <p14:creationId xmlns:p14="http://schemas.microsoft.com/office/powerpoint/2010/main" val="1481151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500"/>
                                  </p:stCondLst>
                                  <p:childTnLst>
                                    <p:set>
                                      <p:cBhvr>
                                        <p:cTn id="9" dur="1" fill="hold">
                                          <p:stCondLst>
                                            <p:cond delay="0"/>
                                          </p:stCondLst>
                                        </p:cTn>
                                        <p:tgtEl>
                                          <p:spTgt spid="8"/>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nodeType="afterEffect">
                                  <p:stCondLst>
                                    <p:cond delay="50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mediacall" presetSubtype="0" fill="hold" nodeType="withEffect">
                                  <p:stCondLst>
                                    <p:cond delay="500"/>
                                  </p:stCondLst>
                                  <p:childTnLst>
                                    <p:cmd type="call" cmd="playFrom(0.0)">
                                      <p:cBhvr>
                                        <p:cTn id="14" dur="447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repeatCount="indefinite" fill="hold" display="0">
                  <p:stCondLst>
                    <p:cond delay="indefinite"/>
                  </p:stCondLst>
                </p:cTn>
                <p:tgtEl>
                  <p:spTgt spid="5"/>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40339-CF55-13DA-15DB-D0564FB046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1DC6E5-FB85-00F4-8C3F-A04A0A126794}"/>
              </a:ext>
            </a:extLst>
          </p:cNvPr>
          <p:cNvSpPr>
            <a:spLocks noGrp="1"/>
          </p:cNvSpPr>
          <p:nvPr>
            <p:ph type="title"/>
          </p:nvPr>
        </p:nvSpPr>
        <p:spPr/>
        <p:txBody>
          <a:bodyPr/>
          <a:lstStyle/>
          <a:p>
            <a:r>
              <a:rPr lang="en-GB" dirty="0"/>
              <a:t>Putting Vibe Coding to the Test</a:t>
            </a:r>
          </a:p>
        </p:txBody>
      </p:sp>
      <p:sp>
        <p:nvSpPr>
          <p:cNvPr id="3" name="Text Placeholder 2">
            <a:extLst>
              <a:ext uri="{FF2B5EF4-FFF2-40B4-BE49-F238E27FC236}">
                <a16:creationId xmlns:a16="http://schemas.microsoft.com/office/drawing/2014/main" id="{1F9CBBC9-2B36-4375-2EAF-E59476ACC16D}"/>
              </a:ext>
            </a:extLst>
          </p:cNvPr>
          <p:cNvSpPr>
            <a:spLocks noGrp="1"/>
          </p:cNvSpPr>
          <p:nvPr>
            <p:ph type="body" sz="quarter" idx="10"/>
          </p:nvPr>
        </p:nvSpPr>
        <p:spPr>
          <a:xfrm>
            <a:off x="623393" y="1844825"/>
            <a:ext cx="5472607" cy="4968551"/>
          </a:xfrm>
        </p:spPr>
        <p:txBody>
          <a:bodyPr/>
          <a:lstStyle/>
          <a:p>
            <a:r>
              <a:rPr lang="en-GB" dirty="0"/>
              <a:t>Traditional benchmarks focus on problems with clearly defined correct or incorrect solutions, typically verified through unit tests.</a:t>
            </a:r>
          </a:p>
          <a:p>
            <a:endParaRPr lang="en-GB" dirty="0"/>
          </a:p>
          <a:p>
            <a:endParaRPr lang="en-GB" dirty="0"/>
          </a:p>
          <a:p>
            <a:endParaRPr lang="en-GB" dirty="0"/>
          </a:p>
          <a:p>
            <a:r>
              <a:rPr lang="en-GB" dirty="0"/>
              <a:t>Does benchmark success translate to the ability to compete in problems requiring multi-agent </a:t>
            </a:r>
            <a:r>
              <a:rPr lang="en-GB" b="1" dirty="0"/>
              <a:t>strategic interaction</a:t>
            </a:r>
            <a:r>
              <a:rPr lang="en-GB" dirty="0"/>
              <a:t>, </a:t>
            </a:r>
            <a:r>
              <a:rPr lang="en-GB" b="1" dirty="0"/>
              <a:t>planning</a:t>
            </a:r>
            <a:r>
              <a:rPr lang="en-GB" dirty="0"/>
              <a:t>, </a:t>
            </a:r>
            <a:r>
              <a:rPr lang="en-GB" b="1" dirty="0"/>
              <a:t>optimization</a:t>
            </a:r>
            <a:r>
              <a:rPr lang="en-GB" dirty="0"/>
              <a:t>, and </a:t>
            </a:r>
            <a:r>
              <a:rPr lang="en-GB" b="1" dirty="0"/>
              <a:t>advanced algorithm design?</a:t>
            </a:r>
            <a:endParaRPr lang="en-GB" dirty="0"/>
          </a:p>
        </p:txBody>
      </p:sp>
      <p:pic>
        <p:nvPicPr>
          <p:cNvPr id="5" name="Picture 4">
            <a:extLst>
              <a:ext uri="{FF2B5EF4-FFF2-40B4-BE49-F238E27FC236}">
                <a16:creationId xmlns:a16="http://schemas.microsoft.com/office/drawing/2014/main" id="{E23BA9EC-C8E2-6531-EDEF-BB12F43C8FD8}"/>
              </a:ext>
            </a:extLst>
          </p:cNvPr>
          <p:cNvPicPr>
            <a:picLocks noChangeAspect="1"/>
          </p:cNvPicPr>
          <p:nvPr/>
        </p:nvPicPr>
        <p:blipFill>
          <a:blip r:embed="rId3">
            <a:extLst>
              <a:ext uri="{28A0092B-C50C-407E-A947-70E740481C1C}">
                <a14:useLocalDpi xmlns:a14="http://schemas.microsoft.com/office/drawing/2010/main" val="0"/>
              </a:ext>
            </a:extLst>
          </a:blip>
          <a:srcRect l="12196" r="59145" b="50427"/>
          <a:stretch>
            <a:fillRect/>
          </a:stretch>
        </p:blipFill>
        <p:spPr>
          <a:xfrm>
            <a:off x="6384033" y="1628800"/>
            <a:ext cx="2664296" cy="2592288"/>
          </a:xfrm>
          <a:prstGeom prst="rect">
            <a:avLst/>
          </a:prstGeom>
        </p:spPr>
      </p:pic>
      <p:sp>
        <p:nvSpPr>
          <p:cNvPr id="6" name="Rectangle: Rounded Corners 5">
            <a:extLst>
              <a:ext uri="{FF2B5EF4-FFF2-40B4-BE49-F238E27FC236}">
                <a16:creationId xmlns:a16="http://schemas.microsoft.com/office/drawing/2014/main" id="{072FD7F0-D23F-3285-8061-95F4507AF528}"/>
              </a:ext>
            </a:extLst>
          </p:cNvPr>
          <p:cNvSpPr/>
          <p:nvPr/>
        </p:nvSpPr>
        <p:spPr>
          <a:xfrm>
            <a:off x="767408" y="4365104"/>
            <a:ext cx="5400600" cy="2088232"/>
          </a:xfrm>
          <a:prstGeom prst="roundRect">
            <a:avLst/>
          </a:prstGeom>
          <a:noFill/>
          <a:ln w="76200">
            <a:solidFill>
              <a:schemeClr val="bg2"/>
            </a:solidFill>
          </a:ln>
        </p:spPr>
        <p:style>
          <a:lnRef idx="2">
            <a:schemeClr val="accent1"/>
          </a:lnRef>
          <a:fillRef idx="1">
            <a:schemeClr val="lt1"/>
          </a:fillRef>
          <a:effectRef idx="0">
            <a:schemeClr val="accent1"/>
          </a:effectRef>
          <a:fontRef idx="minor">
            <a:schemeClr val="dk1"/>
          </a:fontRef>
        </p:style>
        <p:txBody>
          <a:bodyPr rtlCol="0" anchor="ctr"/>
          <a:lstStyle/>
          <a:p>
            <a:endParaRPr lang="en-GB" dirty="0"/>
          </a:p>
        </p:txBody>
      </p:sp>
      <p:sp>
        <p:nvSpPr>
          <p:cNvPr id="4" name="TextBox 3">
            <a:extLst>
              <a:ext uri="{FF2B5EF4-FFF2-40B4-BE49-F238E27FC236}">
                <a16:creationId xmlns:a16="http://schemas.microsoft.com/office/drawing/2014/main" id="{D93F8FC9-9CA6-C598-5EEE-920E375EF908}"/>
              </a:ext>
            </a:extLst>
          </p:cNvPr>
          <p:cNvSpPr txBox="1"/>
          <p:nvPr/>
        </p:nvSpPr>
        <p:spPr>
          <a:xfrm>
            <a:off x="6816080" y="4735840"/>
            <a:ext cx="5634876" cy="2092881"/>
          </a:xfrm>
          <a:prstGeom prst="rect">
            <a:avLst/>
          </a:prstGeom>
          <a:noFill/>
        </p:spPr>
        <p:txBody>
          <a:bodyPr wrap="square" rtlCol="0">
            <a:spAutoFit/>
          </a:bodyPr>
          <a:lstStyle/>
          <a:p>
            <a:r>
              <a:rPr lang="en-GB" sz="2000" b="1" dirty="0">
                <a:solidFill>
                  <a:srgbClr val="495961"/>
                </a:solidFill>
              </a:rPr>
              <a:t>① Benchmark</a:t>
            </a:r>
          </a:p>
          <a:p>
            <a:pPr marL="742950" lvl="1" indent="-285750">
              <a:buFont typeface="Arial" panose="020B0604020202020204" pitchFamily="34" charset="0"/>
              <a:buChar char="•"/>
            </a:pPr>
            <a:r>
              <a:rPr lang="en-GB" dirty="0">
                <a:solidFill>
                  <a:srgbClr val="495961"/>
                </a:solidFill>
              </a:rPr>
              <a:t>MAS, auctions, constraint optimization</a:t>
            </a:r>
          </a:p>
          <a:p>
            <a:r>
              <a:rPr lang="en-GB" dirty="0">
                <a:solidFill>
                  <a:srgbClr val="495961"/>
                </a:solidFill>
              </a:rPr>
              <a:t>     </a:t>
            </a:r>
            <a:r>
              <a:rPr lang="en-GB" dirty="0"/>
              <a:t>💡 </a:t>
            </a:r>
            <a:r>
              <a:rPr lang="en-GB" dirty="0">
                <a:solidFill>
                  <a:srgbClr val="495961"/>
                </a:solidFill>
              </a:rPr>
              <a:t>Logistics optimization</a:t>
            </a:r>
          </a:p>
          <a:p>
            <a:r>
              <a:rPr lang="en-GB" sz="2000" b="1" dirty="0">
                <a:solidFill>
                  <a:srgbClr val="495961"/>
                </a:solidFill>
              </a:rPr>
              <a:t>② Evaluation</a:t>
            </a:r>
          </a:p>
          <a:p>
            <a:pPr marL="800100" lvl="1" indent="-342900">
              <a:buFont typeface="Arial" panose="020B0604020202020204" pitchFamily="34" charset="0"/>
              <a:buChar char="•"/>
            </a:pPr>
            <a:r>
              <a:rPr lang="en-GB" dirty="0">
                <a:solidFill>
                  <a:srgbClr val="495961"/>
                </a:solidFill>
              </a:rPr>
              <a:t>No closed form solution</a:t>
            </a:r>
          </a:p>
          <a:p>
            <a:pPr marL="800100" lvl="1" indent="-342900">
              <a:buFont typeface="Arial" panose="020B0604020202020204" pitchFamily="34" charset="0"/>
              <a:buChar char="•"/>
            </a:pPr>
            <a:r>
              <a:rPr lang="en-GB" dirty="0">
                <a:solidFill>
                  <a:srgbClr val="495961"/>
                </a:solidFill>
              </a:rPr>
              <a:t>Pass/fail designations not feasible!</a:t>
            </a:r>
          </a:p>
          <a:p>
            <a:r>
              <a:rPr lang="en-GB" dirty="0"/>
              <a:t>     💡 </a:t>
            </a:r>
            <a:r>
              <a:rPr lang="en-GB" dirty="0">
                <a:solidFill>
                  <a:srgbClr val="495961"/>
                </a:solidFill>
              </a:rPr>
              <a:t>Competition vs. human-coded agents</a:t>
            </a:r>
          </a:p>
        </p:txBody>
      </p:sp>
      <p:cxnSp>
        <p:nvCxnSpPr>
          <p:cNvPr id="9" name="Straight Arrow Connector 8">
            <a:extLst>
              <a:ext uri="{FF2B5EF4-FFF2-40B4-BE49-F238E27FC236}">
                <a16:creationId xmlns:a16="http://schemas.microsoft.com/office/drawing/2014/main" id="{B8614F7F-91B3-6DF6-3E0D-9278E4A51894}"/>
              </a:ext>
            </a:extLst>
          </p:cNvPr>
          <p:cNvCxnSpPr>
            <a:cxnSpLocks/>
            <a:stCxn id="6" idx="3"/>
          </p:cNvCxnSpPr>
          <p:nvPr/>
        </p:nvCxnSpPr>
        <p:spPr>
          <a:xfrm flipV="1">
            <a:off x="6168008" y="4869160"/>
            <a:ext cx="648072" cy="540060"/>
          </a:xfrm>
          <a:prstGeom prst="straightConnector1">
            <a:avLst/>
          </a:prstGeom>
          <a:ln w="76200">
            <a:solidFill>
              <a:srgbClr val="49596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0F9832D-A6C0-16B4-E54F-41191CCB29BD}"/>
              </a:ext>
            </a:extLst>
          </p:cNvPr>
          <p:cNvCxnSpPr>
            <a:cxnSpLocks/>
            <a:stCxn id="6" idx="3"/>
          </p:cNvCxnSpPr>
          <p:nvPr/>
        </p:nvCxnSpPr>
        <p:spPr>
          <a:xfrm>
            <a:off x="6168008" y="5409220"/>
            <a:ext cx="648072" cy="504056"/>
          </a:xfrm>
          <a:prstGeom prst="straightConnector1">
            <a:avLst/>
          </a:prstGeom>
          <a:ln w="76200">
            <a:solidFill>
              <a:srgbClr val="49596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6773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BDFC31E-0DEC-98C7-E53B-A52788F05C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19C34D-6620-D4A4-CDA2-154D3A77D92C}"/>
              </a:ext>
            </a:extLst>
          </p:cNvPr>
          <p:cNvSpPr>
            <a:spLocks noGrp="1"/>
          </p:cNvSpPr>
          <p:nvPr>
            <p:ph type="title"/>
          </p:nvPr>
        </p:nvSpPr>
        <p:spPr/>
        <p:txBody>
          <a:bodyPr/>
          <a:lstStyle/>
          <a:p>
            <a:r>
              <a:rPr lang="en-GB" dirty="0"/>
              <a:t>Putting Vibe Coding to the Test</a:t>
            </a:r>
          </a:p>
        </p:txBody>
      </p:sp>
      <p:sp>
        <p:nvSpPr>
          <p:cNvPr id="3" name="Text Placeholder 2">
            <a:extLst>
              <a:ext uri="{FF2B5EF4-FFF2-40B4-BE49-F238E27FC236}">
                <a16:creationId xmlns:a16="http://schemas.microsoft.com/office/drawing/2014/main" id="{8238C0CA-5C27-BB57-101C-BC8321110EAA}"/>
              </a:ext>
            </a:extLst>
          </p:cNvPr>
          <p:cNvSpPr>
            <a:spLocks noGrp="1"/>
          </p:cNvSpPr>
          <p:nvPr>
            <p:ph type="body" sz="quarter" idx="10"/>
          </p:nvPr>
        </p:nvSpPr>
        <p:spPr>
          <a:xfrm>
            <a:off x="623393" y="1844825"/>
            <a:ext cx="5472607" cy="4968551"/>
          </a:xfrm>
        </p:spPr>
        <p:txBody>
          <a:bodyPr/>
          <a:lstStyle/>
          <a:p>
            <a:r>
              <a:rPr lang="en-GB" dirty="0"/>
              <a:t>Traditional benchmarks focus on problems with clearly defined correct or incorrect solutions, typically verified through unit tests.</a:t>
            </a:r>
          </a:p>
          <a:p>
            <a:endParaRPr lang="en-GB" dirty="0"/>
          </a:p>
          <a:p>
            <a:endParaRPr lang="en-GB" dirty="0"/>
          </a:p>
          <a:p>
            <a:endParaRPr lang="en-GB" dirty="0"/>
          </a:p>
          <a:p>
            <a:r>
              <a:rPr lang="en-GB" dirty="0"/>
              <a:t>Does benchmark success translate to the ability to compete in problems requiring multi-agent </a:t>
            </a:r>
            <a:r>
              <a:rPr lang="en-GB" b="1" dirty="0"/>
              <a:t>strategic interaction</a:t>
            </a:r>
            <a:r>
              <a:rPr lang="en-GB" dirty="0"/>
              <a:t>, </a:t>
            </a:r>
            <a:r>
              <a:rPr lang="en-GB" b="1" dirty="0"/>
              <a:t>planning</a:t>
            </a:r>
            <a:r>
              <a:rPr lang="en-GB" dirty="0"/>
              <a:t>, </a:t>
            </a:r>
            <a:r>
              <a:rPr lang="en-GB" b="1" dirty="0"/>
              <a:t>optimization</a:t>
            </a:r>
            <a:r>
              <a:rPr lang="en-GB" dirty="0"/>
              <a:t>, and </a:t>
            </a:r>
            <a:r>
              <a:rPr lang="en-GB" b="1" dirty="0"/>
              <a:t>advanced algorithm design?</a:t>
            </a:r>
            <a:endParaRPr lang="en-GB" dirty="0"/>
          </a:p>
          <a:p>
            <a:endParaRPr lang="en-GB" dirty="0"/>
          </a:p>
        </p:txBody>
      </p:sp>
      <p:sp>
        <p:nvSpPr>
          <p:cNvPr id="4" name="TextBox 3">
            <a:extLst>
              <a:ext uri="{FF2B5EF4-FFF2-40B4-BE49-F238E27FC236}">
                <a16:creationId xmlns:a16="http://schemas.microsoft.com/office/drawing/2014/main" id="{CBC660B2-3CA9-4FD1-6A46-3E57A2A9E390}"/>
              </a:ext>
            </a:extLst>
          </p:cNvPr>
          <p:cNvSpPr txBox="1"/>
          <p:nvPr/>
        </p:nvSpPr>
        <p:spPr>
          <a:xfrm>
            <a:off x="9912424" y="62898"/>
            <a:ext cx="2031325" cy="707886"/>
          </a:xfrm>
          <a:prstGeom prst="rect">
            <a:avLst/>
          </a:prstGeom>
          <a:noFill/>
        </p:spPr>
        <p:txBody>
          <a:bodyPr wrap="none" rtlCol="0">
            <a:spAutoFit/>
          </a:bodyPr>
          <a:lstStyle/>
          <a:p>
            <a:r>
              <a:rPr lang="en-GB" sz="2000" b="1" dirty="0">
                <a:solidFill>
                  <a:srgbClr val="495961"/>
                </a:solidFill>
              </a:rPr>
              <a:t>① Benchmark</a:t>
            </a:r>
          </a:p>
          <a:p>
            <a:r>
              <a:rPr lang="en-GB" sz="2000" b="1" dirty="0">
                <a:solidFill>
                  <a:schemeClr val="bg2">
                    <a:lumMod val="20000"/>
                    <a:lumOff val="80000"/>
                  </a:schemeClr>
                </a:solidFill>
              </a:rPr>
              <a:t>② Evaluation</a:t>
            </a:r>
          </a:p>
        </p:txBody>
      </p:sp>
      <p:pic>
        <p:nvPicPr>
          <p:cNvPr id="10" name="Picture 9">
            <a:extLst>
              <a:ext uri="{FF2B5EF4-FFF2-40B4-BE49-F238E27FC236}">
                <a16:creationId xmlns:a16="http://schemas.microsoft.com/office/drawing/2014/main" id="{DCF16C8C-D7B9-7DBB-01C9-1FB440B98E36}"/>
              </a:ext>
            </a:extLst>
          </p:cNvPr>
          <p:cNvPicPr>
            <a:picLocks noChangeAspect="1"/>
          </p:cNvPicPr>
          <p:nvPr/>
        </p:nvPicPr>
        <p:blipFill>
          <a:blip r:embed="rId3">
            <a:extLst>
              <a:ext uri="{28A0092B-C50C-407E-A947-70E740481C1C}">
                <a14:useLocalDpi xmlns:a14="http://schemas.microsoft.com/office/drawing/2010/main" val="0"/>
              </a:ext>
            </a:extLst>
          </a:blip>
          <a:srcRect l="12196" t="49573" r="25585"/>
          <a:stretch>
            <a:fillRect/>
          </a:stretch>
        </p:blipFill>
        <p:spPr>
          <a:xfrm>
            <a:off x="6384032" y="4221088"/>
            <a:ext cx="5784137" cy="2636912"/>
          </a:xfrm>
          <a:prstGeom prst="rect">
            <a:avLst/>
          </a:prstGeom>
        </p:spPr>
      </p:pic>
      <p:sp>
        <p:nvSpPr>
          <p:cNvPr id="9" name="TextBox 8">
            <a:extLst>
              <a:ext uri="{FF2B5EF4-FFF2-40B4-BE49-F238E27FC236}">
                <a16:creationId xmlns:a16="http://schemas.microsoft.com/office/drawing/2014/main" id="{E26D1F13-33FC-9939-2113-202DDAACC2A1}"/>
              </a:ext>
            </a:extLst>
          </p:cNvPr>
          <p:cNvSpPr txBox="1"/>
          <p:nvPr/>
        </p:nvSpPr>
        <p:spPr>
          <a:xfrm>
            <a:off x="9912424" y="62898"/>
            <a:ext cx="5375189" cy="1538883"/>
          </a:xfrm>
          <a:prstGeom prst="rect">
            <a:avLst/>
          </a:prstGeom>
          <a:noFill/>
        </p:spPr>
        <p:txBody>
          <a:bodyPr wrap="none" rtlCol="0">
            <a:spAutoFit/>
          </a:bodyPr>
          <a:lstStyle/>
          <a:p>
            <a:r>
              <a:rPr lang="en-GB" sz="2000" b="1" dirty="0">
                <a:solidFill>
                  <a:srgbClr val="495961"/>
                </a:solidFill>
              </a:rPr>
              <a:t>① Benchmark</a:t>
            </a:r>
          </a:p>
          <a:p>
            <a:pPr marL="742950" lvl="1" indent="-285750">
              <a:buFont typeface="Arial" panose="020B0604020202020204" pitchFamily="34" charset="0"/>
              <a:buChar char="•"/>
            </a:pPr>
            <a:r>
              <a:rPr lang="en-GB" dirty="0">
                <a:solidFill>
                  <a:srgbClr val="495961"/>
                </a:solidFill>
              </a:rPr>
              <a:t>MAS, auctions, constraint optimization?</a:t>
            </a:r>
          </a:p>
          <a:p>
            <a:r>
              <a:rPr lang="en-GB" sz="2000" b="1" dirty="0">
                <a:solidFill>
                  <a:srgbClr val="495961"/>
                </a:solidFill>
              </a:rPr>
              <a:t>② Evaluation</a:t>
            </a:r>
          </a:p>
          <a:p>
            <a:pPr marL="800100" lvl="1" indent="-342900">
              <a:buFont typeface="Arial" panose="020B0604020202020204" pitchFamily="34" charset="0"/>
              <a:buChar char="•"/>
            </a:pPr>
            <a:r>
              <a:rPr lang="en-GB" dirty="0">
                <a:solidFill>
                  <a:srgbClr val="495961"/>
                </a:solidFill>
              </a:rPr>
              <a:t>No closed form solution</a:t>
            </a:r>
          </a:p>
          <a:p>
            <a:pPr marL="800100" lvl="1" indent="-342900">
              <a:buFont typeface="Arial" panose="020B0604020202020204" pitchFamily="34" charset="0"/>
              <a:buChar char="•"/>
            </a:pPr>
            <a:r>
              <a:rPr lang="en-GB" dirty="0">
                <a:solidFill>
                  <a:srgbClr val="495961"/>
                </a:solidFill>
              </a:rPr>
              <a:t>Pass/fail designations not feasible!</a:t>
            </a:r>
          </a:p>
        </p:txBody>
      </p:sp>
      <p:sp>
        <p:nvSpPr>
          <p:cNvPr id="19" name="TextBox 18">
            <a:extLst>
              <a:ext uri="{FF2B5EF4-FFF2-40B4-BE49-F238E27FC236}">
                <a16:creationId xmlns:a16="http://schemas.microsoft.com/office/drawing/2014/main" id="{9B959B45-8E28-E464-6456-81CEB5F44C32}"/>
              </a:ext>
            </a:extLst>
          </p:cNvPr>
          <p:cNvSpPr txBox="1"/>
          <p:nvPr/>
        </p:nvSpPr>
        <p:spPr>
          <a:xfrm>
            <a:off x="11734236" y="6423139"/>
            <a:ext cx="266420" cy="246221"/>
          </a:xfrm>
          <a:prstGeom prst="rect">
            <a:avLst/>
          </a:prstGeom>
          <a:noFill/>
        </p:spPr>
        <p:txBody>
          <a:bodyPr wrap="none" rtlCol="0">
            <a:spAutoFit/>
          </a:bodyPr>
          <a:lstStyle/>
          <a:p>
            <a:r>
              <a:rPr lang="en-GB" sz="1000" dirty="0"/>
              <a:t>7</a:t>
            </a:r>
          </a:p>
        </p:txBody>
      </p:sp>
      <p:sp>
        <p:nvSpPr>
          <p:cNvPr id="7" name="Rectangle: Rounded Corners 6">
            <a:extLst>
              <a:ext uri="{FF2B5EF4-FFF2-40B4-BE49-F238E27FC236}">
                <a16:creationId xmlns:a16="http://schemas.microsoft.com/office/drawing/2014/main" id="{CD29D4C9-8CDF-BF34-CB6F-ED6DB3BE5D9E}"/>
              </a:ext>
            </a:extLst>
          </p:cNvPr>
          <p:cNvSpPr/>
          <p:nvPr/>
        </p:nvSpPr>
        <p:spPr>
          <a:xfrm>
            <a:off x="767408" y="4365104"/>
            <a:ext cx="5400600" cy="2088232"/>
          </a:xfrm>
          <a:prstGeom prst="roundRect">
            <a:avLst/>
          </a:prstGeom>
          <a:noFill/>
          <a:ln w="76200">
            <a:solidFill>
              <a:schemeClr val="bg2"/>
            </a:solidFill>
          </a:ln>
        </p:spPr>
        <p:style>
          <a:lnRef idx="2">
            <a:schemeClr val="accent1"/>
          </a:lnRef>
          <a:fillRef idx="1">
            <a:schemeClr val="lt1"/>
          </a:fillRef>
          <a:effectRef idx="0">
            <a:schemeClr val="accent1"/>
          </a:effectRef>
          <a:fontRef idx="minor">
            <a:schemeClr val="dk1"/>
          </a:fontRef>
        </p:style>
        <p:txBody>
          <a:bodyPr rtlCol="0" anchor="ctr"/>
          <a:lstStyle/>
          <a:p>
            <a:endParaRPr lang="en-GB" dirty="0"/>
          </a:p>
        </p:txBody>
      </p:sp>
      <p:pic>
        <p:nvPicPr>
          <p:cNvPr id="11" name="Picture 10">
            <a:extLst>
              <a:ext uri="{FF2B5EF4-FFF2-40B4-BE49-F238E27FC236}">
                <a16:creationId xmlns:a16="http://schemas.microsoft.com/office/drawing/2014/main" id="{BAB3E3FE-5061-8143-F814-5F175EF1A40A}"/>
              </a:ext>
            </a:extLst>
          </p:cNvPr>
          <p:cNvPicPr>
            <a:picLocks noChangeAspect="1"/>
          </p:cNvPicPr>
          <p:nvPr/>
        </p:nvPicPr>
        <p:blipFill>
          <a:blip r:embed="rId3">
            <a:extLst>
              <a:ext uri="{28A0092B-C50C-407E-A947-70E740481C1C}">
                <a14:useLocalDpi xmlns:a14="http://schemas.microsoft.com/office/drawing/2010/main" val="0"/>
              </a:ext>
            </a:extLst>
          </a:blip>
          <a:srcRect l="12196" r="59145" b="50427"/>
          <a:stretch>
            <a:fillRect/>
          </a:stretch>
        </p:blipFill>
        <p:spPr>
          <a:xfrm>
            <a:off x="6384033" y="1628800"/>
            <a:ext cx="2664296" cy="2592288"/>
          </a:xfrm>
          <a:prstGeom prst="rect">
            <a:avLst/>
          </a:prstGeom>
        </p:spPr>
      </p:pic>
    </p:spTree>
    <p:extLst>
      <p:ext uri="{BB962C8B-B14F-4D97-AF65-F5344CB8AC3E}">
        <p14:creationId xmlns:p14="http://schemas.microsoft.com/office/powerpoint/2010/main" val="1977711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afterEffect">
                                  <p:stCondLst>
                                    <p:cond delay="25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par>
                          <p:cTn id="8" fill="hold">
                            <p:stCondLst>
                              <p:cond delay="75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2980C20-F653-355F-1899-9F7C16F8CB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B16960-4A43-C1B4-AC55-D929B1606C5A}"/>
              </a:ext>
            </a:extLst>
          </p:cNvPr>
          <p:cNvSpPr>
            <a:spLocks noGrp="1"/>
          </p:cNvSpPr>
          <p:nvPr>
            <p:ph type="title"/>
          </p:nvPr>
        </p:nvSpPr>
        <p:spPr/>
        <p:txBody>
          <a:bodyPr/>
          <a:lstStyle/>
          <a:p>
            <a:r>
              <a:rPr lang="en-GB" dirty="0"/>
              <a:t>Putting Vibe Coding to the Test</a:t>
            </a:r>
          </a:p>
        </p:txBody>
      </p:sp>
      <p:sp>
        <p:nvSpPr>
          <p:cNvPr id="3" name="Text Placeholder 2">
            <a:extLst>
              <a:ext uri="{FF2B5EF4-FFF2-40B4-BE49-F238E27FC236}">
                <a16:creationId xmlns:a16="http://schemas.microsoft.com/office/drawing/2014/main" id="{1AEB9124-34C2-B204-FBB3-BED70D6D02F2}"/>
              </a:ext>
            </a:extLst>
          </p:cNvPr>
          <p:cNvSpPr>
            <a:spLocks noGrp="1"/>
          </p:cNvSpPr>
          <p:nvPr>
            <p:ph type="body" sz="quarter" idx="10"/>
          </p:nvPr>
        </p:nvSpPr>
        <p:spPr>
          <a:xfrm>
            <a:off x="623393" y="1844825"/>
            <a:ext cx="5472607" cy="4968551"/>
          </a:xfrm>
        </p:spPr>
        <p:txBody>
          <a:bodyPr/>
          <a:lstStyle/>
          <a:p>
            <a:r>
              <a:rPr lang="en-GB" dirty="0"/>
              <a:t>Traditional benchmarks focus on problems with clearly defined correct or incorrect solutions, typically verified through unit tests.</a:t>
            </a:r>
          </a:p>
          <a:p>
            <a:endParaRPr lang="en-GB" dirty="0"/>
          </a:p>
          <a:p>
            <a:endParaRPr lang="en-GB" dirty="0"/>
          </a:p>
          <a:p>
            <a:endParaRPr lang="en-GB" dirty="0"/>
          </a:p>
          <a:p>
            <a:r>
              <a:rPr lang="en-GB" dirty="0"/>
              <a:t>Does benchmark success translate to the ability to compete in problems requiring multi-agent </a:t>
            </a:r>
            <a:r>
              <a:rPr lang="en-GB" b="1" dirty="0"/>
              <a:t>strategic interaction</a:t>
            </a:r>
            <a:r>
              <a:rPr lang="en-GB" dirty="0"/>
              <a:t>, </a:t>
            </a:r>
            <a:r>
              <a:rPr lang="en-GB" b="1" dirty="0"/>
              <a:t>planning</a:t>
            </a:r>
            <a:r>
              <a:rPr lang="en-GB" dirty="0"/>
              <a:t>, </a:t>
            </a:r>
            <a:r>
              <a:rPr lang="en-GB" b="1" dirty="0"/>
              <a:t>optimization</a:t>
            </a:r>
            <a:r>
              <a:rPr lang="en-GB" dirty="0"/>
              <a:t>, and </a:t>
            </a:r>
            <a:r>
              <a:rPr lang="en-GB" b="1" dirty="0"/>
              <a:t>advanced algorithm design?</a:t>
            </a:r>
            <a:endParaRPr lang="en-GB" dirty="0"/>
          </a:p>
          <a:p>
            <a:endParaRPr lang="en-GB" dirty="0"/>
          </a:p>
        </p:txBody>
      </p:sp>
      <p:sp>
        <p:nvSpPr>
          <p:cNvPr id="4" name="TextBox 3">
            <a:extLst>
              <a:ext uri="{FF2B5EF4-FFF2-40B4-BE49-F238E27FC236}">
                <a16:creationId xmlns:a16="http://schemas.microsoft.com/office/drawing/2014/main" id="{9881D414-DC88-4341-C176-5F711B6C3001}"/>
              </a:ext>
            </a:extLst>
          </p:cNvPr>
          <p:cNvSpPr txBox="1"/>
          <p:nvPr/>
        </p:nvSpPr>
        <p:spPr>
          <a:xfrm>
            <a:off x="9912424" y="62898"/>
            <a:ext cx="2031325" cy="707886"/>
          </a:xfrm>
          <a:prstGeom prst="rect">
            <a:avLst/>
          </a:prstGeom>
          <a:noFill/>
        </p:spPr>
        <p:txBody>
          <a:bodyPr wrap="none" rtlCol="0">
            <a:spAutoFit/>
          </a:bodyPr>
          <a:lstStyle/>
          <a:p>
            <a:r>
              <a:rPr lang="en-GB" sz="2000" b="1" dirty="0">
                <a:solidFill>
                  <a:schemeClr val="bg2">
                    <a:lumMod val="20000"/>
                    <a:lumOff val="80000"/>
                  </a:schemeClr>
                </a:solidFill>
              </a:rPr>
              <a:t>① Benchmark</a:t>
            </a:r>
          </a:p>
          <a:p>
            <a:r>
              <a:rPr lang="en-GB" sz="2000" b="1" dirty="0">
                <a:solidFill>
                  <a:srgbClr val="495961"/>
                </a:solidFill>
              </a:rPr>
              <a:t>② Evaluation</a:t>
            </a:r>
          </a:p>
        </p:txBody>
      </p:sp>
      <p:grpSp>
        <p:nvGrpSpPr>
          <p:cNvPr id="11" name="Group 10">
            <a:extLst>
              <a:ext uri="{FF2B5EF4-FFF2-40B4-BE49-F238E27FC236}">
                <a16:creationId xmlns:a16="http://schemas.microsoft.com/office/drawing/2014/main" id="{02C8F3F8-9EA7-B7DB-5AB8-72A58D7FDD15}"/>
              </a:ext>
            </a:extLst>
          </p:cNvPr>
          <p:cNvGrpSpPr/>
          <p:nvPr/>
        </p:nvGrpSpPr>
        <p:grpSpPr>
          <a:xfrm>
            <a:off x="10200456" y="5368414"/>
            <a:ext cx="1991544" cy="1516969"/>
            <a:chOff x="9336360" y="4682844"/>
            <a:chExt cx="2855640" cy="2175155"/>
          </a:xfrm>
        </p:grpSpPr>
        <p:pic>
          <p:nvPicPr>
            <p:cNvPr id="5" name="Picture 4">
              <a:extLst>
                <a:ext uri="{FF2B5EF4-FFF2-40B4-BE49-F238E27FC236}">
                  <a16:creationId xmlns:a16="http://schemas.microsoft.com/office/drawing/2014/main" id="{B83C8884-8E92-CB16-1DC2-E2951FE708AD}"/>
                </a:ext>
              </a:extLst>
            </p:cNvPr>
            <p:cNvPicPr>
              <a:picLocks noChangeAspect="1"/>
            </p:cNvPicPr>
            <p:nvPr/>
          </p:nvPicPr>
          <p:blipFill>
            <a:blip r:embed="rId3" cstate="print">
              <a:alphaModFix/>
              <a:extLst>
                <a:ext uri="{28A0092B-C50C-407E-A947-70E740481C1C}">
                  <a14:useLocalDpi xmlns:a14="http://schemas.microsoft.com/office/drawing/2010/main" val="0"/>
                </a:ext>
              </a:extLst>
            </a:blip>
            <a:srcRect l="52362" t="19551" b="11150"/>
            <a:stretch>
              <a:fillRect/>
            </a:stretch>
          </p:blipFill>
          <p:spPr>
            <a:xfrm>
              <a:off x="9768408" y="4682844"/>
              <a:ext cx="2423592" cy="2175155"/>
            </a:xfrm>
            <a:prstGeom prst="rect">
              <a:avLst/>
            </a:prstGeom>
          </p:spPr>
        </p:pic>
        <p:sp>
          <p:nvSpPr>
            <p:cNvPr id="7" name="Rectangle 6">
              <a:extLst>
                <a:ext uri="{FF2B5EF4-FFF2-40B4-BE49-F238E27FC236}">
                  <a16:creationId xmlns:a16="http://schemas.microsoft.com/office/drawing/2014/main" id="{41C50B38-13FE-8852-C75B-ED2E6F86D50D}"/>
                </a:ext>
              </a:extLst>
            </p:cNvPr>
            <p:cNvSpPr/>
            <p:nvPr/>
          </p:nvSpPr>
          <p:spPr>
            <a:xfrm>
              <a:off x="9336360" y="4682844"/>
              <a:ext cx="792088" cy="14824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 name="Text Placeholder 2">
            <a:extLst>
              <a:ext uri="{FF2B5EF4-FFF2-40B4-BE49-F238E27FC236}">
                <a16:creationId xmlns:a16="http://schemas.microsoft.com/office/drawing/2014/main" id="{92805E73-7C32-F798-44A4-098B898A2D28}"/>
              </a:ext>
            </a:extLst>
          </p:cNvPr>
          <p:cNvSpPr txBox="1">
            <a:spLocks/>
          </p:cNvSpPr>
          <p:nvPr/>
        </p:nvSpPr>
        <p:spPr>
          <a:xfrm>
            <a:off x="6744072" y="3429000"/>
            <a:ext cx="5400600" cy="4393059"/>
          </a:xfrm>
          <a:prstGeom prst="rect">
            <a:avLst/>
          </a:prstGeom>
        </p:spPr>
        <p:txBody>
          <a:bodyPr vert="horz" lIns="91440" tIns="45720" rIns="91440" bIns="45720" rtlCol="0">
            <a:no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kern="1200">
                <a:solidFill>
                  <a:srgbClr val="2E444E"/>
                </a:solidFill>
                <a:latin typeface="+mn-lt"/>
                <a:ea typeface="+mn-ea"/>
                <a:cs typeface="+mn-cs"/>
              </a:defRPr>
            </a:lvl1pPr>
            <a:lvl2pPr marL="742950" indent="-285750" algn="l" defTabSz="914400" rtl="0" eaLnBrk="1" latinLnBrk="0" hangingPunct="1">
              <a:spcBef>
                <a:spcPts val="0"/>
              </a:spcBef>
              <a:spcAft>
                <a:spcPts val="1200"/>
              </a:spcAft>
              <a:buFont typeface="Arial" panose="020B0604020202020204" pitchFamily="34" charset="0"/>
              <a:buChar char="–"/>
              <a:defRPr sz="1800" kern="1200">
                <a:solidFill>
                  <a:srgbClr val="2E444E"/>
                </a:solidFill>
                <a:latin typeface="+mn-lt"/>
                <a:ea typeface="+mn-ea"/>
                <a:cs typeface="+mn-cs"/>
              </a:defRPr>
            </a:lvl2pPr>
            <a:lvl3pPr marL="1143000" indent="-228600" algn="l" defTabSz="914400" rtl="0" eaLnBrk="1" latinLnBrk="0" hangingPunct="1">
              <a:spcBef>
                <a:spcPts val="0"/>
              </a:spcBef>
              <a:spcAft>
                <a:spcPts val="1200"/>
              </a:spcAft>
              <a:buFont typeface="Arial" panose="020B0604020202020204" pitchFamily="34" charset="0"/>
              <a:buChar char="•"/>
              <a:defRPr sz="1800" kern="1200">
                <a:solidFill>
                  <a:srgbClr val="2E444E"/>
                </a:solidFill>
                <a:latin typeface="+mn-lt"/>
                <a:ea typeface="+mn-ea"/>
                <a:cs typeface="+mn-cs"/>
              </a:defRPr>
            </a:lvl3pPr>
            <a:lvl4pPr marL="1600200" indent="-228600" algn="l" defTabSz="914400" rtl="0" eaLnBrk="1" latinLnBrk="0" hangingPunct="1">
              <a:spcBef>
                <a:spcPts val="0"/>
              </a:spcBef>
              <a:spcAft>
                <a:spcPts val="1200"/>
              </a:spcAft>
              <a:buFont typeface="Arial" panose="020B0604020202020204" pitchFamily="34" charset="0"/>
              <a:buChar char="–"/>
              <a:defRPr sz="1600" kern="1200">
                <a:solidFill>
                  <a:srgbClr val="2E444E"/>
                </a:solidFill>
                <a:latin typeface="+mn-lt"/>
                <a:ea typeface="+mn-ea"/>
                <a:cs typeface="+mn-cs"/>
              </a:defRPr>
            </a:lvl4pPr>
            <a:lvl5pPr marL="2057400" indent="-228600" algn="l" defTabSz="914400" rtl="0" eaLnBrk="1" latinLnBrk="0" hangingPunct="1">
              <a:spcBef>
                <a:spcPts val="0"/>
              </a:spcBef>
              <a:spcAft>
                <a:spcPts val="1200"/>
              </a:spcAft>
              <a:buFont typeface="Arial" panose="020B0604020202020204" pitchFamily="34" charset="0"/>
              <a:buChar char="»"/>
              <a:defRPr sz="1400" kern="1200">
                <a:solidFill>
                  <a:srgbClr val="2E444E"/>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GB" dirty="0"/>
              <a:t>17 </a:t>
            </a:r>
            <a:r>
              <a:rPr lang="en-GB" b="1" dirty="0"/>
              <a:t>human-coded agents</a:t>
            </a:r>
            <a:r>
              <a:rPr lang="en-GB" dirty="0"/>
              <a:t>, developed </a:t>
            </a:r>
            <a:r>
              <a:rPr lang="en-GB" b="1" dirty="0"/>
              <a:t>before the advent of LLMs </a:t>
            </a:r>
            <a:r>
              <a:rPr lang="en-GB" dirty="0"/>
              <a:t>(i.e., without any AI assisted programming)</a:t>
            </a:r>
          </a:p>
          <a:p>
            <a:r>
              <a:rPr lang="en-GB" dirty="0"/>
              <a:t>12 agents, MSc CS </a:t>
            </a:r>
            <a:r>
              <a:rPr lang="en-GB" b="1" dirty="0"/>
              <a:t>students</a:t>
            </a:r>
            <a:r>
              <a:rPr lang="en-GB" dirty="0"/>
              <a:t> at EPFL</a:t>
            </a:r>
          </a:p>
          <a:p>
            <a:r>
              <a:rPr lang="en-GB" dirty="0"/>
              <a:t>5 baselines, AI lab members</a:t>
            </a:r>
          </a:p>
          <a:p>
            <a:endParaRPr lang="en-GB" dirty="0"/>
          </a:p>
        </p:txBody>
      </p:sp>
      <p:sp>
        <p:nvSpPr>
          <p:cNvPr id="15" name="TextBox 14">
            <a:extLst>
              <a:ext uri="{FF2B5EF4-FFF2-40B4-BE49-F238E27FC236}">
                <a16:creationId xmlns:a16="http://schemas.microsoft.com/office/drawing/2014/main" id="{B2CC52D4-8A0A-18C0-F044-334F6C5CD48C}"/>
              </a:ext>
            </a:extLst>
          </p:cNvPr>
          <p:cNvSpPr txBox="1"/>
          <p:nvPr/>
        </p:nvSpPr>
        <p:spPr>
          <a:xfrm>
            <a:off x="11734236" y="6423139"/>
            <a:ext cx="266420" cy="246221"/>
          </a:xfrm>
          <a:prstGeom prst="rect">
            <a:avLst/>
          </a:prstGeom>
          <a:noFill/>
        </p:spPr>
        <p:txBody>
          <a:bodyPr wrap="none" rtlCol="0">
            <a:spAutoFit/>
          </a:bodyPr>
          <a:lstStyle/>
          <a:p>
            <a:r>
              <a:rPr lang="en-GB" sz="1000" dirty="0">
                <a:solidFill>
                  <a:schemeClr val="bg1">
                    <a:lumMod val="95000"/>
                  </a:schemeClr>
                </a:solidFill>
              </a:rPr>
              <a:t>8</a:t>
            </a:r>
          </a:p>
        </p:txBody>
      </p:sp>
      <p:sp>
        <p:nvSpPr>
          <p:cNvPr id="8" name="Rectangle: Rounded Corners 7">
            <a:extLst>
              <a:ext uri="{FF2B5EF4-FFF2-40B4-BE49-F238E27FC236}">
                <a16:creationId xmlns:a16="http://schemas.microsoft.com/office/drawing/2014/main" id="{8CE404B8-8B4C-760E-B335-9426D40ADEC0}"/>
              </a:ext>
            </a:extLst>
          </p:cNvPr>
          <p:cNvSpPr/>
          <p:nvPr/>
        </p:nvSpPr>
        <p:spPr>
          <a:xfrm>
            <a:off x="767408" y="4365104"/>
            <a:ext cx="5400600" cy="2088232"/>
          </a:xfrm>
          <a:prstGeom prst="roundRect">
            <a:avLst/>
          </a:prstGeom>
          <a:noFill/>
          <a:ln w="76200">
            <a:solidFill>
              <a:schemeClr val="bg2"/>
            </a:solidFill>
          </a:ln>
        </p:spPr>
        <p:style>
          <a:lnRef idx="2">
            <a:schemeClr val="accent1"/>
          </a:lnRef>
          <a:fillRef idx="1">
            <a:schemeClr val="lt1"/>
          </a:fillRef>
          <a:effectRef idx="0">
            <a:schemeClr val="accent1"/>
          </a:effectRef>
          <a:fontRef idx="minor">
            <a:schemeClr val="dk1"/>
          </a:fontRef>
        </p:style>
        <p:txBody>
          <a:bodyPr rtlCol="0" anchor="ctr"/>
          <a:lstStyle/>
          <a:p>
            <a:endParaRPr lang="en-GB" dirty="0"/>
          </a:p>
        </p:txBody>
      </p:sp>
    </p:spTree>
    <p:extLst>
      <p:ext uri="{BB962C8B-B14F-4D97-AF65-F5344CB8AC3E}">
        <p14:creationId xmlns:p14="http://schemas.microsoft.com/office/powerpoint/2010/main" val="37292321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7717E-0FD6-BEDD-C26D-99A0E974E536}"/>
            </a:ext>
          </a:extLst>
        </p:cNvPr>
        <p:cNvGrpSpPr/>
        <p:nvPr/>
      </p:nvGrpSpPr>
      <p:grpSpPr>
        <a:xfrm>
          <a:off x="0" y="0"/>
          <a:ext cx="0" cy="0"/>
          <a:chOff x="0" y="0"/>
          <a:chExt cx="0" cy="0"/>
        </a:xfrm>
      </p:grpSpPr>
      <p:pic>
        <p:nvPicPr>
          <p:cNvPr id="28" name="Picture 27">
            <a:extLst>
              <a:ext uri="{FF2B5EF4-FFF2-40B4-BE49-F238E27FC236}">
                <a16:creationId xmlns:a16="http://schemas.microsoft.com/office/drawing/2014/main" id="{0CACD523-E967-C10C-F542-DC1F4964CFEA}"/>
              </a:ext>
            </a:extLst>
          </p:cNvPr>
          <p:cNvPicPr>
            <a:picLocks noChangeAspect="1"/>
          </p:cNvPicPr>
          <p:nvPr/>
        </p:nvPicPr>
        <p:blipFill>
          <a:blip r:embed="rId3" cstate="print">
            <a:extLst>
              <a:ext uri="{28A0092B-C50C-407E-A947-70E740481C1C}">
                <a14:useLocalDpi xmlns:a14="http://schemas.microsoft.com/office/drawing/2010/main" val="0"/>
              </a:ext>
            </a:extLst>
          </a:blip>
          <a:srcRect l="17866" t="8907" r="20892" b="8001"/>
          <a:stretch>
            <a:fillRect/>
          </a:stretch>
        </p:blipFill>
        <p:spPr>
          <a:xfrm>
            <a:off x="9480377" y="5745067"/>
            <a:ext cx="1080119" cy="1099111"/>
          </a:xfrm>
          <a:prstGeom prst="rect">
            <a:avLst/>
          </a:prstGeom>
        </p:spPr>
      </p:pic>
      <p:sp>
        <p:nvSpPr>
          <p:cNvPr id="2" name="Title 1">
            <a:extLst>
              <a:ext uri="{FF2B5EF4-FFF2-40B4-BE49-F238E27FC236}">
                <a16:creationId xmlns:a16="http://schemas.microsoft.com/office/drawing/2014/main" id="{C399D73D-5217-9353-44CD-6335DFEEB093}"/>
              </a:ext>
            </a:extLst>
          </p:cNvPr>
          <p:cNvSpPr>
            <a:spLocks noGrp="1"/>
          </p:cNvSpPr>
          <p:nvPr>
            <p:ph type="title"/>
          </p:nvPr>
        </p:nvSpPr>
        <p:spPr/>
        <p:txBody>
          <a:bodyPr/>
          <a:lstStyle/>
          <a:p>
            <a:r>
              <a:rPr lang="en-GB" dirty="0"/>
              <a:t>New Frontier in Automated Code Generation</a:t>
            </a:r>
          </a:p>
        </p:txBody>
      </p:sp>
      <p:sp>
        <p:nvSpPr>
          <p:cNvPr id="3" name="Text Placeholder 2">
            <a:extLst>
              <a:ext uri="{FF2B5EF4-FFF2-40B4-BE49-F238E27FC236}">
                <a16:creationId xmlns:a16="http://schemas.microsoft.com/office/drawing/2014/main" id="{6F6A8E71-5287-22B4-B219-7A3C23D3751C}"/>
              </a:ext>
            </a:extLst>
          </p:cNvPr>
          <p:cNvSpPr>
            <a:spLocks noGrp="1"/>
          </p:cNvSpPr>
          <p:nvPr>
            <p:ph type="body" sz="quarter" idx="10"/>
          </p:nvPr>
        </p:nvSpPr>
        <p:spPr>
          <a:xfrm>
            <a:off x="623393" y="1844825"/>
            <a:ext cx="10847916" cy="4824535"/>
          </a:xfrm>
        </p:spPr>
        <p:txBody>
          <a:bodyPr/>
          <a:lstStyle/>
          <a:p>
            <a:r>
              <a:rPr lang="en-GB" dirty="0"/>
              <a:t>The Auction, Pickup, and Delivery Problem (APDP)</a:t>
            </a:r>
          </a:p>
          <a:p>
            <a:pPr lvl="1"/>
            <a:r>
              <a:rPr lang="en-GB" b="1" dirty="0"/>
              <a:t>Task</a:t>
            </a:r>
            <a:r>
              <a:rPr lang="en-GB" dirty="0"/>
              <a:t>: Logistic operations </a:t>
            </a:r>
            <a:r>
              <a:rPr lang="en-GB" b="1" dirty="0"/>
              <a:t>optimization</a:t>
            </a:r>
          </a:p>
          <a:p>
            <a:pPr lvl="1"/>
            <a:r>
              <a:rPr lang="en-GB" b="1" dirty="0"/>
              <a:t>Goal</a:t>
            </a:r>
            <a:r>
              <a:rPr lang="en-GB" dirty="0"/>
              <a:t>: Maximize </a:t>
            </a:r>
            <a:r>
              <a:rPr lang="en-GB" b="1" dirty="0"/>
              <a:t>profit</a:t>
            </a:r>
            <a:r>
              <a:rPr lang="en-GB" dirty="0"/>
              <a:t> for a transportation company</a:t>
            </a:r>
          </a:p>
          <a:p>
            <a:endParaRPr lang="en-GB" dirty="0"/>
          </a:p>
          <a:p>
            <a:r>
              <a:rPr lang="en-GB" dirty="0"/>
              <a:t>Multiple transportation companies (agents)</a:t>
            </a:r>
          </a:p>
          <a:p>
            <a:pPr lvl="1"/>
            <a:r>
              <a:rPr lang="en-GB" dirty="0"/>
              <a:t>Several vehicles: location, capacity</a:t>
            </a:r>
          </a:p>
          <a:p>
            <a:r>
              <a:rPr lang="en-GB" dirty="0"/>
              <a:t>Multiple tasks (e.g., parcels): source, destination, weight</a:t>
            </a:r>
          </a:p>
          <a:p>
            <a:r>
              <a:rPr lang="en-GB" dirty="0"/>
              <a:t>Auction</a:t>
            </a:r>
          </a:p>
          <a:p>
            <a:pPr marL="857250" lvl="1" indent="-457200">
              <a:buFont typeface="+mj-lt"/>
              <a:buAutoNum type="arabicPeriod"/>
            </a:pPr>
            <a:r>
              <a:rPr lang="en-GB" dirty="0"/>
              <a:t>Marginal cost of adding the task </a:t>
            </a:r>
          </a:p>
          <a:p>
            <a:pPr marL="857250" lvl="1" indent="-457200">
              <a:buFont typeface="+mj-lt"/>
              <a:buAutoNum type="arabicPeriod"/>
            </a:pPr>
            <a:r>
              <a:rPr lang="en-GB" dirty="0"/>
              <a:t>Marginal cost of the opponent</a:t>
            </a:r>
          </a:p>
          <a:p>
            <a:pPr marL="857250" lvl="1" indent="-457200">
              <a:buFont typeface="+mj-lt"/>
              <a:buAutoNum type="arabicPeriod"/>
            </a:pPr>
            <a:r>
              <a:rPr lang="en-GB" dirty="0"/>
              <a:t>Other strategic decisions (e.g., incurring a loss at the start)</a:t>
            </a:r>
          </a:p>
        </p:txBody>
      </p:sp>
      <p:sp>
        <p:nvSpPr>
          <p:cNvPr id="5" name="TextBox 4">
            <a:extLst>
              <a:ext uri="{FF2B5EF4-FFF2-40B4-BE49-F238E27FC236}">
                <a16:creationId xmlns:a16="http://schemas.microsoft.com/office/drawing/2014/main" id="{64E62F83-B713-16E4-DD8F-B809B2961228}"/>
              </a:ext>
            </a:extLst>
          </p:cNvPr>
          <p:cNvSpPr txBox="1"/>
          <p:nvPr/>
        </p:nvSpPr>
        <p:spPr>
          <a:xfrm>
            <a:off x="9912424" y="62898"/>
            <a:ext cx="2031325" cy="707886"/>
          </a:xfrm>
          <a:prstGeom prst="rect">
            <a:avLst/>
          </a:prstGeom>
          <a:noFill/>
        </p:spPr>
        <p:txBody>
          <a:bodyPr wrap="none" rtlCol="0">
            <a:spAutoFit/>
          </a:bodyPr>
          <a:lstStyle/>
          <a:p>
            <a:r>
              <a:rPr lang="en-GB" sz="2000" b="1" dirty="0">
                <a:solidFill>
                  <a:srgbClr val="495961"/>
                </a:solidFill>
              </a:rPr>
              <a:t>① Benchmark</a:t>
            </a:r>
          </a:p>
          <a:p>
            <a:r>
              <a:rPr lang="en-GB" sz="2000" b="1" dirty="0">
                <a:solidFill>
                  <a:schemeClr val="bg2">
                    <a:lumMod val="20000"/>
                    <a:lumOff val="80000"/>
                  </a:schemeClr>
                </a:solidFill>
              </a:rPr>
              <a:t>② Evaluation</a:t>
            </a:r>
          </a:p>
        </p:txBody>
      </p:sp>
      <p:pic>
        <p:nvPicPr>
          <p:cNvPr id="6" name="Picture 5">
            <a:extLst>
              <a:ext uri="{FF2B5EF4-FFF2-40B4-BE49-F238E27FC236}">
                <a16:creationId xmlns:a16="http://schemas.microsoft.com/office/drawing/2014/main" id="{A34115F6-F51E-7C36-3DD9-1D2EE00AA6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64461" y="1595397"/>
            <a:ext cx="5495925" cy="4124325"/>
          </a:xfrm>
          <a:prstGeom prst="rect">
            <a:avLst/>
          </a:prstGeom>
        </p:spPr>
      </p:pic>
      <p:pic>
        <p:nvPicPr>
          <p:cNvPr id="7" name="Picture 6">
            <a:extLst>
              <a:ext uri="{FF2B5EF4-FFF2-40B4-BE49-F238E27FC236}">
                <a16:creationId xmlns:a16="http://schemas.microsoft.com/office/drawing/2014/main" id="{62388BE2-97DF-5CCA-079B-A8F79CE3E87C}"/>
              </a:ext>
            </a:extLst>
          </p:cNvPr>
          <p:cNvPicPr>
            <a:picLocks noChangeAspect="1"/>
          </p:cNvPicPr>
          <p:nvPr/>
        </p:nvPicPr>
        <p:blipFill>
          <a:blip r:embed="rId5" cstate="print">
            <a:extLst>
              <a:ext uri="{BEBA8EAE-BF5A-486C-A8C5-ECC9F3942E4B}">
                <a14:imgProps xmlns:a14="http://schemas.microsoft.com/office/drawing/2010/main">
                  <a14:imgLayer r:embed="rId6">
                    <a14:imgEffect>
                      <a14:backgroundRemoval t="9888" b="89872" l="8373" r="89872">
                        <a14:foregroundMark x1="26316" y1="31978" x2="20255" y2="35327"/>
                        <a14:foregroundMark x1="20255" y1="35327" x2="30702" y2="39394"/>
                        <a14:foregroundMark x1="30702" y1="39394" x2="25997" y2="30463"/>
                        <a14:foregroundMark x1="25997" y1="30463" x2="25997" y2="30463"/>
                        <a14:foregroundMark x1="36443" y1="18820" x2="25837" y2="23206"/>
                        <a14:foregroundMark x1="25837" y1="23206" x2="20973" y2="47129"/>
                        <a14:foregroundMark x1="20973" y1="47129" x2="45295" y2="41786"/>
                        <a14:foregroundMark x1="45295" y1="41786" x2="33652" y2="20016"/>
                        <a14:foregroundMark x1="33652" y1="20016" x2="24801" y2="17624"/>
                        <a14:foregroundMark x1="42185" y1="18262" x2="45614" y2="29187"/>
                        <a14:foregroundMark x1="45614" y1="29187" x2="56699" y2="22887"/>
                        <a14:foregroundMark x1="56699" y1="22887" x2="43222" y2="17703"/>
                        <a14:foregroundMark x1="43222" y1="17703" x2="39793" y2="17863"/>
                        <a14:foregroundMark x1="8692" y1="53110" x2="9171" y2="53429"/>
                        <a14:foregroundMark x1="8373" y1="30861" x2="8612" y2="43142"/>
                        <a14:backgroundMark x1="87959" y1="42584" x2="87480" y2="43700"/>
                        <a14:backgroundMark x1="88278" y1="51196" x2="88357" y2="52153"/>
                      </a14:backgroundRemoval>
                    </a14:imgEffect>
                  </a14:imgLayer>
                </a14:imgProps>
              </a:ext>
              <a:ext uri="{28A0092B-C50C-407E-A947-70E740481C1C}">
                <a14:useLocalDpi xmlns:a14="http://schemas.microsoft.com/office/drawing/2010/main" val="0"/>
              </a:ext>
            </a:extLst>
          </a:blip>
          <a:stretch>
            <a:fillRect/>
          </a:stretch>
        </p:blipFill>
        <p:spPr>
          <a:xfrm>
            <a:off x="9336360" y="2305137"/>
            <a:ext cx="506591" cy="506591"/>
          </a:xfrm>
          <a:prstGeom prst="rect">
            <a:avLst/>
          </a:prstGeom>
        </p:spPr>
      </p:pic>
      <p:pic>
        <p:nvPicPr>
          <p:cNvPr id="8" name="Picture 7">
            <a:extLst>
              <a:ext uri="{FF2B5EF4-FFF2-40B4-BE49-F238E27FC236}">
                <a16:creationId xmlns:a16="http://schemas.microsoft.com/office/drawing/2014/main" id="{36ED0AEF-D106-0356-5736-13D821D59AA7}"/>
              </a:ext>
            </a:extLst>
          </p:cNvPr>
          <p:cNvPicPr>
            <a:picLocks noChangeAspect="1"/>
          </p:cNvPicPr>
          <p:nvPr/>
        </p:nvPicPr>
        <p:blipFill>
          <a:blip r:embed="rId7" cstate="print">
            <a:extLst>
              <a:ext uri="{BEBA8EAE-BF5A-486C-A8C5-ECC9F3942E4B}">
                <a14:imgProps xmlns:a14="http://schemas.microsoft.com/office/drawing/2010/main">
                  <a14:imgLayer r:embed="rId8">
                    <a14:imgEffect>
                      <a14:backgroundRemoval t="10000" b="90000" l="10000" r="90000">
                        <a14:backgroundMark x1="32855" y1="67544" x2="42584" y2="73206"/>
                        <a14:backgroundMark x1="42584" y1="73206" x2="36284" y2="69697"/>
                        <a14:backgroundMark x1="64035" y1="78947" x2="75518" y2="75598"/>
                        <a14:backgroundMark x1="75518" y1="75598" x2="66268" y2="79426"/>
                      </a14:backgroundRemoval>
                    </a14:imgEffect>
                  </a14:imgLayer>
                </a14:imgProps>
              </a:ext>
              <a:ext uri="{28A0092B-C50C-407E-A947-70E740481C1C}">
                <a14:useLocalDpi xmlns:a14="http://schemas.microsoft.com/office/drawing/2010/main" val="0"/>
              </a:ext>
            </a:extLst>
          </a:blip>
          <a:stretch>
            <a:fillRect/>
          </a:stretch>
        </p:blipFill>
        <p:spPr>
          <a:xfrm>
            <a:off x="10272464" y="3501008"/>
            <a:ext cx="544879" cy="544879"/>
          </a:xfrm>
          <a:prstGeom prst="rect">
            <a:avLst/>
          </a:prstGeom>
        </p:spPr>
      </p:pic>
      <p:pic>
        <p:nvPicPr>
          <p:cNvPr id="9" name="Picture 8">
            <a:extLst>
              <a:ext uri="{FF2B5EF4-FFF2-40B4-BE49-F238E27FC236}">
                <a16:creationId xmlns:a16="http://schemas.microsoft.com/office/drawing/2014/main" id="{A9C289DA-4343-1D3F-BFF1-C65BF9BA7006}"/>
              </a:ext>
            </a:extLst>
          </p:cNvPr>
          <p:cNvPicPr>
            <a:picLocks noChangeAspect="1"/>
          </p:cNvPicPr>
          <p:nvPr/>
        </p:nvPicPr>
        <p:blipFill>
          <a:blip r:embed="rId9" cstate="print">
            <a:extLst>
              <a:ext uri="{BEBA8EAE-BF5A-486C-A8C5-ECC9F3942E4B}">
                <a14:imgProps xmlns:a14="http://schemas.microsoft.com/office/drawing/2010/main">
                  <a14:imgLayer r:embed="rId10">
                    <a14:imgEffect>
                      <a14:backgroundRemoval t="9888" b="89872" l="8373" r="89872">
                        <a14:foregroundMark x1="26316" y1="31978" x2="20255" y2="35327"/>
                        <a14:foregroundMark x1="20255" y1="35327" x2="30702" y2="39394"/>
                        <a14:foregroundMark x1="30702" y1="39394" x2="25997" y2="30463"/>
                        <a14:foregroundMark x1="25997" y1="30463" x2="25997" y2="30463"/>
                        <a14:foregroundMark x1="36443" y1="18820" x2="25837" y2="23206"/>
                        <a14:foregroundMark x1="25837" y1="23206" x2="20973" y2="47129"/>
                        <a14:foregroundMark x1="20973" y1="47129" x2="45295" y2="41786"/>
                        <a14:foregroundMark x1="45295" y1="41786" x2="33652" y2="20016"/>
                        <a14:foregroundMark x1="33652" y1="20016" x2="24801" y2="17624"/>
                        <a14:foregroundMark x1="42185" y1="18262" x2="45614" y2="29187"/>
                        <a14:foregroundMark x1="45614" y1="29187" x2="56699" y2="22887"/>
                        <a14:foregroundMark x1="56699" y1="22887" x2="43222" y2="17703"/>
                        <a14:foregroundMark x1="43222" y1="17703" x2="39793" y2="17863"/>
                        <a14:foregroundMark x1="8692" y1="53110" x2="9171" y2="53429"/>
                        <a14:foregroundMark x1="8373" y1="30861" x2="8612" y2="43142"/>
                        <a14:backgroundMark x1="87959" y1="42584" x2="87480" y2="43700"/>
                        <a14:backgroundMark x1="88278" y1="51196" x2="88357" y2="52153"/>
                      </a14:backgroundRemoval>
                    </a14:imgEffect>
                  </a14:imgLayer>
                </a14:imgProps>
              </a:ext>
              <a:ext uri="{28A0092B-C50C-407E-A947-70E740481C1C}">
                <a14:useLocalDpi xmlns:a14="http://schemas.microsoft.com/office/drawing/2010/main" val="0"/>
              </a:ext>
            </a:extLst>
          </a:blip>
          <a:stretch>
            <a:fillRect/>
          </a:stretch>
        </p:blipFill>
        <p:spPr>
          <a:xfrm>
            <a:off x="10491181" y="4365104"/>
            <a:ext cx="452727" cy="452727"/>
          </a:xfrm>
          <a:prstGeom prst="rect">
            <a:avLst/>
          </a:prstGeom>
        </p:spPr>
      </p:pic>
      <p:pic>
        <p:nvPicPr>
          <p:cNvPr id="10" name="Picture 9">
            <a:extLst>
              <a:ext uri="{FF2B5EF4-FFF2-40B4-BE49-F238E27FC236}">
                <a16:creationId xmlns:a16="http://schemas.microsoft.com/office/drawing/2014/main" id="{05F9D938-B9E0-AFE2-74EB-827A63B37AFE}"/>
              </a:ext>
            </a:extLst>
          </p:cNvPr>
          <p:cNvPicPr>
            <a:picLocks noChangeAspect="1"/>
          </p:cNvPicPr>
          <p:nvPr/>
        </p:nvPicPr>
        <p:blipFill>
          <a:blip r:embed="rId11" cstate="print">
            <a:extLst>
              <a:ext uri="{BEBA8EAE-BF5A-486C-A8C5-ECC9F3942E4B}">
                <a14:imgProps xmlns:a14="http://schemas.microsoft.com/office/drawing/2010/main">
                  <a14:imgLayer r:embed="rId12">
                    <a14:imgEffect>
                      <a14:backgroundRemoval t="9888" b="89872" l="8373" r="89872">
                        <a14:foregroundMark x1="26316" y1="31978" x2="20255" y2="35327"/>
                        <a14:foregroundMark x1="20255" y1="35327" x2="30702" y2="39394"/>
                        <a14:foregroundMark x1="30702" y1="39394" x2="25997" y2="30463"/>
                        <a14:foregroundMark x1="25997" y1="30463" x2="25997" y2="30463"/>
                        <a14:foregroundMark x1="36443" y1="18820" x2="25837" y2="23206"/>
                        <a14:foregroundMark x1="25837" y1="23206" x2="20973" y2="47129"/>
                        <a14:foregroundMark x1="20973" y1="47129" x2="45295" y2="41786"/>
                        <a14:foregroundMark x1="45295" y1="41786" x2="33652" y2="20016"/>
                        <a14:foregroundMark x1="33652" y1="20016" x2="24801" y2="17624"/>
                        <a14:foregroundMark x1="42185" y1="18262" x2="45614" y2="29187"/>
                        <a14:foregroundMark x1="45614" y1="29187" x2="56699" y2="22887"/>
                        <a14:foregroundMark x1="56699" y1="22887" x2="43222" y2="17703"/>
                        <a14:foregroundMark x1="43222" y1="17703" x2="39793" y2="17863"/>
                        <a14:foregroundMark x1="8692" y1="53110" x2="9171" y2="53429"/>
                        <a14:foregroundMark x1="8373" y1="30861" x2="8612" y2="43142"/>
                        <a14:backgroundMark x1="87959" y1="42584" x2="87480" y2="43700"/>
                        <a14:backgroundMark x1="88278" y1="51196" x2="88357" y2="52153"/>
                      </a14:backgroundRemoval>
                    </a14:imgEffect>
                  </a14:imgLayer>
                </a14:imgProps>
              </a:ext>
              <a:ext uri="{28A0092B-C50C-407E-A947-70E740481C1C}">
                <a14:useLocalDpi xmlns:a14="http://schemas.microsoft.com/office/drawing/2010/main" val="0"/>
              </a:ext>
            </a:extLst>
          </a:blip>
          <a:stretch>
            <a:fillRect/>
          </a:stretch>
        </p:blipFill>
        <p:spPr>
          <a:xfrm flipH="1">
            <a:off x="8601898" y="3933056"/>
            <a:ext cx="544881" cy="544881"/>
          </a:xfrm>
          <a:prstGeom prst="rect">
            <a:avLst/>
          </a:prstGeom>
        </p:spPr>
      </p:pic>
      <p:pic>
        <p:nvPicPr>
          <p:cNvPr id="11" name="Picture 10">
            <a:extLst>
              <a:ext uri="{FF2B5EF4-FFF2-40B4-BE49-F238E27FC236}">
                <a16:creationId xmlns:a16="http://schemas.microsoft.com/office/drawing/2014/main" id="{0C124CBA-D5C8-1685-4946-30C433382BF6}"/>
              </a:ext>
            </a:extLst>
          </p:cNvPr>
          <p:cNvPicPr>
            <a:picLocks noChangeAspect="1"/>
          </p:cNvPicPr>
          <p:nvPr/>
        </p:nvPicPr>
        <p:blipFill>
          <a:blip r:embed="rId13" cstate="print">
            <a:extLst>
              <a:ext uri="{BEBA8EAE-BF5A-486C-A8C5-ECC9F3942E4B}">
                <a14:imgProps xmlns:a14="http://schemas.microsoft.com/office/drawing/2010/main">
                  <a14:imgLayer r:embed="rId14">
                    <a14:imgEffect>
                      <a14:backgroundRemoval t="10000" b="90000" l="10000" r="90000">
                        <a14:backgroundMark x1="32855" y1="67544" x2="42584" y2="73206"/>
                        <a14:backgroundMark x1="42584" y1="73206" x2="36284" y2="69697"/>
                        <a14:backgroundMark x1="64035" y1="78947" x2="75518" y2="75598"/>
                        <a14:backgroundMark x1="75518" y1="75598" x2="66268" y2="79426"/>
                      </a14:backgroundRemoval>
                    </a14:imgEffect>
                  </a14:imgLayer>
                </a14:imgProps>
              </a:ext>
              <a:ext uri="{28A0092B-C50C-407E-A947-70E740481C1C}">
                <a14:useLocalDpi xmlns:a14="http://schemas.microsoft.com/office/drawing/2010/main" val="0"/>
              </a:ext>
            </a:extLst>
          </a:blip>
          <a:stretch>
            <a:fillRect/>
          </a:stretch>
        </p:blipFill>
        <p:spPr>
          <a:xfrm flipH="1">
            <a:off x="10195201" y="4653404"/>
            <a:ext cx="622141" cy="622141"/>
          </a:xfrm>
          <a:prstGeom prst="rect">
            <a:avLst/>
          </a:prstGeom>
        </p:spPr>
      </p:pic>
      <p:pic>
        <p:nvPicPr>
          <p:cNvPr id="12" name="Picture 11">
            <a:extLst>
              <a:ext uri="{FF2B5EF4-FFF2-40B4-BE49-F238E27FC236}">
                <a16:creationId xmlns:a16="http://schemas.microsoft.com/office/drawing/2014/main" id="{CF1E5684-1AA5-121B-F003-19754977B8F2}"/>
              </a:ext>
            </a:extLst>
          </p:cNvPr>
          <p:cNvPicPr>
            <a:picLocks noChangeAspect="1"/>
          </p:cNvPicPr>
          <p:nvPr/>
        </p:nvPicPr>
        <p:blipFill>
          <a:blip r:embed="rId15" cstate="print">
            <a:extLst>
              <a:ext uri="{BEBA8EAE-BF5A-486C-A8C5-ECC9F3942E4B}">
                <a14:imgProps xmlns:a14="http://schemas.microsoft.com/office/drawing/2010/main">
                  <a14:imgLayer r:embed="rId16">
                    <a14:imgEffect>
                      <a14:backgroundRemoval t="10000" b="90000" l="10000" r="90000">
                        <a14:backgroundMark x1="32855" y1="67544" x2="42584" y2="73206"/>
                        <a14:backgroundMark x1="42584" y1="73206" x2="36284" y2="69697"/>
                        <a14:backgroundMark x1="64035" y1="78947" x2="75518" y2="75598"/>
                        <a14:backgroundMark x1="75518" y1="75598" x2="66268" y2="79426"/>
                      </a14:backgroundRemoval>
                    </a14:imgEffect>
                  </a14:imgLayer>
                </a14:imgProps>
              </a:ext>
              <a:ext uri="{28A0092B-C50C-407E-A947-70E740481C1C}">
                <a14:useLocalDpi xmlns:a14="http://schemas.microsoft.com/office/drawing/2010/main" val="0"/>
              </a:ext>
            </a:extLst>
          </a:blip>
          <a:stretch>
            <a:fillRect/>
          </a:stretch>
        </p:blipFill>
        <p:spPr>
          <a:xfrm>
            <a:off x="11396876" y="2656836"/>
            <a:ext cx="668972" cy="668972"/>
          </a:xfrm>
          <a:prstGeom prst="rect">
            <a:avLst/>
          </a:prstGeom>
        </p:spPr>
      </p:pic>
      <p:pic>
        <p:nvPicPr>
          <p:cNvPr id="14" name="Picture 13">
            <a:extLst>
              <a:ext uri="{FF2B5EF4-FFF2-40B4-BE49-F238E27FC236}">
                <a16:creationId xmlns:a16="http://schemas.microsoft.com/office/drawing/2014/main" id="{77FD1DD8-283B-7901-D2CD-063FFB608AF1}"/>
              </a:ext>
            </a:extLst>
          </p:cNvPr>
          <p:cNvPicPr>
            <a:picLocks noChangeAspect="1"/>
          </p:cNvPicPr>
          <p:nvPr/>
        </p:nvPicPr>
        <p:blipFill>
          <a:blip r:embed="rId17" cstate="print">
            <a:extLst>
              <a:ext uri="{BEBA8EAE-BF5A-486C-A8C5-ECC9F3942E4B}">
                <a14:imgProps xmlns:a14="http://schemas.microsoft.com/office/drawing/2010/main">
                  <a14:imgLayer r:embed="rId18">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8400256" y="2981208"/>
            <a:ext cx="458880" cy="458880"/>
          </a:xfrm>
          <a:prstGeom prst="rect">
            <a:avLst/>
          </a:prstGeom>
        </p:spPr>
      </p:pic>
      <p:pic>
        <p:nvPicPr>
          <p:cNvPr id="15" name="Picture 14">
            <a:extLst>
              <a:ext uri="{FF2B5EF4-FFF2-40B4-BE49-F238E27FC236}">
                <a16:creationId xmlns:a16="http://schemas.microsoft.com/office/drawing/2014/main" id="{B403BE20-E2FB-FBF2-731E-53EAFCAA27F1}"/>
              </a:ext>
            </a:extLst>
          </p:cNvPr>
          <p:cNvPicPr>
            <a:picLocks noChangeAspect="1"/>
          </p:cNvPicPr>
          <p:nvPr/>
        </p:nvPicPr>
        <p:blipFill>
          <a:blip r:embed="rId19" cstate="print">
            <a:extLst>
              <a:ext uri="{BEBA8EAE-BF5A-486C-A8C5-ECC9F3942E4B}">
                <a14:imgProps xmlns:a14="http://schemas.microsoft.com/office/drawing/2010/main">
                  <a14:imgLayer r:embed="rId20">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0195202" y="2184876"/>
            <a:ext cx="579141" cy="579141"/>
          </a:xfrm>
          <a:prstGeom prst="rect">
            <a:avLst/>
          </a:prstGeom>
        </p:spPr>
      </p:pic>
      <p:pic>
        <p:nvPicPr>
          <p:cNvPr id="16" name="Picture 15">
            <a:extLst>
              <a:ext uri="{FF2B5EF4-FFF2-40B4-BE49-F238E27FC236}">
                <a16:creationId xmlns:a16="http://schemas.microsoft.com/office/drawing/2014/main" id="{32E2A817-3D36-6B23-3660-BF354CBC25B3}"/>
              </a:ext>
            </a:extLst>
          </p:cNvPr>
          <p:cNvPicPr>
            <a:picLocks noChangeAspect="1"/>
          </p:cNvPicPr>
          <p:nvPr/>
        </p:nvPicPr>
        <p:blipFill>
          <a:blip r:embed="rId17" cstate="print">
            <a:extLst>
              <a:ext uri="{BEBA8EAE-BF5A-486C-A8C5-ECC9F3942E4B}">
                <a14:imgProps xmlns:a14="http://schemas.microsoft.com/office/drawing/2010/main">
                  <a14:imgLayer r:embed="rId18">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0413060" y="2453413"/>
            <a:ext cx="458880" cy="458880"/>
          </a:xfrm>
          <a:prstGeom prst="rect">
            <a:avLst/>
          </a:prstGeom>
        </p:spPr>
      </p:pic>
      <p:pic>
        <p:nvPicPr>
          <p:cNvPr id="17" name="Picture 16">
            <a:extLst>
              <a:ext uri="{FF2B5EF4-FFF2-40B4-BE49-F238E27FC236}">
                <a16:creationId xmlns:a16="http://schemas.microsoft.com/office/drawing/2014/main" id="{CBDF4AAE-B03B-BE4C-ABC6-72A8E20B4071}"/>
              </a:ext>
            </a:extLst>
          </p:cNvPr>
          <p:cNvPicPr>
            <a:picLocks noChangeAspect="1"/>
          </p:cNvPicPr>
          <p:nvPr/>
        </p:nvPicPr>
        <p:blipFill>
          <a:blip r:embed="rId21" cstate="print">
            <a:extLst>
              <a:ext uri="{BEBA8EAE-BF5A-486C-A8C5-ECC9F3942E4B}">
                <a14:imgProps xmlns:a14="http://schemas.microsoft.com/office/drawing/2010/main">
                  <a14:imgLayer r:embed="rId22">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9078742" y="4611880"/>
            <a:ext cx="639688" cy="639688"/>
          </a:xfrm>
          <a:prstGeom prst="rect">
            <a:avLst/>
          </a:prstGeom>
        </p:spPr>
      </p:pic>
      <p:pic>
        <p:nvPicPr>
          <p:cNvPr id="18" name="Picture 17">
            <a:extLst>
              <a:ext uri="{FF2B5EF4-FFF2-40B4-BE49-F238E27FC236}">
                <a16:creationId xmlns:a16="http://schemas.microsoft.com/office/drawing/2014/main" id="{882A1519-4943-6C17-7AA8-A63B9FDE53D7}"/>
              </a:ext>
            </a:extLst>
          </p:cNvPr>
          <p:cNvPicPr>
            <a:picLocks noChangeAspect="1"/>
          </p:cNvPicPr>
          <p:nvPr/>
        </p:nvPicPr>
        <p:blipFill>
          <a:blip r:embed="rId17" cstate="print">
            <a:extLst>
              <a:ext uri="{BEBA8EAE-BF5A-486C-A8C5-ECC9F3942E4B}">
                <a14:imgProps xmlns:a14="http://schemas.microsoft.com/office/drawing/2010/main">
                  <a14:imgLayer r:embed="rId18">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1467958" y="3501008"/>
            <a:ext cx="458880" cy="458880"/>
          </a:xfrm>
          <a:prstGeom prst="rect">
            <a:avLst/>
          </a:prstGeom>
        </p:spPr>
      </p:pic>
      <p:pic>
        <p:nvPicPr>
          <p:cNvPr id="19" name="Picture 18">
            <a:extLst>
              <a:ext uri="{FF2B5EF4-FFF2-40B4-BE49-F238E27FC236}">
                <a16:creationId xmlns:a16="http://schemas.microsoft.com/office/drawing/2014/main" id="{71C04378-CF1C-4685-4A2B-1E84E192E9B0}"/>
              </a:ext>
            </a:extLst>
          </p:cNvPr>
          <p:cNvPicPr>
            <a:picLocks noChangeAspect="1"/>
          </p:cNvPicPr>
          <p:nvPr/>
        </p:nvPicPr>
        <p:blipFill>
          <a:blip r:embed="rId23" cstate="print">
            <a:extLst>
              <a:ext uri="{BEBA8EAE-BF5A-486C-A8C5-ECC9F3942E4B}">
                <a14:imgProps xmlns:a14="http://schemas.microsoft.com/office/drawing/2010/main">
                  <a14:imgLayer r:embed="rId2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8232284" y="2184876"/>
            <a:ext cx="626852" cy="626852"/>
          </a:xfrm>
          <a:prstGeom prst="rect">
            <a:avLst/>
          </a:prstGeom>
        </p:spPr>
      </p:pic>
      <p:cxnSp>
        <p:nvCxnSpPr>
          <p:cNvPr id="24" name="Straight Arrow Connector 23">
            <a:extLst>
              <a:ext uri="{FF2B5EF4-FFF2-40B4-BE49-F238E27FC236}">
                <a16:creationId xmlns:a16="http://schemas.microsoft.com/office/drawing/2014/main" id="{4C15AC4A-4045-096F-13F8-0B3AC9C80852}"/>
              </a:ext>
            </a:extLst>
          </p:cNvPr>
          <p:cNvCxnSpPr>
            <a:cxnSpLocks/>
          </p:cNvCxnSpPr>
          <p:nvPr/>
        </p:nvCxnSpPr>
        <p:spPr>
          <a:xfrm>
            <a:off x="9718430" y="5251568"/>
            <a:ext cx="0" cy="576064"/>
          </a:xfrm>
          <a:prstGeom prst="straightConnector1">
            <a:avLst/>
          </a:prstGeom>
          <a:ln w="76200">
            <a:solidFill>
              <a:srgbClr val="49596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A5626C40-017C-3092-2F23-9AF9CAF711EF}"/>
              </a:ext>
            </a:extLst>
          </p:cNvPr>
          <p:cNvCxnSpPr>
            <a:cxnSpLocks/>
          </p:cNvCxnSpPr>
          <p:nvPr/>
        </p:nvCxnSpPr>
        <p:spPr>
          <a:xfrm>
            <a:off x="10416480" y="5251568"/>
            <a:ext cx="0" cy="576064"/>
          </a:xfrm>
          <a:prstGeom prst="straightConnector1">
            <a:avLst/>
          </a:prstGeom>
          <a:ln w="76200">
            <a:solidFill>
              <a:srgbClr val="49596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1BEA541-2D4A-1C61-500E-DB9DD6105C79}"/>
              </a:ext>
            </a:extLst>
          </p:cNvPr>
          <p:cNvCxnSpPr>
            <a:cxnSpLocks/>
          </p:cNvCxnSpPr>
          <p:nvPr/>
        </p:nvCxnSpPr>
        <p:spPr>
          <a:xfrm flipH="1" flipV="1">
            <a:off x="8716163" y="3382390"/>
            <a:ext cx="137525" cy="569155"/>
          </a:xfrm>
          <a:prstGeom prst="straightConnector1">
            <a:avLst/>
          </a:prstGeom>
          <a:ln w="28575">
            <a:solidFill>
              <a:srgbClr val="2387F3"/>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30C7558D-1CE4-19EF-9953-052189264ABD}"/>
              </a:ext>
            </a:extLst>
          </p:cNvPr>
          <p:cNvCxnSpPr>
            <a:cxnSpLocks/>
          </p:cNvCxnSpPr>
          <p:nvPr/>
        </p:nvCxnSpPr>
        <p:spPr>
          <a:xfrm flipH="1" flipV="1">
            <a:off x="8537221" y="2703170"/>
            <a:ext cx="83986" cy="340051"/>
          </a:xfrm>
          <a:prstGeom prst="straightConnector1">
            <a:avLst/>
          </a:prstGeom>
          <a:ln w="28575">
            <a:solidFill>
              <a:srgbClr val="2387F3"/>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5A5620AB-031B-118C-4C7D-7F0EFAB989D2}"/>
              </a:ext>
            </a:extLst>
          </p:cNvPr>
          <p:cNvCxnSpPr>
            <a:cxnSpLocks/>
          </p:cNvCxnSpPr>
          <p:nvPr/>
        </p:nvCxnSpPr>
        <p:spPr>
          <a:xfrm>
            <a:off x="8716163" y="2485379"/>
            <a:ext cx="537766" cy="12923"/>
          </a:xfrm>
          <a:prstGeom prst="straightConnector1">
            <a:avLst/>
          </a:prstGeom>
          <a:ln w="28575">
            <a:solidFill>
              <a:srgbClr val="2387F3"/>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DD4F77B-E730-6780-266E-1628C2646070}"/>
              </a:ext>
            </a:extLst>
          </p:cNvPr>
          <p:cNvCxnSpPr>
            <a:cxnSpLocks/>
          </p:cNvCxnSpPr>
          <p:nvPr/>
        </p:nvCxnSpPr>
        <p:spPr>
          <a:xfrm flipV="1">
            <a:off x="9520184" y="2028782"/>
            <a:ext cx="248224" cy="325827"/>
          </a:xfrm>
          <a:prstGeom prst="straightConnector1">
            <a:avLst/>
          </a:prstGeom>
          <a:ln w="28575">
            <a:solidFill>
              <a:srgbClr val="2387F3"/>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CE9DC102-FECD-A587-3840-8D494984D218}"/>
              </a:ext>
            </a:extLst>
          </p:cNvPr>
          <p:cNvCxnSpPr>
            <a:cxnSpLocks/>
          </p:cNvCxnSpPr>
          <p:nvPr/>
        </p:nvCxnSpPr>
        <p:spPr>
          <a:xfrm>
            <a:off x="9777697" y="2520704"/>
            <a:ext cx="537766" cy="12923"/>
          </a:xfrm>
          <a:prstGeom prst="straightConnector1">
            <a:avLst/>
          </a:prstGeom>
          <a:ln w="28575">
            <a:solidFill>
              <a:srgbClr val="2387F3"/>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EAF3621B-0720-FE1D-81A5-FE566B7992D3}"/>
              </a:ext>
            </a:extLst>
          </p:cNvPr>
          <p:cNvCxnSpPr>
            <a:cxnSpLocks/>
          </p:cNvCxnSpPr>
          <p:nvPr/>
        </p:nvCxnSpPr>
        <p:spPr>
          <a:xfrm flipH="1" flipV="1">
            <a:off x="9806061" y="2653443"/>
            <a:ext cx="689063" cy="3393"/>
          </a:xfrm>
          <a:prstGeom prst="straightConnector1">
            <a:avLst/>
          </a:prstGeom>
          <a:ln w="28575">
            <a:solidFill>
              <a:srgbClr val="2387F3"/>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EA8C062A-0C7C-EB5A-2CA0-B28C71F1B344}"/>
              </a:ext>
            </a:extLst>
          </p:cNvPr>
          <p:cNvCxnSpPr>
            <a:cxnSpLocks/>
          </p:cNvCxnSpPr>
          <p:nvPr/>
        </p:nvCxnSpPr>
        <p:spPr>
          <a:xfrm>
            <a:off x="9496846" y="2687862"/>
            <a:ext cx="280851" cy="584178"/>
          </a:xfrm>
          <a:prstGeom prst="straightConnector1">
            <a:avLst/>
          </a:prstGeom>
          <a:ln w="28575">
            <a:solidFill>
              <a:srgbClr val="2387F3"/>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7AE077CA-640B-0091-8C82-3F33C64ED081}"/>
              </a:ext>
            </a:extLst>
          </p:cNvPr>
          <p:cNvCxnSpPr>
            <a:cxnSpLocks/>
          </p:cNvCxnSpPr>
          <p:nvPr/>
        </p:nvCxnSpPr>
        <p:spPr>
          <a:xfrm flipV="1">
            <a:off x="10692044" y="3352732"/>
            <a:ext cx="179896" cy="328769"/>
          </a:xfrm>
          <a:prstGeom prst="straightConnector1">
            <a:avLst/>
          </a:prstGeom>
          <a:ln w="28575">
            <a:solidFill>
              <a:srgbClr val="EF780B"/>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EE19B0A9-FEF4-95B4-C2F5-A024F4B1F98E}"/>
              </a:ext>
            </a:extLst>
          </p:cNvPr>
          <p:cNvCxnSpPr>
            <a:cxnSpLocks/>
          </p:cNvCxnSpPr>
          <p:nvPr/>
        </p:nvCxnSpPr>
        <p:spPr>
          <a:xfrm>
            <a:off x="11137666" y="3210648"/>
            <a:ext cx="472939" cy="362368"/>
          </a:xfrm>
          <a:prstGeom prst="straightConnector1">
            <a:avLst/>
          </a:prstGeom>
          <a:ln w="28575">
            <a:solidFill>
              <a:srgbClr val="EF780B"/>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361776EA-3604-38D2-1D89-2B12C97582D4}"/>
              </a:ext>
            </a:extLst>
          </p:cNvPr>
          <p:cNvCxnSpPr>
            <a:cxnSpLocks/>
          </p:cNvCxnSpPr>
          <p:nvPr/>
        </p:nvCxnSpPr>
        <p:spPr>
          <a:xfrm flipH="1" flipV="1">
            <a:off x="11131150" y="3325808"/>
            <a:ext cx="405128" cy="305828"/>
          </a:xfrm>
          <a:prstGeom prst="straightConnector1">
            <a:avLst/>
          </a:prstGeom>
          <a:ln w="28575">
            <a:solidFill>
              <a:srgbClr val="EF780B"/>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59FFA3D8-AD40-B0DE-59CB-193D7EC5FD73}"/>
              </a:ext>
            </a:extLst>
          </p:cNvPr>
          <p:cNvCxnSpPr>
            <a:cxnSpLocks/>
          </p:cNvCxnSpPr>
          <p:nvPr/>
        </p:nvCxnSpPr>
        <p:spPr>
          <a:xfrm flipH="1">
            <a:off x="10020436" y="3148300"/>
            <a:ext cx="753907" cy="243532"/>
          </a:xfrm>
          <a:prstGeom prst="straightConnector1">
            <a:avLst/>
          </a:prstGeom>
          <a:ln w="28575">
            <a:solidFill>
              <a:srgbClr val="EF780B"/>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4E392B6D-41F9-CEE0-226C-BD7FC5636E14}"/>
              </a:ext>
            </a:extLst>
          </p:cNvPr>
          <p:cNvCxnSpPr>
            <a:cxnSpLocks/>
          </p:cNvCxnSpPr>
          <p:nvPr/>
        </p:nvCxnSpPr>
        <p:spPr>
          <a:xfrm flipH="1">
            <a:off x="9153295" y="3573016"/>
            <a:ext cx="523151" cy="448481"/>
          </a:xfrm>
          <a:prstGeom prst="straightConnector1">
            <a:avLst/>
          </a:prstGeom>
          <a:ln w="28575">
            <a:solidFill>
              <a:srgbClr val="EF780B"/>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0D6DF591-E556-5CEF-012A-C72D97EDDAB2}"/>
              </a:ext>
            </a:extLst>
          </p:cNvPr>
          <p:cNvCxnSpPr>
            <a:cxnSpLocks/>
          </p:cNvCxnSpPr>
          <p:nvPr/>
        </p:nvCxnSpPr>
        <p:spPr>
          <a:xfrm flipH="1" flipV="1">
            <a:off x="8112224" y="3681501"/>
            <a:ext cx="603939" cy="427694"/>
          </a:xfrm>
          <a:prstGeom prst="straightConnector1">
            <a:avLst/>
          </a:prstGeom>
          <a:ln w="28575">
            <a:solidFill>
              <a:srgbClr val="EF780B"/>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1B058311-37A9-806A-9F4D-EDBA43A76F3A}"/>
              </a:ext>
            </a:extLst>
          </p:cNvPr>
          <p:cNvCxnSpPr>
            <a:cxnSpLocks/>
          </p:cNvCxnSpPr>
          <p:nvPr/>
        </p:nvCxnSpPr>
        <p:spPr>
          <a:xfrm flipH="1" flipV="1">
            <a:off x="9541234" y="5050394"/>
            <a:ext cx="377626" cy="213847"/>
          </a:xfrm>
          <a:prstGeom prst="straightConnector1">
            <a:avLst/>
          </a:prstGeom>
          <a:ln w="28575">
            <a:solidFill>
              <a:srgbClr val="EF780B"/>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0AE50ACF-228C-00F2-23E2-5040BC8F7913}"/>
              </a:ext>
            </a:extLst>
          </p:cNvPr>
          <p:cNvCxnSpPr>
            <a:cxnSpLocks/>
          </p:cNvCxnSpPr>
          <p:nvPr/>
        </p:nvCxnSpPr>
        <p:spPr>
          <a:xfrm flipH="1">
            <a:off x="10109176" y="5086082"/>
            <a:ext cx="168659" cy="155106"/>
          </a:xfrm>
          <a:prstGeom prst="straightConnector1">
            <a:avLst/>
          </a:prstGeom>
          <a:ln w="28575">
            <a:solidFill>
              <a:srgbClr val="EF780B"/>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ED4169DB-9272-BC7F-8B2B-06B51D1B82A4}"/>
              </a:ext>
            </a:extLst>
          </p:cNvPr>
          <p:cNvCxnSpPr>
            <a:cxnSpLocks/>
          </p:cNvCxnSpPr>
          <p:nvPr/>
        </p:nvCxnSpPr>
        <p:spPr>
          <a:xfrm flipV="1">
            <a:off x="9541234" y="4582240"/>
            <a:ext cx="184294" cy="165927"/>
          </a:xfrm>
          <a:prstGeom prst="straightConnector1">
            <a:avLst/>
          </a:prstGeom>
          <a:ln w="28575">
            <a:solidFill>
              <a:srgbClr val="EF780B"/>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76" name="Picture 75">
            <a:extLst>
              <a:ext uri="{FF2B5EF4-FFF2-40B4-BE49-F238E27FC236}">
                <a16:creationId xmlns:a16="http://schemas.microsoft.com/office/drawing/2014/main" id="{99726F29-3AA2-267C-EB78-3DAC78B7AEA2}"/>
              </a:ext>
            </a:extLst>
          </p:cNvPr>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8230936" y="5876103"/>
            <a:ext cx="1370054" cy="1028135"/>
          </a:xfrm>
          <a:prstGeom prst="rect">
            <a:avLst/>
          </a:prstGeom>
        </p:spPr>
      </p:pic>
      <p:pic>
        <p:nvPicPr>
          <p:cNvPr id="77" name="Picture 76">
            <a:extLst>
              <a:ext uri="{FF2B5EF4-FFF2-40B4-BE49-F238E27FC236}">
                <a16:creationId xmlns:a16="http://schemas.microsoft.com/office/drawing/2014/main" id="{021EE7DF-27F1-D7A1-1C43-B1A439076818}"/>
              </a:ext>
            </a:extLst>
          </p:cNvPr>
          <p:cNvPicPr>
            <a:picLocks noChangeAspect="1"/>
          </p:cNvPicPr>
          <p:nvPr/>
        </p:nvPicPr>
        <p:blipFill>
          <a:blip r:embed="rId26" cstate="print">
            <a:extLst>
              <a:ext uri="{28A0092B-C50C-407E-A947-70E740481C1C}">
                <a14:useLocalDpi xmlns:a14="http://schemas.microsoft.com/office/drawing/2010/main" val="0"/>
              </a:ext>
            </a:extLst>
          </a:blip>
          <a:stretch>
            <a:fillRect/>
          </a:stretch>
        </p:blipFill>
        <p:spPr>
          <a:xfrm>
            <a:off x="10486586" y="5903679"/>
            <a:ext cx="1370054" cy="1028135"/>
          </a:xfrm>
          <a:prstGeom prst="rect">
            <a:avLst/>
          </a:prstGeom>
        </p:spPr>
      </p:pic>
    </p:spTree>
    <p:extLst>
      <p:ext uri="{BB962C8B-B14F-4D97-AF65-F5344CB8AC3E}">
        <p14:creationId xmlns:p14="http://schemas.microsoft.com/office/powerpoint/2010/main" val="225874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250"/>
                                  </p:stCondLst>
                                  <p:childTnLst>
                                    <p:set>
                                      <p:cBhvr>
                                        <p:cTn id="15" dur="1" fill="hold">
                                          <p:stCondLst>
                                            <p:cond delay="0"/>
                                          </p:stCondLst>
                                        </p:cTn>
                                        <p:tgtEl>
                                          <p:spTgt spid="7"/>
                                        </p:tgtEl>
                                        <p:attrNameLst>
                                          <p:attrName>style.visibility</p:attrName>
                                        </p:attrNameLst>
                                      </p:cBhvr>
                                      <p:to>
                                        <p:strVal val="visible"/>
                                      </p:to>
                                    </p:set>
                                  </p:childTnLst>
                                </p:cTn>
                              </p:par>
                            </p:childTnLst>
                          </p:cTn>
                        </p:par>
                        <p:par>
                          <p:cTn id="16" fill="hold">
                            <p:stCondLst>
                              <p:cond delay="250"/>
                            </p:stCondLst>
                            <p:childTnLst>
                              <p:par>
                                <p:cTn id="17" presetID="1" presetClass="entr" presetSubtype="0" fill="hold" nodeType="afterEffect">
                                  <p:stCondLst>
                                    <p:cond delay="250"/>
                                  </p:stCondLst>
                                  <p:childTnLst>
                                    <p:set>
                                      <p:cBhvr>
                                        <p:cTn id="18" dur="1" fill="hold">
                                          <p:stCondLst>
                                            <p:cond delay="0"/>
                                          </p:stCondLst>
                                        </p:cTn>
                                        <p:tgtEl>
                                          <p:spTgt spid="8"/>
                                        </p:tgtEl>
                                        <p:attrNameLst>
                                          <p:attrName>style.visibility</p:attrName>
                                        </p:attrNameLst>
                                      </p:cBhvr>
                                      <p:to>
                                        <p:strVal val="visible"/>
                                      </p:to>
                                    </p:set>
                                  </p:childTnLst>
                                </p:cTn>
                              </p:par>
                            </p:childTnLst>
                          </p:cTn>
                        </p:par>
                        <p:par>
                          <p:cTn id="19" fill="hold">
                            <p:stCondLst>
                              <p:cond delay="500"/>
                            </p:stCondLst>
                            <p:childTnLst>
                              <p:par>
                                <p:cTn id="20" presetID="1" presetClass="entr" presetSubtype="0" fill="hold" nodeType="afterEffect">
                                  <p:stCondLst>
                                    <p:cond delay="250"/>
                                  </p:stCondLst>
                                  <p:childTnLst>
                                    <p:set>
                                      <p:cBhvr>
                                        <p:cTn id="21" dur="1" fill="hold">
                                          <p:stCondLst>
                                            <p:cond delay="0"/>
                                          </p:stCondLst>
                                        </p:cTn>
                                        <p:tgtEl>
                                          <p:spTgt spid="10"/>
                                        </p:tgtEl>
                                        <p:attrNameLst>
                                          <p:attrName>style.visibility</p:attrName>
                                        </p:attrNameLst>
                                      </p:cBhvr>
                                      <p:to>
                                        <p:strVal val="visible"/>
                                      </p:to>
                                    </p:set>
                                  </p:childTnLst>
                                </p:cTn>
                              </p:par>
                            </p:childTnLst>
                          </p:cTn>
                        </p:par>
                        <p:par>
                          <p:cTn id="22" fill="hold">
                            <p:stCondLst>
                              <p:cond delay="750"/>
                            </p:stCondLst>
                            <p:childTnLst>
                              <p:par>
                                <p:cTn id="23" presetID="1" presetClass="entr" presetSubtype="0" fill="hold" nodeType="afterEffect">
                                  <p:stCondLst>
                                    <p:cond delay="250"/>
                                  </p:stCondLst>
                                  <p:childTnLst>
                                    <p:set>
                                      <p:cBhvr>
                                        <p:cTn id="24" dur="1" fill="hold">
                                          <p:stCondLst>
                                            <p:cond delay="0"/>
                                          </p:stCondLst>
                                        </p:cTn>
                                        <p:tgtEl>
                                          <p:spTgt spid="11"/>
                                        </p:tgtEl>
                                        <p:attrNameLst>
                                          <p:attrName>style.visibility</p:attrName>
                                        </p:attrNameLst>
                                      </p:cBhvr>
                                      <p:to>
                                        <p:strVal val="visible"/>
                                      </p:to>
                                    </p:set>
                                  </p:childTnLst>
                                </p:cTn>
                              </p:par>
                            </p:childTnLst>
                          </p:cTn>
                        </p:par>
                        <p:par>
                          <p:cTn id="25" fill="hold">
                            <p:stCondLst>
                              <p:cond delay="1000"/>
                            </p:stCondLst>
                            <p:childTnLst>
                              <p:par>
                                <p:cTn id="26" presetID="1" presetClass="entr" presetSubtype="0" fill="hold" nodeType="afterEffect">
                                  <p:stCondLst>
                                    <p:cond delay="250"/>
                                  </p:stCondLst>
                                  <p:childTnLst>
                                    <p:set>
                                      <p:cBhvr>
                                        <p:cTn id="27" dur="1" fill="hold">
                                          <p:stCondLst>
                                            <p:cond delay="0"/>
                                          </p:stCondLst>
                                        </p:cTn>
                                        <p:tgtEl>
                                          <p:spTgt spid="9"/>
                                        </p:tgtEl>
                                        <p:attrNameLst>
                                          <p:attrName>style.visibility</p:attrName>
                                        </p:attrNameLst>
                                      </p:cBhvr>
                                      <p:to>
                                        <p:strVal val="visible"/>
                                      </p:to>
                                    </p:set>
                                  </p:childTnLst>
                                </p:cTn>
                              </p:par>
                            </p:childTnLst>
                          </p:cTn>
                        </p:par>
                        <p:par>
                          <p:cTn id="28" fill="hold">
                            <p:stCondLst>
                              <p:cond delay="1250"/>
                            </p:stCondLst>
                            <p:childTnLst>
                              <p:par>
                                <p:cTn id="29" presetID="1" presetClass="entr" presetSubtype="0" fill="hold" nodeType="afterEffect">
                                  <p:stCondLst>
                                    <p:cond delay="25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nodeType="afterEffect">
                                  <p:stCondLst>
                                    <p:cond delay="250"/>
                                  </p:stCondLst>
                                  <p:childTnLst>
                                    <p:set>
                                      <p:cBhvr>
                                        <p:cTn id="37" dur="1" fill="hold">
                                          <p:stCondLst>
                                            <p:cond delay="0"/>
                                          </p:stCondLst>
                                        </p:cTn>
                                        <p:tgtEl>
                                          <p:spTgt spid="19"/>
                                        </p:tgtEl>
                                        <p:attrNameLst>
                                          <p:attrName>style.visibility</p:attrName>
                                        </p:attrNameLst>
                                      </p:cBhvr>
                                      <p:to>
                                        <p:strVal val="visible"/>
                                      </p:to>
                                    </p:set>
                                  </p:childTnLst>
                                </p:cTn>
                              </p:par>
                            </p:childTnLst>
                          </p:cTn>
                        </p:par>
                        <p:par>
                          <p:cTn id="38" fill="hold">
                            <p:stCondLst>
                              <p:cond delay="250"/>
                            </p:stCondLst>
                            <p:childTnLst>
                              <p:par>
                                <p:cTn id="39" presetID="1" presetClass="entr" presetSubtype="0" fill="hold" nodeType="afterEffect">
                                  <p:stCondLst>
                                    <p:cond delay="250"/>
                                  </p:stCondLst>
                                  <p:childTnLst>
                                    <p:set>
                                      <p:cBhvr>
                                        <p:cTn id="40" dur="1" fill="hold">
                                          <p:stCondLst>
                                            <p:cond delay="0"/>
                                          </p:stCondLst>
                                        </p:cTn>
                                        <p:tgtEl>
                                          <p:spTgt spid="18"/>
                                        </p:tgtEl>
                                        <p:attrNameLst>
                                          <p:attrName>style.visibility</p:attrName>
                                        </p:attrNameLst>
                                      </p:cBhvr>
                                      <p:to>
                                        <p:strVal val="visible"/>
                                      </p:to>
                                    </p:set>
                                  </p:childTnLst>
                                </p:cTn>
                              </p:par>
                            </p:childTnLst>
                          </p:cTn>
                        </p:par>
                        <p:par>
                          <p:cTn id="41" fill="hold">
                            <p:stCondLst>
                              <p:cond delay="500"/>
                            </p:stCondLst>
                            <p:childTnLst>
                              <p:par>
                                <p:cTn id="42" presetID="1" presetClass="entr" presetSubtype="0" fill="hold" nodeType="afterEffect">
                                  <p:stCondLst>
                                    <p:cond delay="250"/>
                                  </p:stCondLst>
                                  <p:childTnLst>
                                    <p:set>
                                      <p:cBhvr>
                                        <p:cTn id="43" dur="1" fill="hold">
                                          <p:stCondLst>
                                            <p:cond delay="0"/>
                                          </p:stCondLst>
                                        </p:cTn>
                                        <p:tgtEl>
                                          <p:spTgt spid="16"/>
                                        </p:tgtEl>
                                        <p:attrNameLst>
                                          <p:attrName>style.visibility</p:attrName>
                                        </p:attrNameLst>
                                      </p:cBhvr>
                                      <p:to>
                                        <p:strVal val="visible"/>
                                      </p:to>
                                    </p:set>
                                  </p:childTnLst>
                                </p:cTn>
                              </p:par>
                            </p:childTnLst>
                          </p:cTn>
                        </p:par>
                        <p:par>
                          <p:cTn id="44" fill="hold">
                            <p:stCondLst>
                              <p:cond delay="750"/>
                            </p:stCondLst>
                            <p:childTnLst>
                              <p:par>
                                <p:cTn id="45" presetID="1" presetClass="entr" presetSubtype="0" fill="hold" nodeType="afterEffect">
                                  <p:stCondLst>
                                    <p:cond delay="250"/>
                                  </p:stCondLst>
                                  <p:childTnLst>
                                    <p:set>
                                      <p:cBhvr>
                                        <p:cTn id="46" dur="1" fill="hold">
                                          <p:stCondLst>
                                            <p:cond delay="0"/>
                                          </p:stCondLst>
                                        </p:cTn>
                                        <p:tgtEl>
                                          <p:spTgt spid="14"/>
                                        </p:tgtEl>
                                        <p:attrNameLst>
                                          <p:attrName>style.visibility</p:attrName>
                                        </p:attrNameLst>
                                      </p:cBhvr>
                                      <p:to>
                                        <p:strVal val="visible"/>
                                      </p:to>
                                    </p:set>
                                  </p:childTnLst>
                                </p:cTn>
                              </p:par>
                            </p:childTnLst>
                          </p:cTn>
                        </p:par>
                        <p:par>
                          <p:cTn id="47" fill="hold">
                            <p:stCondLst>
                              <p:cond delay="1000"/>
                            </p:stCondLst>
                            <p:childTnLst>
                              <p:par>
                                <p:cTn id="48" presetID="1" presetClass="entr" presetSubtype="0" fill="hold" nodeType="afterEffect">
                                  <p:stCondLst>
                                    <p:cond delay="250"/>
                                  </p:stCondLst>
                                  <p:childTnLst>
                                    <p:set>
                                      <p:cBhvr>
                                        <p:cTn id="49" dur="1" fill="hold">
                                          <p:stCondLst>
                                            <p:cond delay="0"/>
                                          </p:stCondLst>
                                        </p:cTn>
                                        <p:tgtEl>
                                          <p:spTgt spid="15"/>
                                        </p:tgtEl>
                                        <p:attrNameLst>
                                          <p:attrName>style.visibility</p:attrName>
                                        </p:attrNameLst>
                                      </p:cBhvr>
                                      <p:to>
                                        <p:strVal val="visible"/>
                                      </p:to>
                                    </p:set>
                                  </p:childTnLst>
                                </p:cTn>
                              </p:par>
                            </p:childTnLst>
                          </p:cTn>
                        </p:par>
                        <p:par>
                          <p:cTn id="50" fill="hold">
                            <p:stCondLst>
                              <p:cond delay="1250"/>
                            </p:stCondLst>
                            <p:childTnLst>
                              <p:par>
                                <p:cTn id="51" presetID="1" presetClass="entr" presetSubtype="0" fill="hold" nodeType="afterEffect">
                                  <p:stCondLst>
                                    <p:cond delay="250"/>
                                  </p:stCondLst>
                                  <p:childTnLst>
                                    <p:set>
                                      <p:cBhvr>
                                        <p:cTn id="52" dur="1" fill="hold">
                                          <p:stCondLst>
                                            <p:cond delay="0"/>
                                          </p:stCondLst>
                                        </p:cTn>
                                        <p:tgtEl>
                                          <p:spTgt spid="1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
                                            <p:txEl>
                                              <p:pRg st="7" end="7"/>
                                            </p:txEl>
                                          </p:spTgt>
                                        </p:tgtEl>
                                        <p:attrNameLst>
                                          <p:attrName>style.visibility</p:attrName>
                                        </p:attrNameLst>
                                      </p:cBhvr>
                                      <p:to>
                                        <p:strVal val="visible"/>
                                      </p:to>
                                    </p:set>
                                  </p:childTnLst>
                                </p:cTn>
                              </p:par>
                            </p:childTnLst>
                          </p:cTn>
                        </p:par>
                        <p:par>
                          <p:cTn id="57" fill="hold">
                            <p:stCondLst>
                              <p:cond delay="0"/>
                            </p:stCondLst>
                            <p:childTnLst>
                              <p:par>
                                <p:cTn id="58" presetID="1" presetClass="entr" presetSubtype="0" fill="hold" nodeType="afterEffect">
                                  <p:stCondLst>
                                    <p:cond delay="0"/>
                                  </p:stCondLst>
                                  <p:childTnLst>
                                    <p:set>
                                      <p:cBhvr>
                                        <p:cTn id="59" dur="1" fill="hold">
                                          <p:stCondLst>
                                            <p:cond delay="0"/>
                                          </p:stCondLst>
                                        </p:cTn>
                                        <p:tgtEl>
                                          <p:spTgt spid="24"/>
                                        </p:tgtEl>
                                        <p:attrNameLst>
                                          <p:attrName>style.visibility</p:attrName>
                                        </p:attrNameLst>
                                      </p:cBhvr>
                                      <p:to>
                                        <p:strVal val="visible"/>
                                      </p:to>
                                    </p:set>
                                  </p:childTnLst>
                                </p:cTn>
                              </p:par>
                            </p:childTnLst>
                          </p:cTn>
                        </p:par>
                        <p:par>
                          <p:cTn id="60" fill="hold">
                            <p:stCondLst>
                              <p:cond delay="0"/>
                            </p:stCondLst>
                            <p:childTnLst>
                              <p:par>
                                <p:cTn id="61" presetID="1" presetClass="entr" presetSubtype="0" fill="hold" nodeType="afterEffect">
                                  <p:stCondLst>
                                    <p:cond delay="250"/>
                                  </p:stCondLst>
                                  <p:childTnLst>
                                    <p:set>
                                      <p:cBhvr>
                                        <p:cTn id="62" dur="1" fill="hold">
                                          <p:stCondLst>
                                            <p:cond delay="0"/>
                                          </p:stCondLst>
                                        </p:cTn>
                                        <p:tgtEl>
                                          <p:spTgt spid="2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8" end="8"/>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
                                            <p:txEl>
                                              <p:pRg st="9" end="9"/>
                                            </p:tx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
                                            <p:txEl>
                                              <p:pRg st="10" end="10"/>
                                            </p:txEl>
                                          </p:spTgt>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76"/>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7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6"/>
                                        </p:tgtEl>
                                        <p:attrNameLst>
                                          <p:attrName>style.visibility</p:attrName>
                                        </p:attrNameLst>
                                      </p:cBhvr>
                                      <p:to>
                                        <p:strVal val="visible"/>
                                      </p:to>
                                    </p:set>
                                  </p:childTnLst>
                                </p:cTn>
                              </p:par>
                            </p:childTnLst>
                          </p:cTn>
                        </p:par>
                        <p:par>
                          <p:cTn id="79" fill="hold">
                            <p:stCondLst>
                              <p:cond delay="0"/>
                            </p:stCondLst>
                            <p:childTnLst>
                              <p:par>
                                <p:cTn id="80" presetID="1" presetClass="entr" presetSubtype="0" fill="hold" nodeType="afterEffect">
                                  <p:stCondLst>
                                    <p:cond delay="100"/>
                                  </p:stCondLst>
                                  <p:childTnLst>
                                    <p:set>
                                      <p:cBhvr>
                                        <p:cTn id="81" dur="1" fill="hold">
                                          <p:stCondLst>
                                            <p:cond delay="0"/>
                                          </p:stCondLst>
                                        </p:cTn>
                                        <p:tgtEl>
                                          <p:spTgt spid="30"/>
                                        </p:tgtEl>
                                        <p:attrNameLst>
                                          <p:attrName>style.visibility</p:attrName>
                                        </p:attrNameLst>
                                      </p:cBhvr>
                                      <p:to>
                                        <p:strVal val="visible"/>
                                      </p:to>
                                    </p:set>
                                  </p:childTnLst>
                                </p:cTn>
                              </p:par>
                            </p:childTnLst>
                          </p:cTn>
                        </p:par>
                        <p:par>
                          <p:cTn id="82" fill="hold">
                            <p:stCondLst>
                              <p:cond delay="100"/>
                            </p:stCondLst>
                            <p:childTnLst>
                              <p:par>
                                <p:cTn id="83" presetID="1" presetClass="entr" presetSubtype="0" fill="hold" nodeType="afterEffect">
                                  <p:stCondLst>
                                    <p:cond delay="100"/>
                                  </p:stCondLst>
                                  <p:childTnLst>
                                    <p:set>
                                      <p:cBhvr>
                                        <p:cTn id="84" dur="1" fill="hold">
                                          <p:stCondLst>
                                            <p:cond delay="0"/>
                                          </p:stCondLst>
                                        </p:cTn>
                                        <p:tgtEl>
                                          <p:spTgt spid="50"/>
                                        </p:tgtEl>
                                        <p:attrNameLst>
                                          <p:attrName>style.visibility</p:attrName>
                                        </p:attrNameLst>
                                      </p:cBhvr>
                                      <p:to>
                                        <p:strVal val="visible"/>
                                      </p:to>
                                    </p:set>
                                  </p:childTnLst>
                                </p:cTn>
                              </p:par>
                            </p:childTnLst>
                          </p:cTn>
                        </p:par>
                        <p:par>
                          <p:cTn id="85" fill="hold">
                            <p:stCondLst>
                              <p:cond delay="200"/>
                            </p:stCondLst>
                            <p:childTnLst>
                              <p:par>
                                <p:cTn id="86" presetID="1" presetClass="entr" presetSubtype="0" fill="hold" nodeType="afterEffect">
                                  <p:stCondLst>
                                    <p:cond delay="100"/>
                                  </p:stCondLst>
                                  <p:childTnLst>
                                    <p:set>
                                      <p:cBhvr>
                                        <p:cTn id="87" dur="1" fill="hold">
                                          <p:stCondLst>
                                            <p:cond delay="0"/>
                                          </p:stCondLst>
                                        </p:cTn>
                                        <p:tgtEl>
                                          <p:spTgt spid="33"/>
                                        </p:tgtEl>
                                        <p:attrNameLst>
                                          <p:attrName>style.visibility</p:attrName>
                                        </p:attrNameLst>
                                      </p:cBhvr>
                                      <p:to>
                                        <p:strVal val="visible"/>
                                      </p:to>
                                    </p:set>
                                  </p:childTnLst>
                                </p:cTn>
                              </p:par>
                            </p:childTnLst>
                          </p:cTn>
                        </p:par>
                        <p:par>
                          <p:cTn id="88" fill="hold">
                            <p:stCondLst>
                              <p:cond delay="300"/>
                            </p:stCondLst>
                            <p:childTnLst>
                              <p:par>
                                <p:cTn id="89" presetID="1" presetClass="entr" presetSubtype="0" fill="hold" nodeType="afterEffect">
                                  <p:stCondLst>
                                    <p:cond delay="100"/>
                                  </p:stCondLst>
                                  <p:childTnLst>
                                    <p:set>
                                      <p:cBhvr>
                                        <p:cTn id="90" dur="1" fill="hold">
                                          <p:stCondLst>
                                            <p:cond delay="0"/>
                                          </p:stCondLst>
                                        </p:cTn>
                                        <p:tgtEl>
                                          <p:spTgt spid="36"/>
                                        </p:tgtEl>
                                        <p:attrNameLst>
                                          <p:attrName>style.visibility</p:attrName>
                                        </p:attrNameLst>
                                      </p:cBhvr>
                                      <p:to>
                                        <p:strVal val="visible"/>
                                      </p:to>
                                    </p:set>
                                  </p:childTnLst>
                                </p:cTn>
                              </p:par>
                            </p:childTnLst>
                          </p:cTn>
                        </p:par>
                        <p:par>
                          <p:cTn id="91" fill="hold">
                            <p:stCondLst>
                              <p:cond delay="400"/>
                            </p:stCondLst>
                            <p:childTnLst>
                              <p:par>
                                <p:cTn id="92" presetID="1" presetClass="entr" presetSubtype="0" fill="hold" nodeType="afterEffect">
                                  <p:stCondLst>
                                    <p:cond delay="100"/>
                                  </p:stCondLst>
                                  <p:childTnLst>
                                    <p:set>
                                      <p:cBhvr>
                                        <p:cTn id="93" dur="1" fill="hold">
                                          <p:stCondLst>
                                            <p:cond delay="0"/>
                                          </p:stCondLst>
                                        </p:cTn>
                                        <p:tgtEl>
                                          <p:spTgt spid="53"/>
                                        </p:tgtEl>
                                        <p:attrNameLst>
                                          <p:attrName>style.visibility</p:attrName>
                                        </p:attrNameLst>
                                      </p:cBhvr>
                                      <p:to>
                                        <p:strVal val="visible"/>
                                      </p:to>
                                    </p:set>
                                  </p:childTnLst>
                                </p:cTn>
                              </p:par>
                            </p:childTnLst>
                          </p:cTn>
                        </p:par>
                        <p:par>
                          <p:cTn id="94" fill="hold">
                            <p:stCondLst>
                              <p:cond delay="500"/>
                            </p:stCondLst>
                            <p:childTnLst>
                              <p:par>
                                <p:cTn id="95" presetID="1" presetClass="entr" presetSubtype="0" fill="hold" nodeType="afterEffect">
                                  <p:stCondLst>
                                    <p:cond delay="100"/>
                                  </p:stCondLst>
                                  <p:childTnLst>
                                    <p:set>
                                      <p:cBhvr>
                                        <p:cTn id="96" dur="1" fill="hold">
                                          <p:stCondLst>
                                            <p:cond delay="0"/>
                                          </p:stCondLst>
                                        </p:cTn>
                                        <p:tgtEl>
                                          <p:spTgt spid="39"/>
                                        </p:tgtEl>
                                        <p:attrNameLst>
                                          <p:attrName>style.visibility</p:attrName>
                                        </p:attrNameLst>
                                      </p:cBhvr>
                                      <p:to>
                                        <p:strVal val="visible"/>
                                      </p:to>
                                    </p:set>
                                  </p:childTnLst>
                                </p:cTn>
                              </p:par>
                            </p:childTnLst>
                          </p:cTn>
                        </p:par>
                        <p:par>
                          <p:cTn id="97" fill="hold">
                            <p:stCondLst>
                              <p:cond delay="600"/>
                            </p:stCondLst>
                            <p:childTnLst>
                              <p:par>
                                <p:cTn id="98" presetID="1" presetClass="entr" presetSubtype="0" fill="hold" nodeType="afterEffect">
                                  <p:stCondLst>
                                    <p:cond delay="100"/>
                                  </p:stCondLst>
                                  <p:childTnLst>
                                    <p:set>
                                      <p:cBhvr>
                                        <p:cTn id="99" dur="1" fill="hold">
                                          <p:stCondLst>
                                            <p:cond delay="0"/>
                                          </p:stCondLst>
                                        </p:cTn>
                                        <p:tgtEl>
                                          <p:spTgt spid="44"/>
                                        </p:tgtEl>
                                        <p:attrNameLst>
                                          <p:attrName>style.visibility</p:attrName>
                                        </p:attrNameLst>
                                      </p:cBhvr>
                                      <p:to>
                                        <p:strVal val="visible"/>
                                      </p:to>
                                    </p:set>
                                  </p:childTnLst>
                                </p:cTn>
                              </p:par>
                            </p:childTnLst>
                          </p:cTn>
                        </p:par>
                        <p:par>
                          <p:cTn id="100" fill="hold">
                            <p:stCondLst>
                              <p:cond delay="700"/>
                            </p:stCondLst>
                            <p:childTnLst>
                              <p:par>
                                <p:cTn id="101" presetID="1" presetClass="entr" presetSubtype="0" fill="hold" nodeType="afterEffect">
                                  <p:stCondLst>
                                    <p:cond delay="100"/>
                                  </p:stCondLst>
                                  <p:childTnLst>
                                    <p:set>
                                      <p:cBhvr>
                                        <p:cTn id="102" dur="1" fill="hold">
                                          <p:stCondLst>
                                            <p:cond delay="0"/>
                                          </p:stCondLst>
                                        </p:cTn>
                                        <p:tgtEl>
                                          <p:spTgt spid="57"/>
                                        </p:tgtEl>
                                        <p:attrNameLst>
                                          <p:attrName>style.visibility</p:attrName>
                                        </p:attrNameLst>
                                      </p:cBhvr>
                                      <p:to>
                                        <p:strVal val="visible"/>
                                      </p:to>
                                    </p:set>
                                  </p:childTnLst>
                                </p:cTn>
                              </p:par>
                            </p:childTnLst>
                          </p:cTn>
                        </p:par>
                        <p:par>
                          <p:cTn id="103" fill="hold">
                            <p:stCondLst>
                              <p:cond delay="800"/>
                            </p:stCondLst>
                            <p:childTnLst>
                              <p:par>
                                <p:cTn id="104" presetID="1" presetClass="entr" presetSubtype="0" fill="hold" nodeType="afterEffect">
                                  <p:stCondLst>
                                    <p:cond delay="100"/>
                                  </p:stCondLst>
                                  <p:childTnLst>
                                    <p:set>
                                      <p:cBhvr>
                                        <p:cTn id="105" dur="1" fill="hold">
                                          <p:stCondLst>
                                            <p:cond delay="0"/>
                                          </p:stCondLst>
                                        </p:cTn>
                                        <p:tgtEl>
                                          <p:spTgt spid="45"/>
                                        </p:tgtEl>
                                        <p:attrNameLst>
                                          <p:attrName>style.visibility</p:attrName>
                                        </p:attrNameLst>
                                      </p:cBhvr>
                                      <p:to>
                                        <p:strVal val="visible"/>
                                      </p:to>
                                    </p:set>
                                  </p:childTnLst>
                                </p:cTn>
                              </p:par>
                            </p:childTnLst>
                          </p:cTn>
                        </p:par>
                        <p:par>
                          <p:cTn id="106" fill="hold">
                            <p:stCondLst>
                              <p:cond delay="900"/>
                            </p:stCondLst>
                            <p:childTnLst>
                              <p:par>
                                <p:cTn id="107" presetID="1" presetClass="entr" presetSubtype="0" fill="hold" nodeType="afterEffect">
                                  <p:stCondLst>
                                    <p:cond delay="100"/>
                                  </p:stCondLst>
                                  <p:childTnLst>
                                    <p:set>
                                      <p:cBhvr>
                                        <p:cTn id="108" dur="1" fill="hold">
                                          <p:stCondLst>
                                            <p:cond delay="0"/>
                                          </p:stCondLst>
                                        </p:cTn>
                                        <p:tgtEl>
                                          <p:spTgt spid="47"/>
                                        </p:tgtEl>
                                        <p:attrNameLst>
                                          <p:attrName>style.visibility</p:attrName>
                                        </p:attrNameLst>
                                      </p:cBhvr>
                                      <p:to>
                                        <p:strVal val="visible"/>
                                      </p:to>
                                    </p:set>
                                  </p:childTnLst>
                                </p:cTn>
                              </p:par>
                            </p:childTnLst>
                          </p:cTn>
                        </p:par>
                        <p:par>
                          <p:cTn id="109" fill="hold">
                            <p:stCondLst>
                              <p:cond delay="1000"/>
                            </p:stCondLst>
                            <p:childTnLst>
                              <p:par>
                                <p:cTn id="110" presetID="1" presetClass="entr" presetSubtype="0" fill="hold" nodeType="afterEffect">
                                  <p:stCondLst>
                                    <p:cond delay="100"/>
                                  </p:stCondLst>
                                  <p:childTnLst>
                                    <p:set>
                                      <p:cBhvr>
                                        <p:cTn id="111" dur="1" fill="hold">
                                          <p:stCondLst>
                                            <p:cond delay="0"/>
                                          </p:stCondLst>
                                        </p:cTn>
                                        <p:tgtEl>
                                          <p:spTgt spid="70"/>
                                        </p:tgtEl>
                                        <p:attrNameLst>
                                          <p:attrName>style.visibility</p:attrName>
                                        </p:attrNameLst>
                                      </p:cBhvr>
                                      <p:to>
                                        <p:strVal val="visible"/>
                                      </p:to>
                                    </p:set>
                                  </p:childTnLst>
                                </p:cTn>
                              </p:par>
                            </p:childTnLst>
                          </p:cTn>
                        </p:par>
                        <p:par>
                          <p:cTn id="112" fill="hold">
                            <p:stCondLst>
                              <p:cond delay="1100"/>
                            </p:stCondLst>
                            <p:childTnLst>
                              <p:par>
                                <p:cTn id="113" presetID="1" presetClass="entr" presetSubtype="0" fill="hold" nodeType="afterEffect">
                                  <p:stCondLst>
                                    <p:cond delay="100"/>
                                  </p:stCondLst>
                                  <p:childTnLst>
                                    <p:set>
                                      <p:cBhvr>
                                        <p:cTn id="114" dur="1" fill="hold">
                                          <p:stCondLst>
                                            <p:cond delay="0"/>
                                          </p:stCondLst>
                                        </p:cTn>
                                        <p:tgtEl>
                                          <p:spTgt spid="68"/>
                                        </p:tgtEl>
                                        <p:attrNameLst>
                                          <p:attrName>style.visibility</p:attrName>
                                        </p:attrNameLst>
                                      </p:cBhvr>
                                      <p:to>
                                        <p:strVal val="visible"/>
                                      </p:to>
                                    </p:set>
                                  </p:childTnLst>
                                </p:cTn>
                              </p:par>
                            </p:childTnLst>
                          </p:cTn>
                        </p:par>
                        <p:par>
                          <p:cTn id="115" fill="hold">
                            <p:stCondLst>
                              <p:cond delay="1200"/>
                            </p:stCondLst>
                            <p:childTnLst>
                              <p:par>
                                <p:cTn id="116" presetID="1" presetClass="entr" presetSubtype="0" fill="hold" nodeType="afterEffect">
                                  <p:stCondLst>
                                    <p:cond delay="100"/>
                                  </p:stCondLst>
                                  <p:childTnLst>
                                    <p:set>
                                      <p:cBhvr>
                                        <p:cTn id="117" dur="1" fill="hold">
                                          <p:stCondLst>
                                            <p:cond delay="0"/>
                                          </p:stCondLst>
                                        </p:cTn>
                                        <p:tgtEl>
                                          <p:spTgt spid="72"/>
                                        </p:tgtEl>
                                        <p:attrNameLst>
                                          <p:attrName>style.visibility</p:attrName>
                                        </p:attrNameLst>
                                      </p:cBhvr>
                                      <p:to>
                                        <p:strVal val="visible"/>
                                      </p:to>
                                    </p:set>
                                  </p:childTnLst>
                                </p:cTn>
                              </p:par>
                            </p:childTnLst>
                          </p:cTn>
                        </p:par>
                        <p:par>
                          <p:cTn id="118" fill="hold">
                            <p:stCondLst>
                              <p:cond delay="1300"/>
                            </p:stCondLst>
                            <p:childTnLst>
                              <p:par>
                                <p:cTn id="119" presetID="1" presetClass="entr" presetSubtype="0" fill="hold" nodeType="afterEffect">
                                  <p:stCondLst>
                                    <p:cond delay="100"/>
                                  </p:stCondLst>
                                  <p:childTnLst>
                                    <p:set>
                                      <p:cBhvr>
                                        <p:cTn id="120" dur="1" fill="hold">
                                          <p:stCondLst>
                                            <p:cond delay="0"/>
                                          </p:stCondLst>
                                        </p:cTn>
                                        <p:tgtEl>
                                          <p:spTgt spid="60"/>
                                        </p:tgtEl>
                                        <p:attrNameLst>
                                          <p:attrName>style.visibility</p:attrName>
                                        </p:attrNameLst>
                                      </p:cBhvr>
                                      <p:to>
                                        <p:strVal val="visible"/>
                                      </p:to>
                                    </p:set>
                                  </p:childTnLst>
                                </p:cTn>
                              </p:par>
                            </p:childTnLst>
                          </p:cTn>
                        </p:par>
                        <p:par>
                          <p:cTn id="121" fill="hold">
                            <p:stCondLst>
                              <p:cond delay="1400"/>
                            </p:stCondLst>
                            <p:childTnLst>
                              <p:par>
                                <p:cTn id="122" presetID="1" presetClass="entr" presetSubtype="0" fill="hold" nodeType="afterEffect">
                                  <p:stCondLst>
                                    <p:cond delay="100"/>
                                  </p:stCondLst>
                                  <p:childTnLst>
                                    <p:set>
                                      <p:cBhvr>
                                        <p:cTn id="123" dur="1" fill="hold">
                                          <p:stCondLst>
                                            <p:cond delay="0"/>
                                          </p:stCondLst>
                                        </p:cTn>
                                        <p:tgtEl>
                                          <p:spTgt spid="63"/>
                                        </p:tgtEl>
                                        <p:attrNameLst>
                                          <p:attrName>style.visibility</p:attrName>
                                        </p:attrNameLst>
                                      </p:cBhvr>
                                      <p:to>
                                        <p:strVal val="visible"/>
                                      </p:to>
                                    </p:set>
                                  </p:childTnLst>
                                </p:cTn>
                              </p:par>
                            </p:childTnLst>
                          </p:cTn>
                        </p:par>
                        <p:par>
                          <p:cTn id="124" fill="hold">
                            <p:stCondLst>
                              <p:cond delay="1500"/>
                            </p:stCondLst>
                            <p:childTnLst>
                              <p:par>
                                <p:cTn id="125" presetID="1" presetClass="entr" presetSubtype="0" fill="hold" nodeType="afterEffect">
                                  <p:stCondLst>
                                    <p:cond delay="100"/>
                                  </p:stCondLst>
                                  <p:childTnLst>
                                    <p:set>
                                      <p:cBhvr>
                                        <p:cTn id="126"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0FB65-B9C5-7B24-F949-293CF1D720EC}"/>
            </a:ext>
          </a:extLst>
        </p:cNvPr>
        <p:cNvGrpSpPr/>
        <p:nvPr/>
      </p:nvGrpSpPr>
      <p:grpSpPr>
        <a:xfrm>
          <a:off x="0" y="0"/>
          <a:ext cx="0" cy="0"/>
          <a:chOff x="0" y="0"/>
          <a:chExt cx="0" cy="0"/>
        </a:xfrm>
      </p:grpSpPr>
      <p:pic>
        <p:nvPicPr>
          <p:cNvPr id="28" name="Picture 27">
            <a:extLst>
              <a:ext uri="{FF2B5EF4-FFF2-40B4-BE49-F238E27FC236}">
                <a16:creationId xmlns:a16="http://schemas.microsoft.com/office/drawing/2014/main" id="{80491568-B4A7-4EA2-2D49-66183C8FA721}"/>
              </a:ext>
            </a:extLst>
          </p:cNvPr>
          <p:cNvPicPr>
            <a:picLocks noChangeAspect="1"/>
          </p:cNvPicPr>
          <p:nvPr/>
        </p:nvPicPr>
        <p:blipFill>
          <a:blip r:embed="rId3" cstate="print">
            <a:extLst>
              <a:ext uri="{28A0092B-C50C-407E-A947-70E740481C1C}">
                <a14:useLocalDpi xmlns:a14="http://schemas.microsoft.com/office/drawing/2010/main" val="0"/>
              </a:ext>
            </a:extLst>
          </a:blip>
          <a:srcRect l="17866" t="8907" r="20892" b="8001"/>
          <a:stretch>
            <a:fillRect/>
          </a:stretch>
        </p:blipFill>
        <p:spPr>
          <a:xfrm>
            <a:off x="9480377" y="5745067"/>
            <a:ext cx="1080119" cy="1099111"/>
          </a:xfrm>
          <a:prstGeom prst="rect">
            <a:avLst/>
          </a:prstGeom>
        </p:spPr>
      </p:pic>
      <p:sp>
        <p:nvSpPr>
          <p:cNvPr id="2" name="Title 1">
            <a:extLst>
              <a:ext uri="{FF2B5EF4-FFF2-40B4-BE49-F238E27FC236}">
                <a16:creationId xmlns:a16="http://schemas.microsoft.com/office/drawing/2014/main" id="{717EC535-74BD-6C41-A51C-FA11A489D056}"/>
              </a:ext>
            </a:extLst>
          </p:cNvPr>
          <p:cNvSpPr>
            <a:spLocks noGrp="1"/>
          </p:cNvSpPr>
          <p:nvPr>
            <p:ph type="title"/>
          </p:nvPr>
        </p:nvSpPr>
        <p:spPr/>
        <p:txBody>
          <a:bodyPr/>
          <a:lstStyle/>
          <a:p>
            <a:r>
              <a:rPr lang="en-GB" dirty="0"/>
              <a:t>Why this is not just coding?</a:t>
            </a:r>
          </a:p>
        </p:txBody>
      </p:sp>
      <p:sp>
        <p:nvSpPr>
          <p:cNvPr id="3" name="Text Placeholder 2">
            <a:extLst>
              <a:ext uri="{FF2B5EF4-FFF2-40B4-BE49-F238E27FC236}">
                <a16:creationId xmlns:a16="http://schemas.microsoft.com/office/drawing/2014/main" id="{0CC34174-3EE4-0EBA-EBF9-B9AE5ACA30BE}"/>
              </a:ext>
            </a:extLst>
          </p:cNvPr>
          <p:cNvSpPr>
            <a:spLocks noGrp="1"/>
          </p:cNvSpPr>
          <p:nvPr>
            <p:ph type="body" sz="quarter" idx="10"/>
          </p:nvPr>
        </p:nvSpPr>
        <p:spPr>
          <a:xfrm>
            <a:off x="623392" y="1844825"/>
            <a:ext cx="7296625" cy="5013175"/>
          </a:xfrm>
        </p:spPr>
        <p:txBody>
          <a:bodyPr/>
          <a:lstStyle/>
          <a:p>
            <a:r>
              <a:rPr lang="en-GB" sz="1800" dirty="0"/>
              <a:t>Non-cooperative MAS, Cooperative MAS, Constraint </a:t>
            </a:r>
            <a:r>
              <a:rPr lang="en-GB" sz="1800" dirty="0" err="1"/>
              <a:t>Opt</a:t>
            </a:r>
            <a:endParaRPr lang="en-GB" sz="1800" dirty="0"/>
          </a:p>
          <a:p>
            <a:r>
              <a:rPr lang="en-GB" sz="1800" dirty="0"/>
              <a:t>NP-hard: quality vs. time trade-off (real-time constraints)</a:t>
            </a:r>
          </a:p>
          <a:p>
            <a:r>
              <a:rPr lang="en-GB" sz="1800" dirty="0"/>
              <a:t>Series of interconnected auctions, each affecting the next</a:t>
            </a:r>
          </a:p>
          <a:p>
            <a:r>
              <a:rPr lang="en-GB" sz="1800" dirty="0"/>
              <a:t>Vehicles and their capacity are finite: marginal cost, opportunity cost</a:t>
            </a:r>
          </a:p>
          <a:p>
            <a:r>
              <a:rPr lang="en-GB" sz="1800" dirty="0"/>
              <a:t>Cost of serving a set of tasks is </a:t>
            </a:r>
            <a:r>
              <a:rPr lang="en-GB" sz="1800" dirty="0" err="1"/>
              <a:t>subadditive</a:t>
            </a:r>
            <a:r>
              <a:rPr lang="en-GB" sz="1800" dirty="0"/>
              <a:t>: (A + B) &lt; A + B</a:t>
            </a:r>
          </a:p>
          <a:p>
            <a:r>
              <a:rPr lang="en-GB" sz="1800" dirty="0"/>
              <a:t>Future supply?</a:t>
            </a:r>
          </a:p>
          <a:p>
            <a:r>
              <a:rPr lang="en-GB" sz="1800" dirty="0"/>
              <a:t>Opponent Actions?</a:t>
            </a:r>
          </a:p>
        </p:txBody>
      </p:sp>
      <p:sp>
        <p:nvSpPr>
          <p:cNvPr id="5" name="TextBox 4">
            <a:extLst>
              <a:ext uri="{FF2B5EF4-FFF2-40B4-BE49-F238E27FC236}">
                <a16:creationId xmlns:a16="http://schemas.microsoft.com/office/drawing/2014/main" id="{831A054A-0FD4-E450-BB19-84CEFBBA1487}"/>
              </a:ext>
            </a:extLst>
          </p:cNvPr>
          <p:cNvSpPr txBox="1"/>
          <p:nvPr/>
        </p:nvSpPr>
        <p:spPr>
          <a:xfrm>
            <a:off x="9912424" y="62898"/>
            <a:ext cx="2031325" cy="707886"/>
          </a:xfrm>
          <a:prstGeom prst="rect">
            <a:avLst/>
          </a:prstGeom>
          <a:noFill/>
        </p:spPr>
        <p:txBody>
          <a:bodyPr wrap="none" rtlCol="0">
            <a:spAutoFit/>
          </a:bodyPr>
          <a:lstStyle/>
          <a:p>
            <a:r>
              <a:rPr lang="en-GB" sz="2000" b="1" dirty="0">
                <a:solidFill>
                  <a:srgbClr val="495961"/>
                </a:solidFill>
              </a:rPr>
              <a:t>① Benchmark</a:t>
            </a:r>
          </a:p>
          <a:p>
            <a:r>
              <a:rPr lang="en-GB" sz="2000" b="1" dirty="0">
                <a:solidFill>
                  <a:schemeClr val="bg2">
                    <a:lumMod val="20000"/>
                    <a:lumOff val="80000"/>
                  </a:schemeClr>
                </a:solidFill>
              </a:rPr>
              <a:t>② Evaluation</a:t>
            </a:r>
          </a:p>
        </p:txBody>
      </p:sp>
      <p:pic>
        <p:nvPicPr>
          <p:cNvPr id="6" name="Picture 5">
            <a:extLst>
              <a:ext uri="{FF2B5EF4-FFF2-40B4-BE49-F238E27FC236}">
                <a16:creationId xmlns:a16="http://schemas.microsoft.com/office/drawing/2014/main" id="{CCD3399D-67CE-8257-30CA-1F8746F54A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64461" y="1595397"/>
            <a:ext cx="5495925" cy="4124325"/>
          </a:xfrm>
          <a:prstGeom prst="rect">
            <a:avLst/>
          </a:prstGeom>
        </p:spPr>
      </p:pic>
      <p:pic>
        <p:nvPicPr>
          <p:cNvPr id="7" name="Picture 6">
            <a:extLst>
              <a:ext uri="{FF2B5EF4-FFF2-40B4-BE49-F238E27FC236}">
                <a16:creationId xmlns:a16="http://schemas.microsoft.com/office/drawing/2014/main" id="{1372C69A-530C-A16A-AE86-E634126A6794}"/>
              </a:ext>
            </a:extLst>
          </p:cNvPr>
          <p:cNvPicPr>
            <a:picLocks noChangeAspect="1"/>
          </p:cNvPicPr>
          <p:nvPr/>
        </p:nvPicPr>
        <p:blipFill>
          <a:blip r:embed="rId5" cstate="print">
            <a:extLst>
              <a:ext uri="{BEBA8EAE-BF5A-486C-A8C5-ECC9F3942E4B}">
                <a14:imgProps xmlns:a14="http://schemas.microsoft.com/office/drawing/2010/main">
                  <a14:imgLayer r:embed="rId6">
                    <a14:imgEffect>
                      <a14:backgroundRemoval t="9888" b="89872" l="8373" r="89872">
                        <a14:foregroundMark x1="26316" y1="31978" x2="20255" y2="35327"/>
                        <a14:foregroundMark x1="20255" y1="35327" x2="30702" y2="39394"/>
                        <a14:foregroundMark x1="30702" y1="39394" x2="25997" y2="30463"/>
                        <a14:foregroundMark x1="25997" y1="30463" x2="25997" y2="30463"/>
                        <a14:foregroundMark x1="36443" y1="18820" x2="25837" y2="23206"/>
                        <a14:foregroundMark x1="25837" y1="23206" x2="20973" y2="47129"/>
                        <a14:foregroundMark x1="20973" y1="47129" x2="45295" y2="41786"/>
                        <a14:foregroundMark x1="45295" y1="41786" x2="33652" y2="20016"/>
                        <a14:foregroundMark x1="33652" y1="20016" x2="24801" y2="17624"/>
                        <a14:foregroundMark x1="42185" y1="18262" x2="45614" y2="29187"/>
                        <a14:foregroundMark x1="45614" y1="29187" x2="56699" y2="22887"/>
                        <a14:foregroundMark x1="56699" y1="22887" x2="43222" y2="17703"/>
                        <a14:foregroundMark x1="43222" y1="17703" x2="39793" y2="17863"/>
                        <a14:foregroundMark x1="8692" y1="53110" x2="9171" y2="53429"/>
                        <a14:foregroundMark x1="8373" y1="30861" x2="8612" y2="43142"/>
                        <a14:backgroundMark x1="87959" y1="42584" x2="87480" y2="43700"/>
                        <a14:backgroundMark x1="88278" y1="51196" x2="88357" y2="52153"/>
                      </a14:backgroundRemoval>
                    </a14:imgEffect>
                  </a14:imgLayer>
                </a14:imgProps>
              </a:ext>
              <a:ext uri="{28A0092B-C50C-407E-A947-70E740481C1C}">
                <a14:useLocalDpi xmlns:a14="http://schemas.microsoft.com/office/drawing/2010/main" val="0"/>
              </a:ext>
            </a:extLst>
          </a:blip>
          <a:stretch>
            <a:fillRect/>
          </a:stretch>
        </p:blipFill>
        <p:spPr>
          <a:xfrm>
            <a:off x="9336360" y="2305137"/>
            <a:ext cx="506591" cy="506591"/>
          </a:xfrm>
          <a:prstGeom prst="rect">
            <a:avLst/>
          </a:prstGeom>
        </p:spPr>
      </p:pic>
      <p:pic>
        <p:nvPicPr>
          <p:cNvPr id="8" name="Picture 7">
            <a:extLst>
              <a:ext uri="{FF2B5EF4-FFF2-40B4-BE49-F238E27FC236}">
                <a16:creationId xmlns:a16="http://schemas.microsoft.com/office/drawing/2014/main" id="{78748ED9-680F-B3EF-DC2C-4C1EB5924774}"/>
              </a:ext>
            </a:extLst>
          </p:cNvPr>
          <p:cNvPicPr>
            <a:picLocks noChangeAspect="1"/>
          </p:cNvPicPr>
          <p:nvPr/>
        </p:nvPicPr>
        <p:blipFill>
          <a:blip r:embed="rId7" cstate="print">
            <a:extLst>
              <a:ext uri="{BEBA8EAE-BF5A-486C-A8C5-ECC9F3942E4B}">
                <a14:imgProps xmlns:a14="http://schemas.microsoft.com/office/drawing/2010/main">
                  <a14:imgLayer r:embed="rId8">
                    <a14:imgEffect>
                      <a14:backgroundRemoval t="10000" b="90000" l="10000" r="90000">
                        <a14:backgroundMark x1="32855" y1="67544" x2="42584" y2="73206"/>
                        <a14:backgroundMark x1="42584" y1="73206" x2="36284" y2="69697"/>
                        <a14:backgroundMark x1="64035" y1="78947" x2="75518" y2="75598"/>
                        <a14:backgroundMark x1="75518" y1="75598" x2="66268" y2="79426"/>
                      </a14:backgroundRemoval>
                    </a14:imgEffect>
                  </a14:imgLayer>
                </a14:imgProps>
              </a:ext>
              <a:ext uri="{28A0092B-C50C-407E-A947-70E740481C1C}">
                <a14:useLocalDpi xmlns:a14="http://schemas.microsoft.com/office/drawing/2010/main" val="0"/>
              </a:ext>
            </a:extLst>
          </a:blip>
          <a:stretch>
            <a:fillRect/>
          </a:stretch>
        </p:blipFill>
        <p:spPr>
          <a:xfrm>
            <a:off x="10272464" y="3501008"/>
            <a:ext cx="544879" cy="544879"/>
          </a:xfrm>
          <a:prstGeom prst="rect">
            <a:avLst/>
          </a:prstGeom>
        </p:spPr>
      </p:pic>
      <p:pic>
        <p:nvPicPr>
          <p:cNvPr id="9" name="Picture 8">
            <a:extLst>
              <a:ext uri="{FF2B5EF4-FFF2-40B4-BE49-F238E27FC236}">
                <a16:creationId xmlns:a16="http://schemas.microsoft.com/office/drawing/2014/main" id="{F02568AD-4855-2E3B-9F38-8A46F535D507}"/>
              </a:ext>
            </a:extLst>
          </p:cNvPr>
          <p:cNvPicPr>
            <a:picLocks noChangeAspect="1"/>
          </p:cNvPicPr>
          <p:nvPr/>
        </p:nvPicPr>
        <p:blipFill>
          <a:blip r:embed="rId9" cstate="print">
            <a:extLst>
              <a:ext uri="{BEBA8EAE-BF5A-486C-A8C5-ECC9F3942E4B}">
                <a14:imgProps xmlns:a14="http://schemas.microsoft.com/office/drawing/2010/main">
                  <a14:imgLayer r:embed="rId10">
                    <a14:imgEffect>
                      <a14:backgroundRemoval t="9888" b="89872" l="8373" r="89872">
                        <a14:foregroundMark x1="26316" y1="31978" x2="20255" y2="35327"/>
                        <a14:foregroundMark x1="20255" y1="35327" x2="30702" y2="39394"/>
                        <a14:foregroundMark x1="30702" y1="39394" x2="25997" y2="30463"/>
                        <a14:foregroundMark x1="25997" y1="30463" x2="25997" y2="30463"/>
                        <a14:foregroundMark x1="36443" y1="18820" x2="25837" y2="23206"/>
                        <a14:foregroundMark x1="25837" y1="23206" x2="20973" y2="47129"/>
                        <a14:foregroundMark x1="20973" y1="47129" x2="45295" y2="41786"/>
                        <a14:foregroundMark x1="45295" y1="41786" x2="33652" y2="20016"/>
                        <a14:foregroundMark x1="33652" y1="20016" x2="24801" y2="17624"/>
                        <a14:foregroundMark x1="42185" y1="18262" x2="45614" y2="29187"/>
                        <a14:foregroundMark x1="45614" y1="29187" x2="56699" y2="22887"/>
                        <a14:foregroundMark x1="56699" y1="22887" x2="43222" y2="17703"/>
                        <a14:foregroundMark x1="43222" y1="17703" x2="39793" y2="17863"/>
                        <a14:foregroundMark x1="8692" y1="53110" x2="9171" y2="53429"/>
                        <a14:foregroundMark x1="8373" y1="30861" x2="8612" y2="43142"/>
                        <a14:backgroundMark x1="87959" y1="42584" x2="87480" y2="43700"/>
                        <a14:backgroundMark x1="88278" y1="51196" x2="88357" y2="52153"/>
                      </a14:backgroundRemoval>
                    </a14:imgEffect>
                  </a14:imgLayer>
                </a14:imgProps>
              </a:ext>
              <a:ext uri="{28A0092B-C50C-407E-A947-70E740481C1C}">
                <a14:useLocalDpi xmlns:a14="http://schemas.microsoft.com/office/drawing/2010/main" val="0"/>
              </a:ext>
            </a:extLst>
          </a:blip>
          <a:stretch>
            <a:fillRect/>
          </a:stretch>
        </p:blipFill>
        <p:spPr>
          <a:xfrm>
            <a:off x="10491181" y="4365104"/>
            <a:ext cx="452727" cy="452727"/>
          </a:xfrm>
          <a:prstGeom prst="rect">
            <a:avLst/>
          </a:prstGeom>
        </p:spPr>
      </p:pic>
      <p:pic>
        <p:nvPicPr>
          <p:cNvPr id="10" name="Picture 9">
            <a:extLst>
              <a:ext uri="{FF2B5EF4-FFF2-40B4-BE49-F238E27FC236}">
                <a16:creationId xmlns:a16="http://schemas.microsoft.com/office/drawing/2014/main" id="{BC6AF0C5-FE9E-AEF4-70FE-84CB7017CD7C}"/>
              </a:ext>
            </a:extLst>
          </p:cNvPr>
          <p:cNvPicPr>
            <a:picLocks noChangeAspect="1"/>
          </p:cNvPicPr>
          <p:nvPr/>
        </p:nvPicPr>
        <p:blipFill>
          <a:blip r:embed="rId11" cstate="print">
            <a:extLst>
              <a:ext uri="{BEBA8EAE-BF5A-486C-A8C5-ECC9F3942E4B}">
                <a14:imgProps xmlns:a14="http://schemas.microsoft.com/office/drawing/2010/main">
                  <a14:imgLayer r:embed="rId12">
                    <a14:imgEffect>
                      <a14:backgroundRemoval t="9888" b="89872" l="8373" r="89872">
                        <a14:foregroundMark x1="26316" y1="31978" x2="20255" y2="35327"/>
                        <a14:foregroundMark x1="20255" y1="35327" x2="30702" y2="39394"/>
                        <a14:foregroundMark x1="30702" y1="39394" x2="25997" y2="30463"/>
                        <a14:foregroundMark x1="25997" y1="30463" x2="25997" y2="30463"/>
                        <a14:foregroundMark x1="36443" y1="18820" x2="25837" y2="23206"/>
                        <a14:foregroundMark x1="25837" y1="23206" x2="20973" y2="47129"/>
                        <a14:foregroundMark x1="20973" y1="47129" x2="45295" y2="41786"/>
                        <a14:foregroundMark x1="45295" y1="41786" x2="33652" y2="20016"/>
                        <a14:foregroundMark x1="33652" y1="20016" x2="24801" y2="17624"/>
                        <a14:foregroundMark x1="42185" y1="18262" x2="45614" y2="29187"/>
                        <a14:foregroundMark x1="45614" y1="29187" x2="56699" y2="22887"/>
                        <a14:foregroundMark x1="56699" y1="22887" x2="43222" y2="17703"/>
                        <a14:foregroundMark x1="43222" y1="17703" x2="39793" y2="17863"/>
                        <a14:foregroundMark x1="8692" y1="53110" x2="9171" y2="53429"/>
                        <a14:foregroundMark x1="8373" y1="30861" x2="8612" y2="43142"/>
                        <a14:backgroundMark x1="87959" y1="42584" x2="87480" y2="43700"/>
                        <a14:backgroundMark x1="88278" y1="51196" x2="88357" y2="52153"/>
                      </a14:backgroundRemoval>
                    </a14:imgEffect>
                  </a14:imgLayer>
                </a14:imgProps>
              </a:ext>
              <a:ext uri="{28A0092B-C50C-407E-A947-70E740481C1C}">
                <a14:useLocalDpi xmlns:a14="http://schemas.microsoft.com/office/drawing/2010/main" val="0"/>
              </a:ext>
            </a:extLst>
          </a:blip>
          <a:stretch>
            <a:fillRect/>
          </a:stretch>
        </p:blipFill>
        <p:spPr>
          <a:xfrm flipH="1">
            <a:off x="8601898" y="3933056"/>
            <a:ext cx="544881" cy="544881"/>
          </a:xfrm>
          <a:prstGeom prst="rect">
            <a:avLst/>
          </a:prstGeom>
        </p:spPr>
      </p:pic>
      <p:pic>
        <p:nvPicPr>
          <p:cNvPr id="11" name="Picture 10">
            <a:extLst>
              <a:ext uri="{FF2B5EF4-FFF2-40B4-BE49-F238E27FC236}">
                <a16:creationId xmlns:a16="http://schemas.microsoft.com/office/drawing/2014/main" id="{DDF7F72C-4C19-619A-457D-A774BA91BEF4}"/>
              </a:ext>
            </a:extLst>
          </p:cNvPr>
          <p:cNvPicPr>
            <a:picLocks noChangeAspect="1"/>
          </p:cNvPicPr>
          <p:nvPr/>
        </p:nvPicPr>
        <p:blipFill>
          <a:blip r:embed="rId13" cstate="print">
            <a:extLst>
              <a:ext uri="{BEBA8EAE-BF5A-486C-A8C5-ECC9F3942E4B}">
                <a14:imgProps xmlns:a14="http://schemas.microsoft.com/office/drawing/2010/main">
                  <a14:imgLayer r:embed="rId14">
                    <a14:imgEffect>
                      <a14:backgroundRemoval t="10000" b="90000" l="10000" r="90000">
                        <a14:backgroundMark x1="32855" y1="67544" x2="42584" y2="73206"/>
                        <a14:backgroundMark x1="42584" y1="73206" x2="36284" y2="69697"/>
                        <a14:backgroundMark x1="64035" y1="78947" x2="75518" y2="75598"/>
                        <a14:backgroundMark x1="75518" y1="75598" x2="66268" y2="79426"/>
                      </a14:backgroundRemoval>
                    </a14:imgEffect>
                  </a14:imgLayer>
                </a14:imgProps>
              </a:ext>
              <a:ext uri="{28A0092B-C50C-407E-A947-70E740481C1C}">
                <a14:useLocalDpi xmlns:a14="http://schemas.microsoft.com/office/drawing/2010/main" val="0"/>
              </a:ext>
            </a:extLst>
          </a:blip>
          <a:stretch>
            <a:fillRect/>
          </a:stretch>
        </p:blipFill>
        <p:spPr>
          <a:xfrm flipH="1">
            <a:off x="10195201" y="4653404"/>
            <a:ext cx="622141" cy="622141"/>
          </a:xfrm>
          <a:prstGeom prst="rect">
            <a:avLst/>
          </a:prstGeom>
        </p:spPr>
      </p:pic>
      <p:pic>
        <p:nvPicPr>
          <p:cNvPr id="12" name="Picture 11">
            <a:extLst>
              <a:ext uri="{FF2B5EF4-FFF2-40B4-BE49-F238E27FC236}">
                <a16:creationId xmlns:a16="http://schemas.microsoft.com/office/drawing/2014/main" id="{AAF52B9D-C781-AC41-7D00-3B14617B0AC3}"/>
              </a:ext>
            </a:extLst>
          </p:cNvPr>
          <p:cNvPicPr>
            <a:picLocks noChangeAspect="1"/>
          </p:cNvPicPr>
          <p:nvPr/>
        </p:nvPicPr>
        <p:blipFill>
          <a:blip r:embed="rId15" cstate="print">
            <a:extLst>
              <a:ext uri="{BEBA8EAE-BF5A-486C-A8C5-ECC9F3942E4B}">
                <a14:imgProps xmlns:a14="http://schemas.microsoft.com/office/drawing/2010/main">
                  <a14:imgLayer r:embed="rId16">
                    <a14:imgEffect>
                      <a14:backgroundRemoval t="10000" b="90000" l="10000" r="90000">
                        <a14:backgroundMark x1="32855" y1="67544" x2="42584" y2="73206"/>
                        <a14:backgroundMark x1="42584" y1="73206" x2="36284" y2="69697"/>
                        <a14:backgroundMark x1="64035" y1="78947" x2="75518" y2="75598"/>
                        <a14:backgroundMark x1="75518" y1="75598" x2="66268" y2="79426"/>
                      </a14:backgroundRemoval>
                    </a14:imgEffect>
                  </a14:imgLayer>
                </a14:imgProps>
              </a:ext>
              <a:ext uri="{28A0092B-C50C-407E-A947-70E740481C1C}">
                <a14:useLocalDpi xmlns:a14="http://schemas.microsoft.com/office/drawing/2010/main" val="0"/>
              </a:ext>
            </a:extLst>
          </a:blip>
          <a:stretch>
            <a:fillRect/>
          </a:stretch>
        </p:blipFill>
        <p:spPr>
          <a:xfrm>
            <a:off x="11396876" y="2656836"/>
            <a:ext cx="668972" cy="668972"/>
          </a:xfrm>
          <a:prstGeom prst="rect">
            <a:avLst/>
          </a:prstGeom>
        </p:spPr>
      </p:pic>
      <p:pic>
        <p:nvPicPr>
          <p:cNvPr id="14" name="Picture 13">
            <a:extLst>
              <a:ext uri="{FF2B5EF4-FFF2-40B4-BE49-F238E27FC236}">
                <a16:creationId xmlns:a16="http://schemas.microsoft.com/office/drawing/2014/main" id="{96DAA799-F171-5220-74DF-B2C7CB9759F9}"/>
              </a:ext>
            </a:extLst>
          </p:cNvPr>
          <p:cNvPicPr>
            <a:picLocks noChangeAspect="1"/>
          </p:cNvPicPr>
          <p:nvPr/>
        </p:nvPicPr>
        <p:blipFill>
          <a:blip r:embed="rId17" cstate="print">
            <a:extLst>
              <a:ext uri="{BEBA8EAE-BF5A-486C-A8C5-ECC9F3942E4B}">
                <a14:imgProps xmlns:a14="http://schemas.microsoft.com/office/drawing/2010/main">
                  <a14:imgLayer r:embed="rId18">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8400256" y="2981208"/>
            <a:ext cx="458880" cy="458880"/>
          </a:xfrm>
          <a:prstGeom prst="rect">
            <a:avLst/>
          </a:prstGeom>
        </p:spPr>
      </p:pic>
      <p:pic>
        <p:nvPicPr>
          <p:cNvPr id="15" name="Picture 14">
            <a:extLst>
              <a:ext uri="{FF2B5EF4-FFF2-40B4-BE49-F238E27FC236}">
                <a16:creationId xmlns:a16="http://schemas.microsoft.com/office/drawing/2014/main" id="{E4F7EAB7-D824-8799-9950-2B9698B33F2D}"/>
              </a:ext>
            </a:extLst>
          </p:cNvPr>
          <p:cNvPicPr>
            <a:picLocks noChangeAspect="1"/>
          </p:cNvPicPr>
          <p:nvPr/>
        </p:nvPicPr>
        <p:blipFill>
          <a:blip r:embed="rId19" cstate="print">
            <a:extLst>
              <a:ext uri="{BEBA8EAE-BF5A-486C-A8C5-ECC9F3942E4B}">
                <a14:imgProps xmlns:a14="http://schemas.microsoft.com/office/drawing/2010/main">
                  <a14:imgLayer r:embed="rId20">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0195202" y="2184876"/>
            <a:ext cx="579141" cy="579141"/>
          </a:xfrm>
          <a:prstGeom prst="rect">
            <a:avLst/>
          </a:prstGeom>
        </p:spPr>
      </p:pic>
      <p:pic>
        <p:nvPicPr>
          <p:cNvPr id="16" name="Picture 15">
            <a:extLst>
              <a:ext uri="{FF2B5EF4-FFF2-40B4-BE49-F238E27FC236}">
                <a16:creationId xmlns:a16="http://schemas.microsoft.com/office/drawing/2014/main" id="{0472CA67-3AF3-25ED-F0D4-F48D75627134}"/>
              </a:ext>
            </a:extLst>
          </p:cNvPr>
          <p:cNvPicPr>
            <a:picLocks noChangeAspect="1"/>
          </p:cNvPicPr>
          <p:nvPr/>
        </p:nvPicPr>
        <p:blipFill>
          <a:blip r:embed="rId17" cstate="print">
            <a:extLst>
              <a:ext uri="{BEBA8EAE-BF5A-486C-A8C5-ECC9F3942E4B}">
                <a14:imgProps xmlns:a14="http://schemas.microsoft.com/office/drawing/2010/main">
                  <a14:imgLayer r:embed="rId18">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0413060" y="2453413"/>
            <a:ext cx="458880" cy="458880"/>
          </a:xfrm>
          <a:prstGeom prst="rect">
            <a:avLst/>
          </a:prstGeom>
        </p:spPr>
      </p:pic>
      <p:pic>
        <p:nvPicPr>
          <p:cNvPr id="17" name="Picture 16">
            <a:extLst>
              <a:ext uri="{FF2B5EF4-FFF2-40B4-BE49-F238E27FC236}">
                <a16:creationId xmlns:a16="http://schemas.microsoft.com/office/drawing/2014/main" id="{CF751856-A6FD-2388-6AC4-E20F69FC7129}"/>
              </a:ext>
            </a:extLst>
          </p:cNvPr>
          <p:cNvPicPr>
            <a:picLocks noChangeAspect="1"/>
          </p:cNvPicPr>
          <p:nvPr/>
        </p:nvPicPr>
        <p:blipFill>
          <a:blip r:embed="rId21" cstate="print">
            <a:extLst>
              <a:ext uri="{BEBA8EAE-BF5A-486C-A8C5-ECC9F3942E4B}">
                <a14:imgProps xmlns:a14="http://schemas.microsoft.com/office/drawing/2010/main">
                  <a14:imgLayer r:embed="rId22">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9078742" y="4611880"/>
            <a:ext cx="639688" cy="639688"/>
          </a:xfrm>
          <a:prstGeom prst="rect">
            <a:avLst/>
          </a:prstGeom>
        </p:spPr>
      </p:pic>
      <p:pic>
        <p:nvPicPr>
          <p:cNvPr id="18" name="Picture 17">
            <a:extLst>
              <a:ext uri="{FF2B5EF4-FFF2-40B4-BE49-F238E27FC236}">
                <a16:creationId xmlns:a16="http://schemas.microsoft.com/office/drawing/2014/main" id="{31DF7A8F-EFC2-CAEF-829D-03FB56CC9188}"/>
              </a:ext>
            </a:extLst>
          </p:cNvPr>
          <p:cNvPicPr>
            <a:picLocks noChangeAspect="1"/>
          </p:cNvPicPr>
          <p:nvPr/>
        </p:nvPicPr>
        <p:blipFill>
          <a:blip r:embed="rId17" cstate="print">
            <a:extLst>
              <a:ext uri="{BEBA8EAE-BF5A-486C-A8C5-ECC9F3942E4B}">
                <a14:imgProps xmlns:a14="http://schemas.microsoft.com/office/drawing/2010/main">
                  <a14:imgLayer r:embed="rId18">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1467958" y="3501008"/>
            <a:ext cx="458880" cy="458880"/>
          </a:xfrm>
          <a:prstGeom prst="rect">
            <a:avLst/>
          </a:prstGeom>
        </p:spPr>
      </p:pic>
      <p:pic>
        <p:nvPicPr>
          <p:cNvPr id="19" name="Picture 18">
            <a:extLst>
              <a:ext uri="{FF2B5EF4-FFF2-40B4-BE49-F238E27FC236}">
                <a16:creationId xmlns:a16="http://schemas.microsoft.com/office/drawing/2014/main" id="{3CBB98EB-7EFC-E402-1190-EAC2BB9A965F}"/>
              </a:ext>
            </a:extLst>
          </p:cNvPr>
          <p:cNvPicPr>
            <a:picLocks noChangeAspect="1"/>
          </p:cNvPicPr>
          <p:nvPr/>
        </p:nvPicPr>
        <p:blipFill>
          <a:blip r:embed="rId23" cstate="print">
            <a:extLst>
              <a:ext uri="{BEBA8EAE-BF5A-486C-A8C5-ECC9F3942E4B}">
                <a14:imgProps xmlns:a14="http://schemas.microsoft.com/office/drawing/2010/main">
                  <a14:imgLayer r:embed="rId2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8232284" y="2184876"/>
            <a:ext cx="626852" cy="626852"/>
          </a:xfrm>
          <a:prstGeom prst="rect">
            <a:avLst/>
          </a:prstGeom>
        </p:spPr>
      </p:pic>
      <p:cxnSp>
        <p:nvCxnSpPr>
          <p:cNvPr id="24" name="Straight Arrow Connector 23">
            <a:extLst>
              <a:ext uri="{FF2B5EF4-FFF2-40B4-BE49-F238E27FC236}">
                <a16:creationId xmlns:a16="http://schemas.microsoft.com/office/drawing/2014/main" id="{0F7AC9F1-0C65-9E66-426D-17A0E39BA272}"/>
              </a:ext>
            </a:extLst>
          </p:cNvPr>
          <p:cNvCxnSpPr>
            <a:cxnSpLocks/>
          </p:cNvCxnSpPr>
          <p:nvPr/>
        </p:nvCxnSpPr>
        <p:spPr>
          <a:xfrm>
            <a:off x="9718430" y="5251568"/>
            <a:ext cx="0" cy="576064"/>
          </a:xfrm>
          <a:prstGeom prst="straightConnector1">
            <a:avLst/>
          </a:prstGeom>
          <a:ln w="76200">
            <a:solidFill>
              <a:srgbClr val="49596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99452D9-A2D3-83BF-E9AD-4E5782E1E05A}"/>
              </a:ext>
            </a:extLst>
          </p:cNvPr>
          <p:cNvCxnSpPr>
            <a:cxnSpLocks/>
          </p:cNvCxnSpPr>
          <p:nvPr/>
        </p:nvCxnSpPr>
        <p:spPr>
          <a:xfrm>
            <a:off x="10416480" y="5251568"/>
            <a:ext cx="0" cy="576064"/>
          </a:xfrm>
          <a:prstGeom prst="straightConnector1">
            <a:avLst/>
          </a:prstGeom>
          <a:ln w="76200">
            <a:solidFill>
              <a:srgbClr val="49596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358C42C-4F26-AEC1-7FFF-1EA97DB59307}"/>
              </a:ext>
            </a:extLst>
          </p:cNvPr>
          <p:cNvCxnSpPr>
            <a:cxnSpLocks/>
          </p:cNvCxnSpPr>
          <p:nvPr/>
        </p:nvCxnSpPr>
        <p:spPr>
          <a:xfrm flipH="1" flipV="1">
            <a:off x="8716163" y="3382390"/>
            <a:ext cx="137525" cy="569155"/>
          </a:xfrm>
          <a:prstGeom prst="straightConnector1">
            <a:avLst/>
          </a:prstGeom>
          <a:ln w="28575">
            <a:solidFill>
              <a:srgbClr val="2387F3"/>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77ACA85-0E29-2E38-04E6-09B0F98E71EB}"/>
              </a:ext>
            </a:extLst>
          </p:cNvPr>
          <p:cNvCxnSpPr>
            <a:cxnSpLocks/>
          </p:cNvCxnSpPr>
          <p:nvPr/>
        </p:nvCxnSpPr>
        <p:spPr>
          <a:xfrm flipH="1" flipV="1">
            <a:off x="8537221" y="2703170"/>
            <a:ext cx="83986" cy="340051"/>
          </a:xfrm>
          <a:prstGeom prst="straightConnector1">
            <a:avLst/>
          </a:prstGeom>
          <a:ln w="28575">
            <a:solidFill>
              <a:srgbClr val="2387F3"/>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D23D7BD-D5C9-7C15-BC3B-BE59615EA25E}"/>
              </a:ext>
            </a:extLst>
          </p:cNvPr>
          <p:cNvCxnSpPr>
            <a:cxnSpLocks/>
          </p:cNvCxnSpPr>
          <p:nvPr/>
        </p:nvCxnSpPr>
        <p:spPr>
          <a:xfrm>
            <a:off x="8716163" y="2485379"/>
            <a:ext cx="537766" cy="12923"/>
          </a:xfrm>
          <a:prstGeom prst="straightConnector1">
            <a:avLst/>
          </a:prstGeom>
          <a:ln w="28575">
            <a:solidFill>
              <a:srgbClr val="2387F3"/>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C7EA4DF0-8612-B690-D77F-0A7E93832E67}"/>
              </a:ext>
            </a:extLst>
          </p:cNvPr>
          <p:cNvCxnSpPr>
            <a:cxnSpLocks/>
          </p:cNvCxnSpPr>
          <p:nvPr/>
        </p:nvCxnSpPr>
        <p:spPr>
          <a:xfrm flipV="1">
            <a:off x="9520184" y="2028782"/>
            <a:ext cx="248224" cy="325827"/>
          </a:xfrm>
          <a:prstGeom prst="straightConnector1">
            <a:avLst/>
          </a:prstGeom>
          <a:ln w="28575">
            <a:solidFill>
              <a:srgbClr val="2387F3"/>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94072C60-8AD4-D5C3-2115-8AB50716641D}"/>
              </a:ext>
            </a:extLst>
          </p:cNvPr>
          <p:cNvCxnSpPr>
            <a:cxnSpLocks/>
          </p:cNvCxnSpPr>
          <p:nvPr/>
        </p:nvCxnSpPr>
        <p:spPr>
          <a:xfrm>
            <a:off x="9777697" y="2520704"/>
            <a:ext cx="537766" cy="12923"/>
          </a:xfrm>
          <a:prstGeom prst="straightConnector1">
            <a:avLst/>
          </a:prstGeom>
          <a:ln w="28575">
            <a:solidFill>
              <a:srgbClr val="2387F3"/>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A74F6499-41A3-BEB6-6D38-B6EEA9150FBA}"/>
              </a:ext>
            </a:extLst>
          </p:cNvPr>
          <p:cNvCxnSpPr>
            <a:cxnSpLocks/>
          </p:cNvCxnSpPr>
          <p:nvPr/>
        </p:nvCxnSpPr>
        <p:spPr>
          <a:xfrm flipH="1" flipV="1">
            <a:off x="9806061" y="2653443"/>
            <a:ext cx="689063" cy="3393"/>
          </a:xfrm>
          <a:prstGeom prst="straightConnector1">
            <a:avLst/>
          </a:prstGeom>
          <a:ln w="28575">
            <a:solidFill>
              <a:srgbClr val="2387F3"/>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4379FA65-357A-B5ED-8641-D833F8F141BF}"/>
              </a:ext>
            </a:extLst>
          </p:cNvPr>
          <p:cNvCxnSpPr>
            <a:cxnSpLocks/>
          </p:cNvCxnSpPr>
          <p:nvPr/>
        </p:nvCxnSpPr>
        <p:spPr>
          <a:xfrm>
            <a:off x="9496846" y="2687862"/>
            <a:ext cx="280851" cy="584178"/>
          </a:xfrm>
          <a:prstGeom prst="straightConnector1">
            <a:avLst/>
          </a:prstGeom>
          <a:ln w="28575">
            <a:solidFill>
              <a:srgbClr val="2387F3"/>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2297BD8D-A53F-F831-6A1F-AB196B8B5684}"/>
              </a:ext>
            </a:extLst>
          </p:cNvPr>
          <p:cNvCxnSpPr>
            <a:cxnSpLocks/>
          </p:cNvCxnSpPr>
          <p:nvPr/>
        </p:nvCxnSpPr>
        <p:spPr>
          <a:xfrm flipV="1">
            <a:off x="10692044" y="3352732"/>
            <a:ext cx="179896" cy="328769"/>
          </a:xfrm>
          <a:prstGeom prst="straightConnector1">
            <a:avLst/>
          </a:prstGeom>
          <a:ln w="28575">
            <a:solidFill>
              <a:srgbClr val="EF780B"/>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8DC51B4A-3F3B-B444-0007-3106EBB12B79}"/>
              </a:ext>
            </a:extLst>
          </p:cNvPr>
          <p:cNvCxnSpPr>
            <a:cxnSpLocks/>
          </p:cNvCxnSpPr>
          <p:nvPr/>
        </p:nvCxnSpPr>
        <p:spPr>
          <a:xfrm>
            <a:off x="11137666" y="3210648"/>
            <a:ext cx="472939" cy="362368"/>
          </a:xfrm>
          <a:prstGeom prst="straightConnector1">
            <a:avLst/>
          </a:prstGeom>
          <a:ln w="28575">
            <a:solidFill>
              <a:srgbClr val="EF780B"/>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6DF6D577-C998-7533-DA87-BAE2017360DD}"/>
              </a:ext>
            </a:extLst>
          </p:cNvPr>
          <p:cNvCxnSpPr>
            <a:cxnSpLocks/>
          </p:cNvCxnSpPr>
          <p:nvPr/>
        </p:nvCxnSpPr>
        <p:spPr>
          <a:xfrm flipH="1" flipV="1">
            <a:off x="11131150" y="3325808"/>
            <a:ext cx="405128" cy="305828"/>
          </a:xfrm>
          <a:prstGeom prst="straightConnector1">
            <a:avLst/>
          </a:prstGeom>
          <a:ln w="28575">
            <a:solidFill>
              <a:srgbClr val="EF780B"/>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D1687237-648C-8D5D-1C0C-B2B871917840}"/>
              </a:ext>
            </a:extLst>
          </p:cNvPr>
          <p:cNvCxnSpPr>
            <a:cxnSpLocks/>
          </p:cNvCxnSpPr>
          <p:nvPr/>
        </p:nvCxnSpPr>
        <p:spPr>
          <a:xfrm flipH="1">
            <a:off x="10020436" y="3148300"/>
            <a:ext cx="753907" cy="243532"/>
          </a:xfrm>
          <a:prstGeom prst="straightConnector1">
            <a:avLst/>
          </a:prstGeom>
          <a:ln w="28575">
            <a:solidFill>
              <a:srgbClr val="EF780B"/>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8F7D7510-113E-717E-E82E-62A0423ED46B}"/>
              </a:ext>
            </a:extLst>
          </p:cNvPr>
          <p:cNvCxnSpPr>
            <a:cxnSpLocks/>
          </p:cNvCxnSpPr>
          <p:nvPr/>
        </p:nvCxnSpPr>
        <p:spPr>
          <a:xfrm flipH="1">
            <a:off x="9153295" y="3573016"/>
            <a:ext cx="523151" cy="448481"/>
          </a:xfrm>
          <a:prstGeom prst="straightConnector1">
            <a:avLst/>
          </a:prstGeom>
          <a:ln w="28575">
            <a:solidFill>
              <a:srgbClr val="EF780B"/>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3E38456-B235-7597-8A24-F2C5E400B66E}"/>
              </a:ext>
            </a:extLst>
          </p:cNvPr>
          <p:cNvCxnSpPr>
            <a:cxnSpLocks/>
          </p:cNvCxnSpPr>
          <p:nvPr/>
        </p:nvCxnSpPr>
        <p:spPr>
          <a:xfrm flipH="1" flipV="1">
            <a:off x="8112224" y="3681501"/>
            <a:ext cx="603939" cy="427694"/>
          </a:xfrm>
          <a:prstGeom prst="straightConnector1">
            <a:avLst/>
          </a:prstGeom>
          <a:ln w="28575">
            <a:solidFill>
              <a:srgbClr val="EF780B"/>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12373CB2-150B-B0A5-6843-E3829A75A6AF}"/>
              </a:ext>
            </a:extLst>
          </p:cNvPr>
          <p:cNvCxnSpPr>
            <a:cxnSpLocks/>
          </p:cNvCxnSpPr>
          <p:nvPr/>
        </p:nvCxnSpPr>
        <p:spPr>
          <a:xfrm flipH="1" flipV="1">
            <a:off x="9541234" y="5050394"/>
            <a:ext cx="377626" cy="213847"/>
          </a:xfrm>
          <a:prstGeom prst="straightConnector1">
            <a:avLst/>
          </a:prstGeom>
          <a:ln w="28575">
            <a:solidFill>
              <a:srgbClr val="EF780B"/>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03243D2A-1AAD-7F47-CF54-281BC5460992}"/>
              </a:ext>
            </a:extLst>
          </p:cNvPr>
          <p:cNvCxnSpPr>
            <a:cxnSpLocks/>
          </p:cNvCxnSpPr>
          <p:nvPr/>
        </p:nvCxnSpPr>
        <p:spPr>
          <a:xfrm flipH="1">
            <a:off x="10109176" y="5086082"/>
            <a:ext cx="168659" cy="155106"/>
          </a:xfrm>
          <a:prstGeom prst="straightConnector1">
            <a:avLst/>
          </a:prstGeom>
          <a:ln w="28575">
            <a:solidFill>
              <a:srgbClr val="EF780B"/>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32CC4E46-C031-7B58-66E3-419772048B73}"/>
              </a:ext>
            </a:extLst>
          </p:cNvPr>
          <p:cNvCxnSpPr>
            <a:cxnSpLocks/>
          </p:cNvCxnSpPr>
          <p:nvPr/>
        </p:nvCxnSpPr>
        <p:spPr>
          <a:xfrm flipV="1">
            <a:off x="9541234" y="4582240"/>
            <a:ext cx="184294" cy="165927"/>
          </a:xfrm>
          <a:prstGeom prst="straightConnector1">
            <a:avLst/>
          </a:prstGeom>
          <a:ln w="28575">
            <a:solidFill>
              <a:srgbClr val="EF780B"/>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88A9EED1-E401-2EF4-5AC0-97978D969B6F}"/>
              </a:ext>
            </a:extLst>
          </p:cNvPr>
          <p:cNvGrpSpPr/>
          <p:nvPr/>
        </p:nvGrpSpPr>
        <p:grpSpPr>
          <a:xfrm>
            <a:off x="1305429" y="5451878"/>
            <a:ext cx="5815966" cy="852285"/>
            <a:chOff x="3630655" y="5969897"/>
            <a:chExt cx="5815966" cy="852285"/>
          </a:xfrm>
        </p:grpSpPr>
        <p:sp>
          <p:nvSpPr>
            <p:cNvPr id="4" name="TextBox 3">
              <a:extLst>
                <a:ext uri="{FF2B5EF4-FFF2-40B4-BE49-F238E27FC236}">
                  <a16:creationId xmlns:a16="http://schemas.microsoft.com/office/drawing/2014/main" id="{9D8A9ABE-0FF1-68A6-066C-972751DC4821}"/>
                </a:ext>
              </a:extLst>
            </p:cNvPr>
            <p:cNvSpPr txBox="1"/>
            <p:nvPr/>
          </p:nvSpPr>
          <p:spPr>
            <a:xfrm>
              <a:off x="3630655" y="6072875"/>
              <a:ext cx="5815966" cy="646331"/>
            </a:xfrm>
            <a:prstGeom prst="rect">
              <a:avLst/>
            </a:prstGeom>
            <a:noFill/>
          </p:spPr>
          <p:txBody>
            <a:bodyPr wrap="square" rtlCol="0">
              <a:spAutoFit/>
            </a:bodyPr>
            <a:lstStyle/>
            <a:p>
              <a:pPr algn="ctr"/>
              <a:r>
                <a:rPr lang="en-GB" b="1" dirty="0">
                  <a:solidFill>
                    <a:srgbClr val="495961"/>
                  </a:solidFill>
                </a:rPr>
                <a:t>Cannot simply employ an off-the-shelf or memorized algorithm as a competitive solution!</a:t>
              </a:r>
            </a:p>
          </p:txBody>
        </p:sp>
        <p:sp>
          <p:nvSpPr>
            <p:cNvPr id="13" name="Rectangle: Rounded Corners 12">
              <a:extLst>
                <a:ext uri="{FF2B5EF4-FFF2-40B4-BE49-F238E27FC236}">
                  <a16:creationId xmlns:a16="http://schemas.microsoft.com/office/drawing/2014/main" id="{A7794F0A-A329-2993-08CE-8BF36178BE5F}"/>
                </a:ext>
              </a:extLst>
            </p:cNvPr>
            <p:cNvSpPr/>
            <p:nvPr/>
          </p:nvSpPr>
          <p:spPr>
            <a:xfrm>
              <a:off x="3653265" y="5969897"/>
              <a:ext cx="5793356" cy="852285"/>
            </a:xfrm>
            <a:prstGeom prst="roundRect">
              <a:avLst/>
            </a:prstGeom>
            <a:noFill/>
            <a:ln w="76200">
              <a:solidFill>
                <a:schemeClr val="bg2"/>
              </a:solidFill>
            </a:ln>
          </p:spPr>
          <p:style>
            <a:lnRef idx="2">
              <a:schemeClr val="accent1"/>
            </a:lnRef>
            <a:fillRef idx="1">
              <a:schemeClr val="lt1"/>
            </a:fillRef>
            <a:effectRef idx="0">
              <a:schemeClr val="accent1"/>
            </a:effectRef>
            <a:fontRef idx="minor">
              <a:schemeClr val="dk1"/>
            </a:fontRef>
          </p:style>
          <p:txBody>
            <a:bodyPr rtlCol="0" anchor="ctr"/>
            <a:lstStyle/>
            <a:p>
              <a:endParaRPr lang="en-GB" dirty="0"/>
            </a:p>
          </p:txBody>
        </p:sp>
      </p:grpSp>
      <p:pic>
        <p:nvPicPr>
          <p:cNvPr id="23" name="Picture 22">
            <a:extLst>
              <a:ext uri="{FF2B5EF4-FFF2-40B4-BE49-F238E27FC236}">
                <a16:creationId xmlns:a16="http://schemas.microsoft.com/office/drawing/2014/main" id="{E45F1775-BCA8-F68D-E8A2-0C18A9CAA2A2}"/>
              </a:ext>
            </a:extLst>
          </p:cNvPr>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8230936" y="5876103"/>
            <a:ext cx="1370054" cy="1028135"/>
          </a:xfrm>
          <a:prstGeom prst="rect">
            <a:avLst/>
          </a:prstGeom>
        </p:spPr>
      </p:pic>
      <p:pic>
        <p:nvPicPr>
          <p:cNvPr id="25" name="Picture 24">
            <a:extLst>
              <a:ext uri="{FF2B5EF4-FFF2-40B4-BE49-F238E27FC236}">
                <a16:creationId xmlns:a16="http://schemas.microsoft.com/office/drawing/2014/main" id="{43D19740-C5DF-AACC-C673-26CD24D018E9}"/>
              </a:ext>
            </a:extLst>
          </p:cNvPr>
          <p:cNvPicPr>
            <a:picLocks noChangeAspect="1"/>
          </p:cNvPicPr>
          <p:nvPr/>
        </p:nvPicPr>
        <p:blipFill>
          <a:blip r:embed="rId26" cstate="print">
            <a:extLst>
              <a:ext uri="{28A0092B-C50C-407E-A947-70E740481C1C}">
                <a14:useLocalDpi xmlns:a14="http://schemas.microsoft.com/office/drawing/2010/main" val="0"/>
              </a:ext>
            </a:extLst>
          </a:blip>
          <a:stretch>
            <a:fillRect/>
          </a:stretch>
        </p:blipFill>
        <p:spPr>
          <a:xfrm>
            <a:off x="10486586" y="5903679"/>
            <a:ext cx="1370054" cy="1028135"/>
          </a:xfrm>
          <a:prstGeom prst="rect">
            <a:avLst/>
          </a:prstGeom>
        </p:spPr>
      </p:pic>
    </p:spTree>
    <p:extLst>
      <p:ext uri="{BB962C8B-B14F-4D97-AF65-F5344CB8AC3E}">
        <p14:creationId xmlns:p14="http://schemas.microsoft.com/office/powerpoint/2010/main" val="3298671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CE795-4AD8-156E-820F-21BA33AFAE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AA126C-5712-B59B-1A66-DF0DF81B8DBF}"/>
              </a:ext>
            </a:extLst>
          </p:cNvPr>
          <p:cNvSpPr>
            <a:spLocks noGrp="1"/>
          </p:cNvSpPr>
          <p:nvPr>
            <p:ph type="title"/>
          </p:nvPr>
        </p:nvSpPr>
        <p:spPr>
          <a:xfrm>
            <a:off x="623392" y="-27384"/>
            <a:ext cx="10849205" cy="936104"/>
          </a:xfrm>
        </p:spPr>
        <p:txBody>
          <a:bodyPr/>
          <a:lstStyle/>
          <a:p>
            <a:r>
              <a:rPr lang="en-GB" dirty="0"/>
              <a:t>The Competitors: CS Students vs. SOTA LLMs</a:t>
            </a:r>
          </a:p>
        </p:txBody>
      </p:sp>
      <p:sp>
        <p:nvSpPr>
          <p:cNvPr id="3" name="Text Placeholder 2">
            <a:extLst>
              <a:ext uri="{FF2B5EF4-FFF2-40B4-BE49-F238E27FC236}">
                <a16:creationId xmlns:a16="http://schemas.microsoft.com/office/drawing/2014/main" id="{E4BEBF30-C81A-453B-5215-C8BEC67E70AD}"/>
              </a:ext>
            </a:extLst>
          </p:cNvPr>
          <p:cNvSpPr>
            <a:spLocks noGrp="1"/>
          </p:cNvSpPr>
          <p:nvPr>
            <p:ph type="body" sz="quarter" idx="10"/>
          </p:nvPr>
        </p:nvSpPr>
        <p:spPr>
          <a:xfrm>
            <a:off x="623393" y="1124745"/>
            <a:ext cx="5472607" cy="5013175"/>
          </a:xfrm>
        </p:spPr>
        <p:txBody>
          <a:bodyPr/>
          <a:lstStyle/>
          <a:p>
            <a:pPr marL="0" indent="0">
              <a:buNone/>
            </a:pPr>
            <a:r>
              <a:rPr lang="en-GB" dirty="0"/>
              <a:t>Human-coded Agents</a:t>
            </a:r>
          </a:p>
          <a:p>
            <a:r>
              <a:rPr lang="en-GB" b="1" dirty="0"/>
              <a:t>12</a:t>
            </a:r>
            <a:r>
              <a:rPr lang="en-GB" dirty="0"/>
              <a:t> agents developed by </a:t>
            </a:r>
            <a:r>
              <a:rPr lang="en-GB" b="1" dirty="0"/>
              <a:t>students</a:t>
            </a:r>
            <a:endParaRPr lang="en-GB" dirty="0"/>
          </a:p>
          <a:p>
            <a:pPr lvl="1"/>
            <a:r>
              <a:rPr lang="en-GB" dirty="0"/>
              <a:t>Part of their coursework for the Intelligent Agents course at EPFL</a:t>
            </a:r>
            <a:endParaRPr lang="en-GB" b="1" dirty="0"/>
          </a:p>
          <a:p>
            <a:pPr lvl="1"/>
            <a:r>
              <a:rPr lang="en-GB" b="1" dirty="0"/>
              <a:t>Not professional </a:t>
            </a:r>
            <a:r>
              <a:rPr lang="en-GB" dirty="0"/>
              <a:t>ML/software engineers</a:t>
            </a:r>
          </a:p>
          <a:p>
            <a:r>
              <a:rPr lang="en-GB" b="1" dirty="0"/>
              <a:t>7</a:t>
            </a:r>
            <a:r>
              <a:rPr lang="en-GB" dirty="0"/>
              <a:t> </a:t>
            </a:r>
            <a:r>
              <a:rPr lang="en-GB" b="1" dirty="0"/>
              <a:t>naive baselines</a:t>
            </a:r>
            <a:r>
              <a:rPr lang="en-GB" dirty="0"/>
              <a:t> developed by members of the AI Lab at EPFL</a:t>
            </a:r>
          </a:p>
          <a:p>
            <a:pPr lvl="1"/>
            <a:r>
              <a:rPr lang="en-GB" dirty="0"/>
              <a:t>Fix bid</a:t>
            </a:r>
          </a:p>
          <a:p>
            <a:pPr lvl="1"/>
            <a:r>
              <a:rPr lang="en-GB" dirty="0"/>
              <a:t>Bid distance × cost per km</a:t>
            </a:r>
          </a:p>
          <a:p>
            <a:pPr lvl="1"/>
            <a:r>
              <a:rPr lang="en-GB" dirty="0"/>
              <a:t>Own marginal cost</a:t>
            </a:r>
          </a:p>
          <a:p>
            <a:pPr lvl="1"/>
            <a:r>
              <a:rPr lang="en-GB" dirty="0"/>
              <a:t>Opponent marginal cost, etc.</a:t>
            </a:r>
          </a:p>
          <a:p>
            <a:endParaRPr lang="en-GB" dirty="0"/>
          </a:p>
          <a:p>
            <a:endParaRPr lang="en-GB" dirty="0"/>
          </a:p>
        </p:txBody>
      </p:sp>
      <p:sp>
        <p:nvSpPr>
          <p:cNvPr id="4" name="TextBox 3">
            <a:extLst>
              <a:ext uri="{FF2B5EF4-FFF2-40B4-BE49-F238E27FC236}">
                <a16:creationId xmlns:a16="http://schemas.microsoft.com/office/drawing/2014/main" id="{98A4CA7D-B46A-4F5A-C081-EE858D027FB5}"/>
              </a:ext>
            </a:extLst>
          </p:cNvPr>
          <p:cNvSpPr txBox="1"/>
          <p:nvPr/>
        </p:nvSpPr>
        <p:spPr>
          <a:xfrm>
            <a:off x="9912424" y="62898"/>
            <a:ext cx="2031325" cy="707886"/>
          </a:xfrm>
          <a:prstGeom prst="rect">
            <a:avLst/>
          </a:prstGeom>
          <a:noFill/>
        </p:spPr>
        <p:txBody>
          <a:bodyPr wrap="none" rtlCol="0">
            <a:spAutoFit/>
          </a:bodyPr>
          <a:lstStyle/>
          <a:p>
            <a:r>
              <a:rPr lang="en-GB" sz="2000" b="1" dirty="0">
                <a:solidFill>
                  <a:schemeClr val="bg2">
                    <a:lumMod val="20000"/>
                    <a:lumOff val="80000"/>
                  </a:schemeClr>
                </a:solidFill>
              </a:rPr>
              <a:t>① Benchmark</a:t>
            </a:r>
          </a:p>
          <a:p>
            <a:r>
              <a:rPr lang="en-GB" sz="2000" b="1" dirty="0">
                <a:solidFill>
                  <a:srgbClr val="495961"/>
                </a:solidFill>
              </a:rPr>
              <a:t>② Evaluation</a:t>
            </a:r>
          </a:p>
        </p:txBody>
      </p:sp>
      <p:sp>
        <p:nvSpPr>
          <p:cNvPr id="5" name="Text Placeholder 2">
            <a:extLst>
              <a:ext uri="{FF2B5EF4-FFF2-40B4-BE49-F238E27FC236}">
                <a16:creationId xmlns:a16="http://schemas.microsoft.com/office/drawing/2014/main" id="{C01F28A0-0F6F-58F7-5115-4FA3DD387793}"/>
              </a:ext>
            </a:extLst>
          </p:cNvPr>
          <p:cNvSpPr txBox="1">
            <a:spLocks/>
          </p:cNvSpPr>
          <p:nvPr/>
        </p:nvSpPr>
        <p:spPr>
          <a:xfrm>
            <a:off x="6096000" y="1124745"/>
            <a:ext cx="6096000" cy="4393059"/>
          </a:xfrm>
          <a:prstGeom prst="rect">
            <a:avLst/>
          </a:prstGeom>
        </p:spPr>
        <p:txBody>
          <a:bodyPr vert="horz" lIns="91440" tIns="45720" rIns="91440" bIns="45720" rtlCol="0">
            <a:no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kern="1200">
                <a:solidFill>
                  <a:srgbClr val="2E444E"/>
                </a:solidFill>
                <a:latin typeface="+mn-lt"/>
                <a:ea typeface="+mn-ea"/>
                <a:cs typeface="+mn-cs"/>
              </a:defRPr>
            </a:lvl1pPr>
            <a:lvl2pPr marL="742950" indent="-285750" algn="l" defTabSz="914400" rtl="0" eaLnBrk="1" latinLnBrk="0" hangingPunct="1">
              <a:spcBef>
                <a:spcPts val="0"/>
              </a:spcBef>
              <a:spcAft>
                <a:spcPts val="1200"/>
              </a:spcAft>
              <a:buFont typeface="Arial" panose="020B0604020202020204" pitchFamily="34" charset="0"/>
              <a:buChar char="–"/>
              <a:defRPr sz="1800" kern="1200">
                <a:solidFill>
                  <a:srgbClr val="2E444E"/>
                </a:solidFill>
                <a:latin typeface="+mn-lt"/>
                <a:ea typeface="+mn-ea"/>
                <a:cs typeface="+mn-cs"/>
              </a:defRPr>
            </a:lvl2pPr>
            <a:lvl3pPr marL="1143000" indent="-228600" algn="l" defTabSz="914400" rtl="0" eaLnBrk="1" latinLnBrk="0" hangingPunct="1">
              <a:spcBef>
                <a:spcPts val="0"/>
              </a:spcBef>
              <a:spcAft>
                <a:spcPts val="1200"/>
              </a:spcAft>
              <a:buFont typeface="Arial" panose="020B0604020202020204" pitchFamily="34" charset="0"/>
              <a:buChar char="•"/>
              <a:defRPr sz="1800" kern="1200">
                <a:solidFill>
                  <a:srgbClr val="2E444E"/>
                </a:solidFill>
                <a:latin typeface="+mn-lt"/>
                <a:ea typeface="+mn-ea"/>
                <a:cs typeface="+mn-cs"/>
              </a:defRPr>
            </a:lvl3pPr>
            <a:lvl4pPr marL="1600200" indent="-228600" algn="l" defTabSz="914400" rtl="0" eaLnBrk="1" latinLnBrk="0" hangingPunct="1">
              <a:spcBef>
                <a:spcPts val="0"/>
              </a:spcBef>
              <a:spcAft>
                <a:spcPts val="1200"/>
              </a:spcAft>
              <a:buFont typeface="Arial" panose="020B0604020202020204" pitchFamily="34" charset="0"/>
              <a:buChar char="–"/>
              <a:defRPr sz="1600" kern="1200">
                <a:solidFill>
                  <a:srgbClr val="2E444E"/>
                </a:solidFill>
                <a:latin typeface="+mn-lt"/>
                <a:ea typeface="+mn-ea"/>
                <a:cs typeface="+mn-cs"/>
              </a:defRPr>
            </a:lvl4pPr>
            <a:lvl5pPr marL="2057400" indent="-228600" algn="l" defTabSz="914400" rtl="0" eaLnBrk="1" latinLnBrk="0" hangingPunct="1">
              <a:spcBef>
                <a:spcPts val="0"/>
              </a:spcBef>
              <a:spcAft>
                <a:spcPts val="1200"/>
              </a:spcAft>
              <a:buFont typeface="Arial" panose="020B0604020202020204" pitchFamily="34" charset="0"/>
              <a:buChar char="»"/>
              <a:defRPr sz="1400" kern="1200">
                <a:solidFill>
                  <a:srgbClr val="2E444E"/>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GB" dirty="0"/>
              <a:t>LLM-coded Agents</a:t>
            </a:r>
          </a:p>
          <a:p>
            <a:r>
              <a:rPr lang="en-GB" b="1" dirty="0"/>
              <a:t>4</a:t>
            </a:r>
            <a:r>
              <a:rPr lang="en-GB" dirty="0"/>
              <a:t> SOTA LLMs: </a:t>
            </a:r>
            <a:r>
              <a:rPr lang="en-GB" b="1" dirty="0"/>
              <a:t>GPT-5 Thinking, Gemini 2.5 Pro, Claude Opus 4.1, and DeepSeek R1</a:t>
            </a:r>
          </a:p>
          <a:p>
            <a:r>
              <a:rPr lang="en-GB" b="1" dirty="0"/>
              <a:t>5</a:t>
            </a:r>
            <a:r>
              <a:rPr lang="en-GB" dirty="0"/>
              <a:t> different </a:t>
            </a:r>
            <a:r>
              <a:rPr lang="en-GB" b="1" dirty="0"/>
              <a:t>prompting strategies</a:t>
            </a:r>
          </a:p>
          <a:p>
            <a:pPr lvl="1"/>
            <a:r>
              <a:rPr lang="en-GB" dirty="0"/>
              <a:t>Author Prompt #1 (A1)</a:t>
            </a:r>
          </a:p>
          <a:p>
            <a:pPr lvl="1"/>
            <a:r>
              <a:rPr lang="en-GB" dirty="0"/>
              <a:t>Author Prompt #2 (A2)</a:t>
            </a:r>
          </a:p>
          <a:p>
            <a:pPr lvl="1"/>
            <a:r>
              <a:rPr lang="en-GB" dirty="0"/>
              <a:t>Iterative Refinement (IR)</a:t>
            </a:r>
          </a:p>
          <a:p>
            <a:pPr lvl="1"/>
            <a:r>
              <a:rPr lang="en-GB" dirty="0"/>
              <a:t>LLM as a Critic (CR)</a:t>
            </a:r>
          </a:p>
          <a:p>
            <a:pPr lvl="1"/>
            <a:r>
              <a:rPr lang="en-GB" dirty="0"/>
              <a:t>GPT-5 generated (optimized) prompt (GEN)</a:t>
            </a:r>
          </a:p>
          <a:p>
            <a:r>
              <a:rPr lang="en-GB" dirty="0"/>
              <a:t>Each LLM was </a:t>
            </a:r>
            <a:r>
              <a:rPr lang="en-GB" b="1" dirty="0"/>
              <a:t>prompted twice</a:t>
            </a:r>
            <a:endParaRPr lang="en-GB" dirty="0"/>
          </a:p>
          <a:p>
            <a:endParaRPr lang="en-GB" dirty="0"/>
          </a:p>
        </p:txBody>
      </p:sp>
      <p:pic>
        <p:nvPicPr>
          <p:cNvPr id="6" name="Picture 5">
            <a:extLst>
              <a:ext uri="{FF2B5EF4-FFF2-40B4-BE49-F238E27FC236}">
                <a16:creationId xmlns:a16="http://schemas.microsoft.com/office/drawing/2014/main" id="{A907D536-0018-A1A7-F64A-891CDBB9C425}"/>
              </a:ext>
            </a:extLst>
          </p:cNvPr>
          <p:cNvPicPr>
            <a:picLocks noChangeAspect="1"/>
          </p:cNvPicPr>
          <p:nvPr/>
        </p:nvPicPr>
        <p:blipFill>
          <a:blip r:embed="rId3"/>
          <a:stretch>
            <a:fillRect/>
          </a:stretch>
        </p:blipFill>
        <p:spPr>
          <a:xfrm>
            <a:off x="5628926" y="5436316"/>
            <a:ext cx="934148" cy="1328685"/>
          </a:xfrm>
          <a:prstGeom prst="rect">
            <a:avLst/>
          </a:prstGeom>
        </p:spPr>
      </p:pic>
      <p:pic>
        <p:nvPicPr>
          <p:cNvPr id="38" name="Picture 37">
            <a:extLst>
              <a:ext uri="{FF2B5EF4-FFF2-40B4-BE49-F238E27FC236}">
                <a16:creationId xmlns:a16="http://schemas.microsoft.com/office/drawing/2014/main" id="{AE65EA1B-8DAF-4643-E09B-0989AAAD684D}"/>
              </a:ext>
            </a:extLst>
          </p:cNvPr>
          <p:cNvPicPr>
            <a:picLocks noChangeAspect="1"/>
          </p:cNvPicPr>
          <p:nvPr/>
        </p:nvPicPr>
        <p:blipFill>
          <a:blip r:embed="rId4"/>
          <a:stretch>
            <a:fillRect/>
          </a:stretch>
        </p:blipFill>
        <p:spPr>
          <a:xfrm>
            <a:off x="7536160" y="5332439"/>
            <a:ext cx="1224136" cy="1514681"/>
          </a:xfrm>
          <a:prstGeom prst="rect">
            <a:avLst/>
          </a:prstGeom>
        </p:spPr>
      </p:pic>
      <p:pic>
        <p:nvPicPr>
          <p:cNvPr id="39" name="Picture 38">
            <a:extLst>
              <a:ext uri="{FF2B5EF4-FFF2-40B4-BE49-F238E27FC236}">
                <a16:creationId xmlns:a16="http://schemas.microsoft.com/office/drawing/2014/main" id="{491F7E36-148E-F537-BD92-68CD27035339}"/>
              </a:ext>
            </a:extLst>
          </p:cNvPr>
          <p:cNvPicPr>
            <a:picLocks noChangeAspect="1"/>
          </p:cNvPicPr>
          <p:nvPr/>
        </p:nvPicPr>
        <p:blipFill>
          <a:blip r:embed="rId4"/>
          <a:stretch>
            <a:fillRect/>
          </a:stretch>
        </p:blipFill>
        <p:spPr>
          <a:xfrm>
            <a:off x="9480376" y="5332439"/>
            <a:ext cx="1224136" cy="1514681"/>
          </a:xfrm>
          <a:prstGeom prst="rect">
            <a:avLst/>
          </a:prstGeom>
        </p:spPr>
      </p:pic>
      <p:cxnSp>
        <p:nvCxnSpPr>
          <p:cNvPr id="41" name="Connector: Elbow 40">
            <a:extLst>
              <a:ext uri="{FF2B5EF4-FFF2-40B4-BE49-F238E27FC236}">
                <a16:creationId xmlns:a16="http://schemas.microsoft.com/office/drawing/2014/main" id="{5A1377E3-F0F2-4BB0-F1FF-EC4ECA8D8697}"/>
              </a:ext>
            </a:extLst>
          </p:cNvPr>
          <p:cNvCxnSpPr>
            <a:cxnSpLocks/>
            <a:stCxn id="3" idx="2"/>
          </p:cNvCxnSpPr>
          <p:nvPr/>
        </p:nvCxnSpPr>
        <p:spPr>
          <a:xfrm rot="16200000" flipH="1">
            <a:off x="4264595" y="5233022"/>
            <a:ext cx="459432" cy="2269228"/>
          </a:xfrm>
          <a:prstGeom prst="bentConnector2">
            <a:avLst/>
          </a:prstGeom>
          <a:ln w="76200">
            <a:tailEnd type="triangle"/>
          </a:ln>
        </p:spPr>
        <p:style>
          <a:lnRef idx="1">
            <a:schemeClr val="accent6"/>
          </a:lnRef>
          <a:fillRef idx="0">
            <a:schemeClr val="accent6"/>
          </a:fillRef>
          <a:effectRef idx="0">
            <a:schemeClr val="accent6"/>
          </a:effectRef>
          <a:fontRef idx="minor">
            <a:schemeClr val="tx1"/>
          </a:fontRef>
        </p:style>
      </p:cxnSp>
      <p:cxnSp>
        <p:nvCxnSpPr>
          <p:cNvPr id="44" name="Straight Arrow Connector 43">
            <a:extLst>
              <a:ext uri="{FF2B5EF4-FFF2-40B4-BE49-F238E27FC236}">
                <a16:creationId xmlns:a16="http://schemas.microsoft.com/office/drawing/2014/main" id="{57D84534-035B-65A4-CB54-77BFFCE51E84}"/>
              </a:ext>
            </a:extLst>
          </p:cNvPr>
          <p:cNvCxnSpPr>
            <a:cxnSpLocks/>
            <a:endCxn id="6" idx="3"/>
          </p:cNvCxnSpPr>
          <p:nvPr/>
        </p:nvCxnSpPr>
        <p:spPr>
          <a:xfrm flipH="1">
            <a:off x="6563074" y="6100659"/>
            <a:ext cx="810579" cy="0"/>
          </a:xfrm>
          <a:prstGeom prst="straightConnector1">
            <a:avLst/>
          </a:prstGeom>
          <a:ln w="76200">
            <a:solidFill>
              <a:srgbClr val="015DDC"/>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1B41599B-0380-33A7-023D-9AA4B6483300}"/>
              </a:ext>
            </a:extLst>
          </p:cNvPr>
          <p:cNvSpPr/>
          <p:nvPr/>
        </p:nvSpPr>
        <p:spPr>
          <a:xfrm>
            <a:off x="6096000" y="1484784"/>
            <a:ext cx="5832648" cy="3816424"/>
          </a:xfrm>
          <a:prstGeom prst="rect">
            <a:avLst/>
          </a:prstGeom>
          <a:solidFill>
            <a:srgbClr val="FEFEFE">
              <a:alpha val="80000"/>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extLst>
              <a:ext uri="{FF2B5EF4-FFF2-40B4-BE49-F238E27FC236}">
                <a16:creationId xmlns:a16="http://schemas.microsoft.com/office/drawing/2014/main" id="{5C445AF9-D370-FAA8-338E-F700DC8FD9CB}"/>
              </a:ext>
            </a:extLst>
          </p:cNvPr>
          <p:cNvSpPr/>
          <p:nvPr/>
        </p:nvSpPr>
        <p:spPr>
          <a:xfrm>
            <a:off x="289479" y="3392995"/>
            <a:ext cx="5076095" cy="2707663"/>
          </a:xfrm>
          <a:prstGeom prst="rect">
            <a:avLst/>
          </a:prstGeom>
          <a:solidFill>
            <a:srgbClr val="FEFEFE">
              <a:alpha val="80000"/>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379313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46"/>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C7AD5-EC53-5213-FAC3-227558435E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0963DA-7783-E34B-8548-3103F300B42F}"/>
              </a:ext>
            </a:extLst>
          </p:cNvPr>
          <p:cNvSpPr>
            <a:spLocks noGrp="1"/>
          </p:cNvSpPr>
          <p:nvPr>
            <p:ph type="title"/>
          </p:nvPr>
        </p:nvSpPr>
        <p:spPr/>
        <p:txBody>
          <a:bodyPr/>
          <a:lstStyle/>
          <a:p>
            <a:r>
              <a:rPr lang="en-GB" dirty="0"/>
              <a:t>A Tournament, Not a Unit Test</a:t>
            </a:r>
          </a:p>
        </p:txBody>
      </p:sp>
      <p:sp>
        <p:nvSpPr>
          <p:cNvPr id="3" name="Text Placeholder 2">
            <a:extLst>
              <a:ext uri="{FF2B5EF4-FFF2-40B4-BE49-F238E27FC236}">
                <a16:creationId xmlns:a16="http://schemas.microsoft.com/office/drawing/2014/main" id="{F4E17D1A-E2A7-9461-E8DD-BFAA6856F204}"/>
              </a:ext>
            </a:extLst>
          </p:cNvPr>
          <p:cNvSpPr>
            <a:spLocks noGrp="1"/>
          </p:cNvSpPr>
          <p:nvPr>
            <p:ph type="body" sz="quarter" idx="10"/>
          </p:nvPr>
        </p:nvSpPr>
        <p:spPr>
          <a:xfrm>
            <a:off x="623393" y="1844825"/>
            <a:ext cx="7488831" cy="4393059"/>
          </a:xfrm>
        </p:spPr>
        <p:txBody>
          <a:bodyPr/>
          <a:lstStyle/>
          <a:p>
            <a:r>
              <a:rPr lang="en-GB" dirty="0"/>
              <a:t>Setup: 12 double all-play-all tournaments</a:t>
            </a:r>
          </a:p>
          <a:p>
            <a:pPr lvl="1"/>
            <a:r>
              <a:rPr lang="en-GB" dirty="0"/>
              <a:t>4 network topologies; 3 tournaments with each topology</a:t>
            </a:r>
          </a:p>
          <a:p>
            <a:pPr lvl="1"/>
            <a:r>
              <a:rPr lang="en-GB" dirty="0"/>
              <a:t>Each pair of agents plays twice for fairness, swapping companies</a:t>
            </a:r>
          </a:p>
          <a:p>
            <a:pPr lvl="1"/>
            <a:r>
              <a:rPr lang="en-GB" b="1" dirty="0"/>
              <a:t>38304 matches </a:t>
            </a:r>
            <a:r>
              <a:rPr lang="en-GB" dirty="0"/>
              <a:t>in total</a:t>
            </a:r>
          </a:p>
          <a:p>
            <a:r>
              <a:rPr lang="en-GB" dirty="0"/>
              <a:t>57 agents in total</a:t>
            </a:r>
          </a:p>
          <a:p>
            <a:pPr lvl="1"/>
            <a:r>
              <a:rPr lang="en-GB" b="1" dirty="0"/>
              <a:t>40 LLM-coded </a:t>
            </a:r>
            <a:r>
              <a:rPr lang="en-GB" dirty="0"/>
              <a:t>agents</a:t>
            </a:r>
          </a:p>
          <a:p>
            <a:pPr lvl="1"/>
            <a:r>
              <a:rPr lang="en-GB" b="1" dirty="0"/>
              <a:t>17 human-coded</a:t>
            </a:r>
            <a:r>
              <a:rPr lang="en-GB" dirty="0"/>
              <a:t> agents</a:t>
            </a:r>
          </a:p>
        </p:txBody>
      </p:sp>
      <p:sp>
        <p:nvSpPr>
          <p:cNvPr id="4" name="TextBox 3">
            <a:extLst>
              <a:ext uri="{FF2B5EF4-FFF2-40B4-BE49-F238E27FC236}">
                <a16:creationId xmlns:a16="http://schemas.microsoft.com/office/drawing/2014/main" id="{A57C1E01-1E10-7E9E-A3CD-159245C307D5}"/>
              </a:ext>
            </a:extLst>
          </p:cNvPr>
          <p:cNvSpPr txBox="1"/>
          <p:nvPr/>
        </p:nvSpPr>
        <p:spPr>
          <a:xfrm>
            <a:off x="9912424" y="62898"/>
            <a:ext cx="2031325" cy="707886"/>
          </a:xfrm>
          <a:prstGeom prst="rect">
            <a:avLst/>
          </a:prstGeom>
          <a:noFill/>
        </p:spPr>
        <p:txBody>
          <a:bodyPr wrap="none" rtlCol="0">
            <a:spAutoFit/>
          </a:bodyPr>
          <a:lstStyle/>
          <a:p>
            <a:r>
              <a:rPr lang="en-GB" sz="2000" b="1" dirty="0">
                <a:solidFill>
                  <a:schemeClr val="bg2">
                    <a:lumMod val="20000"/>
                    <a:lumOff val="80000"/>
                  </a:schemeClr>
                </a:solidFill>
              </a:rPr>
              <a:t>① Benchmark</a:t>
            </a:r>
          </a:p>
          <a:p>
            <a:r>
              <a:rPr lang="en-GB" sz="2000" b="1" dirty="0">
                <a:solidFill>
                  <a:srgbClr val="495961"/>
                </a:solidFill>
              </a:rPr>
              <a:t>② Evaluation</a:t>
            </a:r>
          </a:p>
        </p:txBody>
      </p:sp>
      <p:pic>
        <p:nvPicPr>
          <p:cNvPr id="17" name="Picture 16">
            <a:extLst>
              <a:ext uri="{FF2B5EF4-FFF2-40B4-BE49-F238E27FC236}">
                <a16:creationId xmlns:a16="http://schemas.microsoft.com/office/drawing/2014/main" id="{86B877C9-CAC5-F5F7-B87A-AA27AD780615}"/>
              </a:ext>
            </a:extLst>
          </p:cNvPr>
          <p:cNvPicPr>
            <a:picLocks noChangeAspect="1"/>
          </p:cNvPicPr>
          <p:nvPr/>
        </p:nvPicPr>
        <p:blipFill>
          <a:blip r:embed="rId3"/>
          <a:stretch>
            <a:fillRect/>
          </a:stretch>
        </p:blipFill>
        <p:spPr>
          <a:xfrm>
            <a:off x="9120336" y="804171"/>
            <a:ext cx="2587837" cy="3680809"/>
          </a:xfrm>
          <a:prstGeom prst="rect">
            <a:avLst/>
          </a:prstGeom>
        </p:spPr>
      </p:pic>
      <p:pic>
        <p:nvPicPr>
          <p:cNvPr id="30" name="Picture 29">
            <a:extLst>
              <a:ext uri="{FF2B5EF4-FFF2-40B4-BE49-F238E27FC236}">
                <a16:creationId xmlns:a16="http://schemas.microsoft.com/office/drawing/2014/main" id="{8B19077D-3DF6-B6EA-38D2-E1DAE5CD7A8E}"/>
              </a:ext>
            </a:extLst>
          </p:cNvPr>
          <p:cNvPicPr>
            <a:picLocks noChangeAspect="1"/>
          </p:cNvPicPr>
          <p:nvPr/>
        </p:nvPicPr>
        <p:blipFill>
          <a:blip r:embed="rId4"/>
          <a:stretch>
            <a:fillRect/>
          </a:stretch>
        </p:blipFill>
        <p:spPr>
          <a:xfrm>
            <a:off x="5489011" y="3702179"/>
            <a:ext cx="2016224" cy="2000934"/>
          </a:xfrm>
          <a:prstGeom prst="rect">
            <a:avLst/>
          </a:prstGeom>
        </p:spPr>
      </p:pic>
      <p:cxnSp>
        <p:nvCxnSpPr>
          <p:cNvPr id="33" name="Straight Arrow Connector 32">
            <a:extLst>
              <a:ext uri="{FF2B5EF4-FFF2-40B4-BE49-F238E27FC236}">
                <a16:creationId xmlns:a16="http://schemas.microsoft.com/office/drawing/2014/main" id="{C1B63477-51ED-2B0B-30C0-9754924DD17D}"/>
              </a:ext>
            </a:extLst>
          </p:cNvPr>
          <p:cNvCxnSpPr>
            <a:cxnSpLocks/>
          </p:cNvCxnSpPr>
          <p:nvPr/>
        </p:nvCxnSpPr>
        <p:spPr>
          <a:xfrm flipH="1">
            <a:off x="7644172" y="3573016"/>
            <a:ext cx="1224136" cy="648072"/>
          </a:xfrm>
          <a:prstGeom prst="straightConnector1">
            <a:avLst/>
          </a:prstGeom>
          <a:ln w="76200">
            <a:solidFill>
              <a:srgbClr val="495961"/>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2BA96894-7381-CD88-4D2E-F40CF8C6B683}"/>
              </a:ext>
            </a:extLst>
          </p:cNvPr>
          <p:cNvSpPr/>
          <p:nvPr/>
        </p:nvSpPr>
        <p:spPr>
          <a:xfrm>
            <a:off x="11708173" y="6453336"/>
            <a:ext cx="148467" cy="1440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1" name="Picture 30">
            <a:extLst>
              <a:ext uri="{FF2B5EF4-FFF2-40B4-BE49-F238E27FC236}">
                <a16:creationId xmlns:a16="http://schemas.microsoft.com/office/drawing/2014/main" id="{90FE6AEB-73D5-E6F6-2D2A-BFD9276E99C1}"/>
              </a:ext>
            </a:extLst>
          </p:cNvPr>
          <p:cNvPicPr>
            <a:picLocks noChangeAspect="1"/>
          </p:cNvPicPr>
          <p:nvPr/>
        </p:nvPicPr>
        <p:blipFill>
          <a:blip r:embed="rId5">
            <a:alphaModFix/>
          </a:blip>
          <a:stretch>
            <a:fillRect/>
          </a:stretch>
        </p:blipFill>
        <p:spPr>
          <a:xfrm>
            <a:off x="8760296" y="4881066"/>
            <a:ext cx="3401390" cy="1914035"/>
          </a:xfrm>
          <a:prstGeom prst="rect">
            <a:avLst/>
          </a:prstGeom>
        </p:spPr>
      </p:pic>
      <p:sp>
        <p:nvSpPr>
          <p:cNvPr id="5" name="TextBox 4">
            <a:extLst>
              <a:ext uri="{FF2B5EF4-FFF2-40B4-BE49-F238E27FC236}">
                <a16:creationId xmlns:a16="http://schemas.microsoft.com/office/drawing/2014/main" id="{BF57A3A7-B571-9A43-EAC8-223D58581B09}"/>
              </a:ext>
            </a:extLst>
          </p:cNvPr>
          <p:cNvSpPr txBox="1"/>
          <p:nvPr/>
        </p:nvSpPr>
        <p:spPr>
          <a:xfrm>
            <a:off x="11769663" y="6519833"/>
            <a:ext cx="348172" cy="246221"/>
          </a:xfrm>
          <a:prstGeom prst="rect">
            <a:avLst/>
          </a:prstGeom>
          <a:noFill/>
        </p:spPr>
        <p:txBody>
          <a:bodyPr wrap="none" rtlCol="0">
            <a:spAutoFit/>
          </a:bodyPr>
          <a:lstStyle/>
          <a:p>
            <a:r>
              <a:rPr lang="en-GB" sz="1000" dirty="0"/>
              <a:t>12</a:t>
            </a:r>
          </a:p>
        </p:txBody>
      </p:sp>
      <p:cxnSp>
        <p:nvCxnSpPr>
          <p:cNvPr id="36" name="Straight Arrow Connector 35">
            <a:extLst>
              <a:ext uri="{FF2B5EF4-FFF2-40B4-BE49-F238E27FC236}">
                <a16:creationId xmlns:a16="http://schemas.microsoft.com/office/drawing/2014/main" id="{FBDD43DC-0554-9FC1-A01B-36BA28ABF359}"/>
              </a:ext>
            </a:extLst>
          </p:cNvPr>
          <p:cNvCxnSpPr>
            <a:cxnSpLocks/>
          </p:cNvCxnSpPr>
          <p:nvPr/>
        </p:nvCxnSpPr>
        <p:spPr>
          <a:xfrm>
            <a:off x="7644308" y="5013176"/>
            <a:ext cx="1224000" cy="648000"/>
          </a:xfrm>
          <a:prstGeom prst="straightConnector1">
            <a:avLst/>
          </a:prstGeom>
          <a:ln w="76200">
            <a:solidFill>
              <a:srgbClr val="49596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437626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4B8B1-AE62-0604-B9BA-E61CE740510C}"/>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6DBD09A0-B011-418D-00F1-7B97DA83565B}"/>
              </a:ext>
            </a:extLst>
          </p:cNvPr>
          <p:cNvSpPr>
            <a:spLocks noGrp="1"/>
          </p:cNvSpPr>
          <p:nvPr>
            <p:ph type="title"/>
          </p:nvPr>
        </p:nvSpPr>
        <p:spPr>
          <a:xfrm>
            <a:off x="608518" y="692696"/>
            <a:ext cx="10849205" cy="936104"/>
          </a:xfrm>
        </p:spPr>
        <p:txBody>
          <a:bodyPr anchor="b" anchorCtr="0"/>
          <a:lstStyle/>
          <a:p>
            <a:r>
              <a:rPr lang="en-GB" dirty="0"/>
              <a:t>Results</a:t>
            </a:r>
            <a:endParaRPr lang="en-GB" dirty="0">
              <a:solidFill>
                <a:schemeClr val="accent5"/>
              </a:solidFill>
            </a:endParaRPr>
          </a:p>
        </p:txBody>
      </p:sp>
      <p:sp>
        <p:nvSpPr>
          <p:cNvPr id="14" name="Text Placeholder 13">
            <a:extLst>
              <a:ext uri="{FF2B5EF4-FFF2-40B4-BE49-F238E27FC236}">
                <a16:creationId xmlns:a16="http://schemas.microsoft.com/office/drawing/2014/main" id="{9775EAF3-D4C1-BC9C-EC68-925EC017EA28}"/>
              </a:ext>
            </a:extLst>
          </p:cNvPr>
          <p:cNvSpPr>
            <a:spLocks noGrp="1"/>
          </p:cNvSpPr>
          <p:nvPr>
            <p:ph type="body" sz="quarter" idx="10"/>
          </p:nvPr>
        </p:nvSpPr>
        <p:spPr>
          <a:xfrm>
            <a:off x="623393" y="1844825"/>
            <a:ext cx="9505055" cy="5012800"/>
          </a:xfrm>
        </p:spPr>
        <p:txBody>
          <a:bodyPr/>
          <a:lstStyle/>
          <a:p>
            <a:pPr marL="0" indent="0">
              <a:buNone/>
            </a:pPr>
            <a:r>
              <a:rPr lang="en-GB" dirty="0"/>
              <a:t>🏆 </a:t>
            </a:r>
            <a:r>
              <a:rPr lang="en-GB" b="1" dirty="0"/>
              <a:t>Humans Dominated.</a:t>
            </a:r>
            <a:br>
              <a:rPr lang="en-GB" dirty="0"/>
            </a:br>
            <a:r>
              <a:rPr lang="en-GB" dirty="0"/>
              <a:t>The </a:t>
            </a:r>
            <a:r>
              <a:rPr lang="en-GB" b="1" dirty="0"/>
              <a:t>top 5</a:t>
            </a:r>
            <a:r>
              <a:rPr lang="en-GB" dirty="0"/>
              <a:t> spots are consistently won by human-coded agents.</a:t>
            </a:r>
          </a:p>
          <a:p>
            <a:pPr marL="0" indent="0">
              <a:buNone/>
            </a:pPr>
            <a:endParaRPr lang="en-GB" dirty="0"/>
          </a:p>
          <a:p>
            <a:pPr marL="0" indent="0">
              <a:buNone/>
            </a:pPr>
            <a:r>
              <a:rPr lang="en-GB" dirty="0"/>
              <a:t>🤖 </a:t>
            </a:r>
            <a:r>
              <a:rPr lang="en-GB" b="1" dirty="0"/>
              <a:t>LLMs Fell Short.</a:t>
            </a:r>
            <a:br>
              <a:rPr lang="en-GB" dirty="0"/>
            </a:br>
            <a:r>
              <a:rPr lang="en-GB" dirty="0"/>
              <a:t>33 of 40 LLM-coded agents </a:t>
            </a:r>
            <a:r>
              <a:rPr lang="en-GB" b="1" dirty="0"/>
              <a:t>lost to simple baseline </a:t>
            </a:r>
            <a:r>
              <a:rPr lang="en-GB" dirty="0"/>
              <a:t>strategies.</a:t>
            </a:r>
          </a:p>
          <a:p>
            <a:pPr marL="0" indent="0">
              <a:buNone/>
            </a:pPr>
            <a:br>
              <a:rPr lang="en-GB" dirty="0"/>
            </a:br>
            <a:r>
              <a:rPr lang="en-GB" dirty="0"/>
              <a:t>Given the </a:t>
            </a:r>
            <a:r>
              <a:rPr lang="en-GB" b="1" dirty="0"/>
              <a:t>best human solution as an input </a:t>
            </a:r>
            <a:r>
              <a:rPr lang="en-GB" dirty="0"/>
              <a:t>and </a:t>
            </a:r>
            <a:r>
              <a:rPr lang="en-GB" b="1" dirty="0"/>
              <a:t>prompted to improve</a:t>
            </a:r>
            <a:r>
              <a:rPr lang="en-GB" dirty="0"/>
              <a:t> upon, the best performing LLM makes the solution </a:t>
            </a:r>
            <a:r>
              <a:rPr lang="en-GB" b="1" dirty="0"/>
              <a:t>significantly worse </a:t>
            </a:r>
            <a:r>
              <a:rPr lang="en-GB" dirty="0"/>
              <a:t>instead of improving it.</a:t>
            </a:r>
          </a:p>
          <a:p>
            <a:pPr marL="0" indent="0">
              <a:buNone/>
            </a:pPr>
            <a:endParaRPr lang="en-GB" i="1" dirty="0"/>
          </a:p>
          <a:p>
            <a:pPr marL="0" indent="0">
              <a:buNone/>
            </a:pPr>
            <a:r>
              <a:rPr lang="en-GB" dirty="0"/>
              <a:t>📉</a:t>
            </a:r>
            <a:r>
              <a:rPr lang="en-GB" b="1" dirty="0"/>
              <a:t>Many Shortfalls During Testing.</a:t>
            </a:r>
            <a:endParaRPr lang="en-GB" b="1" i="1" dirty="0"/>
          </a:p>
          <a:p>
            <a:pPr marL="0" indent="0">
              <a:buNone/>
            </a:pPr>
            <a:r>
              <a:rPr lang="en-GB" dirty="0"/>
              <a:t>LLMs often implemented an </a:t>
            </a:r>
            <a:r>
              <a:rPr lang="en-GB" b="1" dirty="0"/>
              <a:t>inadmissible</a:t>
            </a:r>
            <a:r>
              <a:rPr lang="en-GB" dirty="0"/>
              <a:t> heuristic for A*, while claiming it is admissible (not part of the tournament!).</a:t>
            </a:r>
          </a:p>
          <a:p>
            <a:endParaRPr lang="en-GB" dirty="0"/>
          </a:p>
        </p:txBody>
      </p:sp>
      <p:pic>
        <p:nvPicPr>
          <p:cNvPr id="5" name="Picture 4">
            <a:extLst>
              <a:ext uri="{FF2B5EF4-FFF2-40B4-BE49-F238E27FC236}">
                <a16:creationId xmlns:a16="http://schemas.microsoft.com/office/drawing/2014/main" id="{7ACDF5A1-D9FA-3034-22A6-6BAA893FC0E0}"/>
              </a:ext>
            </a:extLst>
          </p:cNvPr>
          <p:cNvPicPr>
            <a:picLocks noChangeAspect="1"/>
          </p:cNvPicPr>
          <p:nvPr/>
        </p:nvPicPr>
        <p:blipFill>
          <a:blip r:embed="rId3"/>
          <a:stretch>
            <a:fillRect/>
          </a:stretch>
        </p:blipFill>
        <p:spPr>
          <a:xfrm>
            <a:off x="2135560" y="404664"/>
            <a:ext cx="1111177" cy="1141290"/>
          </a:xfrm>
          <a:prstGeom prst="rect">
            <a:avLst/>
          </a:prstGeom>
        </p:spPr>
      </p:pic>
      <p:pic>
        <p:nvPicPr>
          <p:cNvPr id="7" name="Picture 6">
            <a:extLst>
              <a:ext uri="{FF2B5EF4-FFF2-40B4-BE49-F238E27FC236}">
                <a16:creationId xmlns:a16="http://schemas.microsoft.com/office/drawing/2014/main" id="{D993B30C-83F7-D068-ABDF-7098225B37D4}"/>
              </a:ext>
            </a:extLst>
          </p:cNvPr>
          <p:cNvPicPr>
            <a:picLocks noChangeAspect="1"/>
          </p:cNvPicPr>
          <p:nvPr/>
        </p:nvPicPr>
        <p:blipFill>
          <a:blip r:embed="rId4"/>
          <a:stretch>
            <a:fillRect/>
          </a:stretch>
        </p:blipFill>
        <p:spPr>
          <a:xfrm>
            <a:off x="6029359" y="342932"/>
            <a:ext cx="1108165" cy="1264754"/>
          </a:xfrm>
          <a:prstGeom prst="rect">
            <a:avLst/>
          </a:prstGeom>
        </p:spPr>
      </p:pic>
      <p:pic>
        <p:nvPicPr>
          <p:cNvPr id="10" name="Picture 2" descr="OpenAI, ChatGPT Logo Icon 22227362 PNG">
            <a:extLst>
              <a:ext uri="{FF2B5EF4-FFF2-40B4-BE49-F238E27FC236}">
                <a16:creationId xmlns:a16="http://schemas.microsoft.com/office/drawing/2014/main" id="{8150A3C5-9B95-F0F2-4DF0-31AB2A4B822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43734" y="182935"/>
            <a:ext cx="1393994" cy="158474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Arrow Connector 11">
            <a:extLst>
              <a:ext uri="{FF2B5EF4-FFF2-40B4-BE49-F238E27FC236}">
                <a16:creationId xmlns:a16="http://schemas.microsoft.com/office/drawing/2014/main" id="{AC628396-74D7-B775-7B19-2A0A1D6188FA}"/>
              </a:ext>
            </a:extLst>
          </p:cNvPr>
          <p:cNvCxnSpPr>
            <a:cxnSpLocks/>
            <a:stCxn id="5" idx="3"/>
            <a:endCxn id="10" idx="1"/>
          </p:cNvCxnSpPr>
          <p:nvPr/>
        </p:nvCxnSpPr>
        <p:spPr>
          <a:xfrm>
            <a:off x="3246737" y="975309"/>
            <a:ext cx="696997" cy="1"/>
          </a:xfrm>
          <a:prstGeom prst="straightConnector1">
            <a:avLst/>
          </a:prstGeom>
          <a:ln w="76200">
            <a:solidFill>
              <a:srgbClr val="49596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FEECC31-FD30-58D4-2F4E-8562FE23E652}"/>
              </a:ext>
            </a:extLst>
          </p:cNvPr>
          <p:cNvCxnSpPr>
            <a:cxnSpLocks/>
            <a:stCxn id="10" idx="3"/>
            <a:endCxn id="7" idx="1"/>
          </p:cNvCxnSpPr>
          <p:nvPr/>
        </p:nvCxnSpPr>
        <p:spPr>
          <a:xfrm flipV="1">
            <a:off x="5337728" y="975309"/>
            <a:ext cx="691631" cy="1"/>
          </a:xfrm>
          <a:prstGeom prst="straightConnector1">
            <a:avLst/>
          </a:prstGeom>
          <a:ln w="76200">
            <a:solidFill>
              <a:srgbClr val="495961"/>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586A6783-0669-C62D-8788-765D8A26C7AF}"/>
              </a:ext>
            </a:extLst>
          </p:cNvPr>
          <p:cNvPicPr>
            <a:picLocks noChangeAspect="1"/>
          </p:cNvPicPr>
          <p:nvPr/>
        </p:nvPicPr>
        <p:blipFill>
          <a:blip r:embed="rId6"/>
          <a:stretch>
            <a:fillRect/>
          </a:stretch>
        </p:blipFill>
        <p:spPr>
          <a:xfrm>
            <a:off x="10466556" y="-375"/>
            <a:ext cx="1693724" cy="6858000"/>
          </a:xfrm>
          <a:prstGeom prst="rect">
            <a:avLst/>
          </a:prstGeom>
        </p:spPr>
      </p:pic>
      <p:sp>
        <p:nvSpPr>
          <p:cNvPr id="8" name="Left Bracket 7">
            <a:extLst>
              <a:ext uri="{FF2B5EF4-FFF2-40B4-BE49-F238E27FC236}">
                <a16:creationId xmlns:a16="http://schemas.microsoft.com/office/drawing/2014/main" id="{022DCAD9-7BD2-9DC8-8595-EF3C799B0E45}"/>
              </a:ext>
            </a:extLst>
          </p:cNvPr>
          <p:cNvSpPr/>
          <p:nvPr/>
        </p:nvSpPr>
        <p:spPr>
          <a:xfrm>
            <a:off x="10272464" y="217125"/>
            <a:ext cx="216024" cy="547579"/>
          </a:xfrm>
          <a:prstGeom prst="leftBracket">
            <a:avLst/>
          </a:prstGeom>
          <a:ln w="762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9" name="Left Bracket 8">
            <a:extLst>
              <a:ext uri="{FF2B5EF4-FFF2-40B4-BE49-F238E27FC236}">
                <a16:creationId xmlns:a16="http://schemas.microsoft.com/office/drawing/2014/main" id="{9524A3C4-C7B6-8F8A-1B95-6AE1F7D8C611}"/>
              </a:ext>
            </a:extLst>
          </p:cNvPr>
          <p:cNvSpPr/>
          <p:nvPr/>
        </p:nvSpPr>
        <p:spPr>
          <a:xfrm>
            <a:off x="10272464" y="2343933"/>
            <a:ext cx="216024" cy="4469443"/>
          </a:xfrm>
          <a:prstGeom prst="leftBracket">
            <a:avLst/>
          </a:prstGeom>
          <a:ln w="762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 name="TextBox 1">
            <a:extLst>
              <a:ext uri="{FF2B5EF4-FFF2-40B4-BE49-F238E27FC236}">
                <a16:creationId xmlns:a16="http://schemas.microsoft.com/office/drawing/2014/main" id="{BFD98771-EFC8-BD28-775E-096946323827}"/>
              </a:ext>
            </a:extLst>
          </p:cNvPr>
          <p:cNvSpPr txBox="1"/>
          <p:nvPr/>
        </p:nvSpPr>
        <p:spPr>
          <a:xfrm>
            <a:off x="11782137" y="6453336"/>
            <a:ext cx="348172" cy="246221"/>
          </a:xfrm>
          <a:prstGeom prst="rect">
            <a:avLst/>
          </a:prstGeom>
          <a:noFill/>
        </p:spPr>
        <p:txBody>
          <a:bodyPr wrap="none" rtlCol="0">
            <a:spAutoFit/>
          </a:bodyPr>
          <a:lstStyle/>
          <a:p>
            <a:r>
              <a:rPr lang="en-GB" sz="1000" dirty="0"/>
              <a:t>13</a:t>
            </a:r>
          </a:p>
        </p:txBody>
      </p:sp>
      <p:cxnSp>
        <p:nvCxnSpPr>
          <p:cNvPr id="4" name="Straight Arrow Connector 3">
            <a:extLst>
              <a:ext uri="{FF2B5EF4-FFF2-40B4-BE49-F238E27FC236}">
                <a16:creationId xmlns:a16="http://schemas.microsoft.com/office/drawing/2014/main" id="{192CF419-F3E7-25E1-3CEC-5CE98126A8D4}"/>
              </a:ext>
            </a:extLst>
          </p:cNvPr>
          <p:cNvCxnSpPr>
            <a:cxnSpLocks/>
          </p:cNvCxnSpPr>
          <p:nvPr/>
        </p:nvCxnSpPr>
        <p:spPr>
          <a:xfrm flipV="1">
            <a:off x="8472264" y="476672"/>
            <a:ext cx="1656184" cy="1867261"/>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3727418-C8B1-8638-E691-5F2818809AAA}"/>
              </a:ext>
            </a:extLst>
          </p:cNvPr>
          <p:cNvCxnSpPr>
            <a:cxnSpLocks/>
          </p:cNvCxnSpPr>
          <p:nvPr/>
        </p:nvCxnSpPr>
        <p:spPr>
          <a:xfrm>
            <a:off x="8519234" y="3565595"/>
            <a:ext cx="1617018"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0544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xEl>
                                              <p:pRg st="3" end="3"/>
                                            </p:txEl>
                                          </p:spTgt>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500"/>
                                  </p:stCondLst>
                                  <p:childTnLst>
                                    <p:set>
                                      <p:cBhvr>
                                        <p:cTn id="25" dur="1" fill="hold">
                                          <p:stCondLst>
                                            <p:cond delay="0"/>
                                          </p:stCondLst>
                                        </p:cTn>
                                        <p:tgtEl>
                                          <p:spTgt spid="12"/>
                                        </p:tgtEl>
                                        <p:attrNameLst>
                                          <p:attrName>style.visibility</p:attrName>
                                        </p:attrNameLst>
                                      </p:cBhvr>
                                      <p:to>
                                        <p:strVal val="visible"/>
                                      </p:to>
                                    </p:set>
                                  </p:childTnLst>
                                </p:cTn>
                              </p:par>
                            </p:childTnLst>
                          </p:cTn>
                        </p:par>
                        <p:par>
                          <p:cTn id="26" fill="hold">
                            <p:stCondLst>
                              <p:cond delay="500"/>
                            </p:stCondLst>
                            <p:childTnLst>
                              <p:par>
                                <p:cTn id="27" presetID="1" presetClass="entr" presetSubtype="0" fill="hold" nodeType="afterEffect">
                                  <p:stCondLst>
                                    <p:cond delay="500"/>
                                  </p:stCondLst>
                                  <p:childTnLst>
                                    <p:set>
                                      <p:cBhvr>
                                        <p:cTn id="28" dur="1" fill="hold">
                                          <p:stCondLst>
                                            <p:cond delay="0"/>
                                          </p:stCondLst>
                                        </p:cTn>
                                        <p:tgtEl>
                                          <p:spTgt spid="10"/>
                                        </p:tgtEl>
                                        <p:attrNameLst>
                                          <p:attrName>style.visibility</p:attrName>
                                        </p:attrNameLst>
                                      </p:cBhvr>
                                      <p:to>
                                        <p:strVal val="visible"/>
                                      </p:to>
                                    </p:set>
                                  </p:childTnLst>
                                </p:cTn>
                              </p:par>
                            </p:childTnLst>
                          </p:cTn>
                        </p:par>
                        <p:par>
                          <p:cTn id="29" fill="hold">
                            <p:stCondLst>
                              <p:cond delay="1000"/>
                            </p:stCondLst>
                            <p:childTnLst>
                              <p:par>
                                <p:cTn id="30" presetID="1" presetClass="entr" presetSubtype="0" fill="hold" nodeType="afterEffect">
                                  <p:stCondLst>
                                    <p:cond delay="500"/>
                                  </p:stCondLst>
                                  <p:childTnLst>
                                    <p:set>
                                      <p:cBhvr>
                                        <p:cTn id="31" dur="1" fill="hold">
                                          <p:stCondLst>
                                            <p:cond delay="0"/>
                                          </p:stCondLst>
                                        </p:cTn>
                                        <p:tgtEl>
                                          <p:spTgt spid="15"/>
                                        </p:tgtEl>
                                        <p:attrNameLst>
                                          <p:attrName>style.visibility</p:attrName>
                                        </p:attrNameLst>
                                      </p:cBhvr>
                                      <p:to>
                                        <p:strVal val="visible"/>
                                      </p:to>
                                    </p:set>
                                  </p:childTnLst>
                                </p:cTn>
                              </p:par>
                            </p:childTnLst>
                          </p:cTn>
                        </p:par>
                        <p:par>
                          <p:cTn id="32" fill="hold">
                            <p:stCondLst>
                              <p:cond delay="1500"/>
                            </p:stCondLst>
                            <p:childTnLst>
                              <p:par>
                                <p:cTn id="33" presetID="1" presetClass="entr" presetSubtype="0" fill="hold" nodeType="afterEffect">
                                  <p:stCondLst>
                                    <p:cond delay="50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xEl>
                                              <p:pRg st="5" end="5"/>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94317-2C7A-2DA0-A568-0D7AB953E4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69CBDB-8540-DE36-49DA-FE04664A5465}"/>
              </a:ext>
            </a:extLst>
          </p:cNvPr>
          <p:cNvSpPr>
            <a:spLocks noGrp="1"/>
          </p:cNvSpPr>
          <p:nvPr>
            <p:ph type="title"/>
          </p:nvPr>
        </p:nvSpPr>
        <p:spPr/>
        <p:txBody>
          <a:bodyPr/>
          <a:lstStyle/>
          <a:p>
            <a:r>
              <a:rPr lang="en-GB" dirty="0"/>
              <a:t>🎯 Takeaways</a:t>
            </a:r>
          </a:p>
        </p:txBody>
      </p:sp>
      <p:sp>
        <p:nvSpPr>
          <p:cNvPr id="3" name="Text Placeholder 2">
            <a:extLst>
              <a:ext uri="{FF2B5EF4-FFF2-40B4-BE49-F238E27FC236}">
                <a16:creationId xmlns:a16="http://schemas.microsoft.com/office/drawing/2014/main" id="{CD983E49-498A-C214-BF3C-FF4EEECA8213}"/>
              </a:ext>
            </a:extLst>
          </p:cNvPr>
          <p:cNvSpPr>
            <a:spLocks noGrp="1"/>
          </p:cNvSpPr>
          <p:nvPr>
            <p:ph type="body" sz="quarter" idx="10"/>
          </p:nvPr>
        </p:nvSpPr>
        <p:spPr>
          <a:xfrm>
            <a:off x="623393" y="1844826"/>
            <a:ext cx="10847916" cy="3240358"/>
          </a:xfrm>
        </p:spPr>
        <p:txBody>
          <a:bodyPr/>
          <a:lstStyle/>
          <a:p>
            <a:pPr marL="0" indent="0">
              <a:buNone/>
            </a:pPr>
            <a:r>
              <a:rPr lang="en-GB" dirty="0"/>
              <a:t>💡 </a:t>
            </a:r>
            <a:r>
              <a:rPr lang="en-GB" b="1" dirty="0"/>
              <a:t>Runnable ≠ Competitive: </a:t>
            </a:r>
            <a:r>
              <a:rPr lang="en-GB" dirty="0"/>
              <a:t>While LLMs can generate code that runs (i.e., free of syntax errors), the solution might not be competitive to human-designed ones on dimensions such as strategic planning, reasoning, optimization, or multi-agent competition.</a:t>
            </a:r>
          </a:p>
          <a:p>
            <a:pPr marL="0" indent="0">
              <a:buNone/>
            </a:pPr>
            <a:r>
              <a:rPr lang="en-GB" dirty="0"/>
              <a:t>💡 </a:t>
            </a:r>
            <a:r>
              <a:rPr lang="en-GB" b="1" dirty="0"/>
              <a:t>LLMs for Scaffolding, Humans in the Loop: </a:t>
            </a:r>
            <a:r>
              <a:rPr lang="en-GB" dirty="0"/>
              <a:t>For problems requiring optimization and planning, LLMs can accelerate implementation but humans should not be left out of the loop.</a:t>
            </a:r>
          </a:p>
          <a:p>
            <a:pPr marL="0" indent="0">
              <a:buNone/>
            </a:pPr>
            <a:r>
              <a:rPr lang="en-GB" dirty="0"/>
              <a:t>💡 </a:t>
            </a:r>
            <a:r>
              <a:rPr lang="en-GB" b="1" dirty="0"/>
              <a:t>Refactor with Caution: </a:t>
            </a:r>
            <a:r>
              <a:rPr lang="en-GB" dirty="0"/>
              <a:t>Code refactoring with no human guidance might degrade performance.</a:t>
            </a:r>
          </a:p>
        </p:txBody>
      </p:sp>
      <p:grpSp>
        <p:nvGrpSpPr>
          <p:cNvPr id="6" name="Group 5">
            <a:extLst>
              <a:ext uri="{FF2B5EF4-FFF2-40B4-BE49-F238E27FC236}">
                <a16:creationId xmlns:a16="http://schemas.microsoft.com/office/drawing/2014/main" id="{7352D419-E5AF-7AD1-5509-EC3C9A0714D9}"/>
              </a:ext>
            </a:extLst>
          </p:cNvPr>
          <p:cNvGrpSpPr/>
          <p:nvPr/>
        </p:nvGrpSpPr>
        <p:grpSpPr>
          <a:xfrm>
            <a:off x="1221628" y="5445224"/>
            <a:ext cx="9748743" cy="1001458"/>
            <a:chOff x="-709609" y="5013161"/>
            <a:chExt cx="9748743" cy="1001458"/>
          </a:xfrm>
        </p:grpSpPr>
        <p:sp>
          <p:nvSpPr>
            <p:cNvPr id="4" name="Rectangle: Rounded Corners 3">
              <a:extLst>
                <a:ext uri="{FF2B5EF4-FFF2-40B4-BE49-F238E27FC236}">
                  <a16:creationId xmlns:a16="http://schemas.microsoft.com/office/drawing/2014/main" id="{14569655-95C2-3182-AEA6-62783B85B055}"/>
                </a:ext>
              </a:extLst>
            </p:cNvPr>
            <p:cNvSpPr/>
            <p:nvPr/>
          </p:nvSpPr>
          <p:spPr>
            <a:xfrm>
              <a:off x="-709609" y="5013161"/>
              <a:ext cx="9748743" cy="1001458"/>
            </a:xfrm>
            <a:prstGeom prst="roundRect">
              <a:avLst/>
            </a:prstGeom>
            <a:noFill/>
            <a:ln w="76200">
              <a:solidFill>
                <a:schemeClr val="bg2"/>
              </a:solidFill>
            </a:ln>
          </p:spPr>
          <p:style>
            <a:lnRef idx="2">
              <a:schemeClr val="accent1"/>
            </a:lnRef>
            <a:fillRef idx="1">
              <a:schemeClr val="lt1"/>
            </a:fillRef>
            <a:effectRef idx="0">
              <a:schemeClr val="accent1"/>
            </a:effectRef>
            <a:fontRef idx="minor">
              <a:schemeClr val="dk1"/>
            </a:fontRef>
          </p:style>
          <p:txBody>
            <a:bodyPr rtlCol="0" anchor="ctr"/>
            <a:lstStyle/>
            <a:p>
              <a:endParaRPr lang="en-GB" dirty="0"/>
            </a:p>
          </p:txBody>
        </p:sp>
        <p:sp>
          <p:nvSpPr>
            <p:cNvPr id="5" name="TextBox 4">
              <a:extLst>
                <a:ext uri="{FF2B5EF4-FFF2-40B4-BE49-F238E27FC236}">
                  <a16:creationId xmlns:a16="http://schemas.microsoft.com/office/drawing/2014/main" id="{D7ECD9A4-5C17-94EF-DEFE-38D7553AFF0D}"/>
                </a:ext>
              </a:extLst>
            </p:cNvPr>
            <p:cNvSpPr txBox="1"/>
            <p:nvPr/>
          </p:nvSpPr>
          <p:spPr>
            <a:xfrm>
              <a:off x="-709609" y="5159947"/>
              <a:ext cx="9748743" cy="707886"/>
            </a:xfrm>
            <a:prstGeom prst="rect">
              <a:avLst/>
            </a:prstGeom>
            <a:noFill/>
          </p:spPr>
          <p:txBody>
            <a:bodyPr wrap="square" rtlCol="0">
              <a:spAutoFit/>
            </a:bodyPr>
            <a:lstStyle/>
            <a:p>
              <a:pPr algn="ctr"/>
              <a:r>
                <a:rPr lang="en-GB" sz="2000" b="1" dirty="0"/>
                <a:t>Need for a New Frontier of AI Evaluation</a:t>
              </a:r>
              <a:r>
                <a:rPr lang="en-GB" sz="2000" dirty="0"/>
                <a:t>: Novel scenarios emerge from strategic interactions between agents.</a:t>
              </a:r>
              <a:endParaRPr lang="en-GB" sz="2000" b="1" dirty="0">
                <a:solidFill>
                  <a:srgbClr val="495961"/>
                </a:solidFill>
              </a:endParaRPr>
            </a:p>
          </p:txBody>
        </p:sp>
      </p:grpSp>
    </p:spTree>
    <p:extLst>
      <p:ext uri="{BB962C8B-B14F-4D97-AF65-F5344CB8AC3E}">
        <p14:creationId xmlns:p14="http://schemas.microsoft.com/office/powerpoint/2010/main" val="1059345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7B8F5-2A95-2C6F-1872-B311CCF406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808869-1C15-2A69-9EE9-519057B75941}"/>
              </a:ext>
            </a:extLst>
          </p:cNvPr>
          <p:cNvSpPr>
            <a:spLocks noGrp="1"/>
          </p:cNvSpPr>
          <p:nvPr>
            <p:ph type="title"/>
          </p:nvPr>
        </p:nvSpPr>
        <p:spPr>
          <a:xfrm>
            <a:off x="623392" y="-99392"/>
            <a:ext cx="10849205" cy="936104"/>
          </a:xfrm>
        </p:spPr>
        <p:txBody>
          <a:bodyPr/>
          <a:lstStyle/>
          <a:p>
            <a:r>
              <a:rPr lang="en-GB" dirty="0"/>
              <a:t>Summary: Vibe Coding Meets Reality</a:t>
            </a:r>
          </a:p>
        </p:txBody>
      </p:sp>
      <p:sp>
        <p:nvSpPr>
          <p:cNvPr id="3" name="Text Placeholder 2">
            <a:extLst>
              <a:ext uri="{FF2B5EF4-FFF2-40B4-BE49-F238E27FC236}">
                <a16:creationId xmlns:a16="http://schemas.microsoft.com/office/drawing/2014/main" id="{700D27CD-FDF4-4D0F-4217-2832B5B606E4}"/>
              </a:ext>
            </a:extLst>
          </p:cNvPr>
          <p:cNvSpPr>
            <a:spLocks noGrp="1"/>
          </p:cNvSpPr>
          <p:nvPr>
            <p:ph type="body" sz="quarter" idx="10"/>
          </p:nvPr>
        </p:nvSpPr>
        <p:spPr>
          <a:xfrm>
            <a:off x="623394" y="1052737"/>
            <a:ext cx="8351791" cy="4393059"/>
          </a:xfrm>
        </p:spPr>
        <p:txBody>
          <a:bodyPr/>
          <a:lstStyle/>
          <a:p>
            <a:r>
              <a:rPr lang="en-GB" b="1" dirty="0"/>
              <a:t>New Frontier </a:t>
            </a:r>
            <a:r>
              <a:rPr lang="en-GB" dirty="0"/>
              <a:t>of Benchmarks</a:t>
            </a:r>
          </a:p>
          <a:p>
            <a:pPr lvl="1"/>
            <a:r>
              <a:rPr lang="en-GB" dirty="0"/>
              <a:t>Multi-agent, long-horizon planning, opponent reasoning, and strategic optimization.</a:t>
            </a:r>
          </a:p>
          <a:p>
            <a:r>
              <a:rPr lang="en-GB" dirty="0"/>
              <a:t>The Vibe Coding Promise: All people, </a:t>
            </a:r>
            <a:r>
              <a:rPr lang="en-GB" b="1" dirty="0"/>
              <a:t>irrespective of technical backgrounds </a:t>
            </a:r>
            <a:r>
              <a:rPr lang="en-GB" dirty="0"/>
              <a:t>can turn their ideas into code in seconds</a:t>
            </a:r>
          </a:p>
          <a:p>
            <a:pPr lvl="1"/>
            <a:r>
              <a:rPr lang="en-GB" dirty="0"/>
              <a:t>Passing the unit test is not the finish line when your code has to face another agent.</a:t>
            </a:r>
          </a:p>
          <a:p>
            <a:pPr lvl="1"/>
            <a:r>
              <a:rPr lang="en-GB" dirty="0"/>
              <a:t>The </a:t>
            </a:r>
            <a:r>
              <a:rPr lang="en-GB" b="1" dirty="0"/>
              <a:t>top 5</a:t>
            </a:r>
            <a:r>
              <a:rPr lang="en-GB" dirty="0"/>
              <a:t> spots are consistently won by human-coded agents.</a:t>
            </a:r>
          </a:p>
          <a:p>
            <a:pPr lvl="1"/>
            <a:r>
              <a:rPr lang="en-GB" dirty="0"/>
              <a:t>Majority of the LLM-coded agents (33/40) lose to simple baselines</a:t>
            </a:r>
          </a:p>
        </p:txBody>
      </p:sp>
      <p:pic>
        <p:nvPicPr>
          <p:cNvPr id="7" name="Picture 6">
            <a:extLst>
              <a:ext uri="{FF2B5EF4-FFF2-40B4-BE49-F238E27FC236}">
                <a16:creationId xmlns:a16="http://schemas.microsoft.com/office/drawing/2014/main" id="{044A470E-A4C1-44E5-F82C-102E04133773}"/>
              </a:ext>
            </a:extLst>
          </p:cNvPr>
          <p:cNvPicPr>
            <a:picLocks noChangeAspect="1"/>
          </p:cNvPicPr>
          <p:nvPr/>
        </p:nvPicPr>
        <p:blipFill>
          <a:blip r:embed="rId3"/>
          <a:stretch>
            <a:fillRect/>
          </a:stretch>
        </p:blipFill>
        <p:spPr>
          <a:xfrm>
            <a:off x="8847513" y="16326"/>
            <a:ext cx="3299618" cy="4092722"/>
          </a:xfrm>
          <a:prstGeom prst="rect">
            <a:avLst/>
          </a:prstGeom>
        </p:spPr>
      </p:pic>
      <p:sp>
        <p:nvSpPr>
          <p:cNvPr id="8" name="Text Placeholder 2">
            <a:extLst>
              <a:ext uri="{FF2B5EF4-FFF2-40B4-BE49-F238E27FC236}">
                <a16:creationId xmlns:a16="http://schemas.microsoft.com/office/drawing/2014/main" id="{63D67E00-C67C-A02A-B7BC-4E9709A290C7}"/>
              </a:ext>
            </a:extLst>
          </p:cNvPr>
          <p:cNvSpPr txBox="1">
            <a:spLocks/>
          </p:cNvSpPr>
          <p:nvPr/>
        </p:nvSpPr>
        <p:spPr>
          <a:xfrm>
            <a:off x="2121352" y="4689139"/>
            <a:ext cx="7200800" cy="2232247"/>
          </a:xfrm>
          <a:prstGeom prst="rect">
            <a:avLst/>
          </a:prstGeom>
        </p:spPr>
        <p:txBody>
          <a:bodyPr vert="horz" lIns="91440" tIns="45720" rIns="91440" bIns="45720" rtlCol="0">
            <a:no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kern="1200">
                <a:solidFill>
                  <a:srgbClr val="2E444E"/>
                </a:solidFill>
                <a:latin typeface="+mn-lt"/>
                <a:ea typeface="+mn-ea"/>
                <a:cs typeface="+mn-cs"/>
              </a:defRPr>
            </a:lvl1pPr>
            <a:lvl2pPr marL="742950" indent="-285750" algn="l" defTabSz="914400" rtl="0" eaLnBrk="1" latinLnBrk="0" hangingPunct="1">
              <a:spcBef>
                <a:spcPts val="0"/>
              </a:spcBef>
              <a:spcAft>
                <a:spcPts val="1200"/>
              </a:spcAft>
              <a:buFont typeface="Arial" panose="020B0604020202020204" pitchFamily="34" charset="0"/>
              <a:buChar char="–"/>
              <a:defRPr sz="1800" kern="1200">
                <a:solidFill>
                  <a:srgbClr val="2E444E"/>
                </a:solidFill>
                <a:latin typeface="+mn-lt"/>
                <a:ea typeface="+mn-ea"/>
                <a:cs typeface="+mn-cs"/>
              </a:defRPr>
            </a:lvl2pPr>
            <a:lvl3pPr marL="1143000" indent="-228600" algn="l" defTabSz="914400" rtl="0" eaLnBrk="1" latinLnBrk="0" hangingPunct="1">
              <a:spcBef>
                <a:spcPts val="0"/>
              </a:spcBef>
              <a:spcAft>
                <a:spcPts val="1200"/>
              </a:spcAft>
              <a:buFont typeface="Arial" panose="020B0604020202020204" pitchFamily="34" charset="0"/>
              <a:buChar char="•"/>
              <a:defRPr sz="1800" kern="1200">
                <a:solidFill>
                  <a:srgbClr val="2E444E"/>
                </a:solidFill>
                <a:latin typeface="+mn-lt"/>
                <a:ea typeface="+mn-ea"/>
                <a:cs typeface="+mn-cs"/>
              </a:defRPr>
            </a:lvl3pPr>
            <a:lvl4pPr marL="1600200" indent="-228600" algn="l" defTabSz="914400" rtl="0" eaLnBrk="1" latinLnBrk="0" hangingPunct="1">
              <a:spcBef>
                <a:spcPts val="0"/>
              </a:spcBef>
              <a:spcAft>
                <a:spcPts val="1200"/>
              </a:spcAft>
              <a:buFont typeface="Arial" panose="020B0604020202020204" pitchFamily="34" charset="0"/>
              <a:buChar char="–"/>
              <a:defRPr sz="1600" kern="1200">
                <a:solidFill>
                  <a:srgbClr val="2E444E"/>
                </a:solidFill>
                <a:latin typeface="+mn-lt"/>
                <a:ea typeface="+mn-ea"/>
                <a:cs typeface="+mn-cs"/>
              </a:defRPr>
            </a:lvl4pPr>
            <a:lvl5pPr marL="2057400" indent="-228600" algn="l" defTabSz="914400" rtl="0" eaLnBrk="1" latinLnBrk="0" hangingPunct="1">
              <a:spcBef>
                <a:spcPts val="0"/>
              </a:spcBef>
              <a:spcAft>
                <a:spcPts val="1200"/>
              </a:spcAft>
              <a:buFont typeface="Arial" panose="020B0604020202020204" pitchFamily="34" charset="0"/>
              <a:buChar char="»"/>
              <a:defRPr sz="1400" kern="1200">
                <a:solidFill>
                  <a:srgbClr val="2E444E"/>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GB" sz="1400" b="1" dirty="0"/>
              <a:t>Acknowledgements</a:t>
            </a:r>
          </a:p>
          <a:p>
            <a:pPr>
              <a:spcAft>
                <a:spcPts val="0"/>
              </a:spcAft>
            </a:pPr>
            <a:r>
              <a:rPr lang="en-GB" sz="1400" dirty="0"/>
              <a:t>Professor Emeritus </a:t>
            </a:r>
            <a:r>
              <a:rPr lang="en-GB" sz="1400" b="1" dirty="0"/>
              <a:t>Boi </a:t>
            </a:r>
            <a:r>
              <a:rPr lang="en-GB" sz="1400" b="1" dirty="0" err="1"/>
              <a:t>Faltings</a:t>
            </a:r>
            <a:endParaRPr lang="en-GB" sz="1400" b="1" dirty="0"/>
          </a:p>
          <a:p>
            <a:pPr>
              <a:spcAft>
                <a:spcPts val="0"/>
              </a:spcAft>
            </a:pPr>
            <a:r>
              <a:rPr lang="en-GB" sz="1400" dirty="0"/>
              <a:t>Members of the </a:t>
            </a:r>
            <a:r>
              <a:rPr lang="en-GB" sz="1400" b="1" dirty="0"/>
              <a:t>Artificial Intelligence Laboratory at EPFL </a:t>
            </a:r>
            <a:r>
              <a:rPr lang="en-GB" sz="1400" dirty="0"/>
              <a:t>who contributed in the development of the Intelligent Agents course over the years</a:t>
            </a:r>
          </a:p>
          <a:p>
            <a:pPr>
              <a:spcAft>
                <a:spcPts val="0"/>
              </a:spcAft>
            </a:pPr>
            <a:r>
              <a:rPr lang="en-GB" sz="1400" b="1" dirty="0"/>
              <a:t>Students</a:t>
            </a:r>
            <a:r>
              <a:rPr lang="en-GB" sz="1400" dirty="0"/>
              <a:t> who contributed their code as baselines, specifically: Clement </a:t>
            </a:r>
            <a:r>
              <a:rPr lang="en-GB" sz="1400" dirty="0" err="1"/>
              <a:t>Burgelin</a:t>
            </a:r>
            <a:r>
              <a:rPr lang="en-GB" sz="1400" dirty="0"/>
              <a:t>, Jonas Ulbrich ("Student 3"), Lorenzo </a:t>
            </a:r>
            <a:r>
              <a:rPr lang="en-GB" sz="1400" dirty="0" err="1"/>
              <a:t>Jacqueroud</a:t>
            </a:r>
            <a:r>
              <a:rPr lang="en-GB" sz="1400" dirty="0"/>
              <a:t>, Alessandro Mari, Antoine Bourret, Samuel </a:t>
            </a:r>
            <a:r>
              <a:rPr lang="en-GB" sz="1400" dirty="0" err="1"/>
              <a:t>Dubuis</a:t>
            </a:r>
            <a:r>
              <a:rPr lang="en-GB" sz="1400" dirty="0"/>
              <a:t>, Oliver Facklam, Florian Singer, Manuel Leone, Stefano Huber, </a:t>
            </a:r>
            <a:r>
              <a:rPr lang="en-GB" sz="1400" dirty="0" err="1"/>
              <a:t>Wenuka</a:t>
            </a:r>
            <a:r>
              <a:rPr lang="en-GB" sz="1400" dirty="0"/>
              <a:t> Gunarathna, Sofia </a:t>
            </a:r>
            <a:r>
              <a:rPr lang="en-GB" sz="1400" dirty="0" err="1"/>
              <a:t>Dandjee</a:t>
            </a:r>
            <a:r>
              <a:rPr lang="en-GB" sz="1400" dirty="0"/>
              <a:t>, Karim Assi, Eugenie </a:t>
            </a:r>
            <a:r>
              <a:rPr lang="en-GB" sz="1400" dirty="0" err="1"/>
              <a:t>Demeure</a:t>
            </a:r>
            <a:r>
              <a:rPr lang="en-GB" sz="1400" dirty="0"/>
              <a:t>, Lorenzo </a:t>
            </a:r>
            <a:r>
              <a:rPr lang="en-GB" sz="1400" dirty="0" err="1"/>
              <a:t>Panchetti</a:t>
            </a:r>
            <a:r>
              <a:rPr lang="en-GB" sz="1400" dirty="0"/>
              <a:t>, Maxence Perret. </a:t>
            </a:r>
            <a:endParaRPr lang="en-GB" sz="1400" b="1" dirty="0"/>
          </a:p>
          <a:p>
            <a:endParaRPr lang="en-GB" dirty="0"/>
          </a:p>
          <a:p>
            <a:endParaRPr lang="en-GB" dirty="0"/>
          </a:p>
        </p:txBody>
      </p:sp>
      <p:grpSp>
        <p:nvGrpSpPr>
          <p:cNvPr id="11" name="Group 10">
            <a:extLst>
              <a:ext uri="{FF2B5EF4-FFF2-40B4-BE49-F238E27FC236}">
                <a16:creationId xmlns:a16="http://schemas.microsoft.com/office/drawing/2014/main" id="{405A342C-BE8D-8927-87B9-D5933717EFE3}"/>
              </a:ext>
            </a:extLst>
          </p:cNvPr>
          <p:cNvGrpSpPr/>
          <p:nvPr/>
        </p:nvGrpSpPr>
        <p:grpSpPr>
          <a:xfrm>
            <a:off x="98088" y="4741041"/>
            <a:ext cx="1728192" cy="2015803"/>
            <a:chOff x="9264352" y="1773389"/>
            <a:chExt cx="1728192" cy="2015803"/>
          </a:xfrm>
        </p:grpSpPr>
        <p:sp>
          <p:nvSpPr>
            <p:cNvPr id="12" name="Rectangle: Rounded Corners 11">
              <a:extLst>
                <a:ext uri="{FF2B5EF4-FFF2-40B4-BE49-F238E27FC236}">
                  <a16:creationId xmlns:a16="http://schemas.microsoft.com/office/drawing/2014/main" id="{868260D1-13A6-28B7-12B5-E4614448D4BD}"/>
                </a:ext>
              </a:extLst>
            </p:cNvPr>
            <p:cNvSpPr/>
            <p:nvPr/>
          </p:nvSpPr>
          <p:spPr>
            <a:xfrm>
              <a:off x="9264352" y="1773389"/>
              <a:ext cx="1728192" cy="2015803"/>
            </a:xfrm>
            <a:prstGeom prst="roundRect">
              <a:avLst/>
            </a:prstGeom>
            <a:noFill/>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3" name="Picture 12">
              <a:extLst>
                <a:ext uri="{FF2B5EF4-FFF2-40B4-BE49-F238E27FC236}">
                  <a16:creationId xmlns:a16="http://schemas.microsoft.com/office/drawing/2014/main" id="{56829122-5466-26D5-D32B-5A5C8FBB61EA}"/>
                </a:ext>
              </a:extLst>
            </p:cNvPr>
            <p:cNvPicPr>
              <a:picLocks noChangeAspect="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9336284" y="2133429"/>
              <a:ext cx="1584328" cy="1584328"/>
            </a:xfrm>
            <a:prstGeom prst="rect">
              <a:avLst/>
            </a:prstGeom>
          </p:spPr>
        </p:pic>
        <p:sp>
          <p:nvSpPr>
            <p:cNvPr id="14" name="TextBox 13">
              <a:extLst>
                <a:ext uri="{FF2B5EF4-FFF2-40B4-BE49-F238E27FC236}">
                  <a16:creationId xmlns:a16="http://schemas.microsoft.com/office/drawing/2014/main" id="{04862B04-6E1A-BF0F-9964-403A731A4B6E}"/>
                </a:ext>
              </a:extLst>
            </p:cNvPr>
            <p:cNvSpPr txBox="1"/>
            <p:nvPr/>
          </p:nvSpPr>
          <p:spPr>
            <a:xfrm>
              <a:off x="9631356" y="1773389"/>
              <a:ext cx="994183" cy="400110"/>
            </a:xfrm>
            <a:prstGeom prst="rect">
              <a:avLst/>
            </a:prstGeom>
            <a:noFill/>
          </p:spPr>
          <p:txBody>
            <a:bodyPr wrap="none" rtlCol="0">
              <a:spAutoFit/>
            </a:bodyPr>
            <a:lstStyle/>
            <a:p>
              <a:r>
                <a:rPr lang="en-GB" sz="2000" b="1" dirty="0">
                  <a:solidFill>
                    <a:schemeClr val="bg2"/>
                  </a:solidFill>
                </a:rPr>
                <a:t>Paper:</a:t>
              </a:r>
            </a:p>
          </p:txBody>
        </p:sp>
      </p:grpSp>
      <p:grpSp>
        <p:nvGrpSpPr>
          <p:cNvPr id="15" name="Group 14">
            <a:extLst>
              <a:ext uri="{FF2B5EF4-FFF2-40B4-BE49-F238E27FC236}">
                <a16:creationId xmlns:a16="http://schemas.microsoft.com/office/drawing/2014/main" id="{19BE58E5-BBC0-A3AF-0BB1-00FAB28FD0DF}"/>
              </a:ext>
            </a:extLst>
          </p:cNvPr>
          <p:cNvGrpSpPr/>
          <p:nvPr/>
        </p:nvGrpSpPr>
        <p:grpSpPr>
          <a:xfrm>
            <a:off x="9755929" y="4741041"/>
            <a:ext cx="1728192" cy="2015803"/>
            <a:chOff x="9264352" y="1773389"/>
            <a:chExt cx="1728192" cy="2015803"/>
          </a:xfrm>
        </p:grpSpPr>
        <p:sp>
          <p:nvSpPr>
            <p:cNvPr id="16" name="Rectangle: Rounded Corners 15">
              <a:extLst>
                <a:ext uri="{FF2B5EF4-FFF2-40B4-BE49-F238E27FC236}">
                  <a16:creationId xmlns:a16="http://schemas.microsoft.com/office/drawing/2014/main" id="{558E62A4-EACC-73DC-664A-9C3D6438082C}"/>
                </a:ext>
              </a:extLst>
            </p:cNvPr>
            <p:cNvSpPr/>
            <p:nvPr/>
          </p:nvSpPr>
          <p:spPr>
            <a:xfrm>
              <a:off x="9264352" y="1773389"/>
              <a:ext cx="1728192" cy="2015803"/>
            </a:xfrm>
            <a:prstGeom prst="roundRect">
              <a:avLst/>
            </a:prstGeom>
            <a:noFill/>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TextBox 17">
              <a:extLst>
                <a:ext uri="{FF2B5EF4-FFF2-40B4-BE49-F238E27FC236}">
                  <a16:creationId xmlns:a16="http://schemas.microsoft.com/office/drawing/2014/main" id="{48917083-1E61-4DDD-F48F-D5BC619E4007}"/>
                </a:ext>
              </a:extLst>
            </p:cNvPr>
            <p:cNvSpPr txBox="1"/>
            <p:nvPr/>
          </p:nvSpPr>
          <p:spPr>
            <a:xfrm>
              <a:off x="9486285" y="1773389"/>
              <a:ext cx="1284326" cy="400110"/>
            </a:xfrm>
            <a:prstGeom prst="rect">
              <a:avLst/>
            </a:prstGeom>
            <a:noFill/>
          </p:spPr>
          <p:txBody>
            <a:bodyPr wrap="none" rtlCol="0">
              <a:spAutoFit/>
            </a:bodyPr>
            <a:lstStyle/>
            <a:p>
              <a:r>
                <a:rPr lang="en-GB" sz="2000" b="1" dirty="0">
                  <a:solidFill>
                    <a:schemeClr val="bg2"/>
                  </a:solidFill>
                </a:rPr>
                <a:t>Website:</a:t>
              </a:r>
            </a:p>
          </p:txBody>
        </p:sp>
      </p:grpSp>
      <p:pic>
        <p:nvPicPr>
          <p:cNvPr id="20" name="Picture 19">
            <a:extLst>
              <a:ext uri="{FF2B5EF4-FFF2-40B4-BE49-F238E27FC236}">
                <a16:creationId xmlns:a16="http://schemas.microsoft.com/office/drawing/2014/main" id="{23F04E3D-6C9F-D922-E998-248612147560}"/>
              </a:ext>
            </a:extLst>
          </p:cNvPr>
          <p:cNvPicPr>
            <a:picLocks noChangeAspect="1"/>
          </p:cNvPicPr>
          <p:nvPr/>
        </p:nvPicPr>
        <p:blipFill>
          <a:blip r:embed="rId5"/>
          <a:stretch>
            <a:fillRect/>
          </a:stretch>
        </p:blipFill>
        <p:spPr>
          <a:xfrm>
            <a:off x="7392144" y="4681"/>
            <a:ext cx="1108165" cy="1264754"/>
          </a:xfrm>
          <a:prstGeom prst="rect">
            <a:avLst/>
          </a:prstGeom>
        </p:spPr>
      </p:pic>
      <p:sp>
        <p:nvSpPr>
          <p:cNvPr id="21" name="TextBox 20">
            <a:extLst>
              <a:ext uri="{FF2B5EF4-FFF2-40B4-BE49-F238E27FC236}">
                <a16:creationId xmlns:a16="http://schemas.microsoft.com/office/drawing/2014/main" id="{97FBE847-C2FE-948A-D55C-6F9B43AD767C}"/>
              </a:ext>
            </a:extLst>
          </p:cNvPr>
          <p:cNvSpPr txBox="1"/>
          <p:nvPr/>
        </p:nvSpPr>
        <p:spPr>
          <a:xfrm>
            <a:off x="7820991" y="2158922"/>
            <a:ext cx="763869" cy="1569660"/>
          </a:xfrm>
          <a:prstGeom prst="rect">
            <a:avLst/>
          </a:prstGeom>
          <a:noFill/>
        </p:spPr>
        <p:txBody>
          <a:bodyPr wrap="square" rtlCol="0">
            <a:spAutoFit/>
          </a:bodyPr>
          <a:lstStyle/>
          <a:p>
            <a:r>
              <a:rPr lang="en-GB" sz="9600" dirty="0">
                <a:solidFill>
                  <a:srgbClr val="FF0000"/>
                </a:solidFill>
              </a:rPr>
              <a:t>*</a:t>
            </a:r>
            <a:endParaRPr lang="en-GB" dirty="0">
              <a:solidFill>
                <a:srgbClr val="FF0000"/>
              </a:solidFill>
            </a:endParaRPr>
          </a:p>
        </p:txBody>
      </p:sp>
      <p:pic>
        <p:nvPicPr>
          <p:cNvPr id="25" name="Picture 24">
            <a:extLst>
              <a:ext uri="{FF2B5EF4-FFF2-40B4-BE49-F238E27FC236}">
                <a16:creationId xmlns:a16="http://schemas.microsoft.com/office/drawing/2014/main" id="{22FA77C3-7DA5-3AC4-12A1-425C27DA5166}"/>
              </a:ext>
            </a:extLst>
          </p:cNvPr>
          <p:cNvPicPr>
            <a:picLocks noChangeAspect="1"/>
          </p:cNvPicPr>
          <p:nvPr/>
        </p:nvPicPr>
        <p:blipFill>
          <a:blip r:embed="rId6">
            <a:duotone>
              <a:schemeClr val="bg2">
                <a:shade val="45000"/>
                <a:satMod val="135000"/>
              </a:schemeClr>
              <a:prstClr val="white"/>
            </a:duotone>
          </a:blip>
          <a:stretch>
            <a:fillRect/>
          </a:stretch>
        </p:blipFill>
        <p:spPr>
          <a:xfrm>
            <a:off x="9874536" y="5141150"/>
            <a:ext cx="1478047" cy="1478047"/>
          </a:xfrm>
          <a:prstGeom prst="rect">
            <a:avLst/>
          </a:prstGeom>
        </p:spPr>
      </p:pic>
      <p:grpSp>
        <p:nvGrpSpPr>
          <p:cNvPr id="27" name="Group 26">
            <a:extLst>
              <a:ext uri="{FF2B5EF4-FFF2-40B4-BE49-F238E27FC236}">
                <a16:creationId xmlns:a16="http://schemas.microsoft.com/office/drawing/2014/main" id="{B176D2A3-9B82-849C-6493-981F75D1917D}"/>
              </a:ext>
            </a:extLst>
          </p:cNvPr>
          <p:cNvGrpSpPr/>
          <p:nvPr/>
        </p:nvGrpSpPr>
        <p:grpSpPr>
          <a:xfrm>
            <a:off x="7568246" y="4537609"/>
            <a:ext cx="1866957" cy="938988"/>
            <a:chOff x="7568246" y="4537609"/>
            <a:chExt cx="1866957" cy="938988"/>
          </a:xfrm>
        </p:grpSpPr>
        <p:pic>
          <p:nvPicPr>
            <p:cNvPr id="5" name="Picture 4">
              <a:extLst>
                <a:ext uri="{FF2B5EF4-FFF2-40B4-BE49-F238E27FC236}">
                  <a16:creationId xmlns:a16="http://schemas.microsoft.com/office/drawing/2014/main" id="{E1084B40-D6DE-CAC7-D349-D52CD4DA1AD2}"/>
                </a:ext>
              </a:extLst>
            </p:cNvPr>
            <p:cNvPicPr>
              <a:picLocks noChangeAspect="1"/>
            </p:cNvPicPr>
            <p:nvPr/>
          </p:nvPicPr>
          <p:blipFill>
            <a:blip r:embed="rId7" cstate="print">
              <a:extLst>
                <a:ext uri="{BEBA8EAE-BF5A-486C-A8C5-ECC9F3942E4B}">
                  <a14:imgProps xmlns:a14="http://schemas.microsoft.com/office/drawing/2010/main">
                    <a14:imgLayer r:embed="rId8">
                      <a14:imgEffect>
                        <a14:backgroundRemoval t="10000" b="90000" l="10000" r="90000">
                          <a14:foregroundMark x1="65949" y1="31659" x2="71292" y2="33413"/>
                          <a14:foregroundMark x1="70893" y1="35646" x2="70016" y2="36762"/>
                          <a14:foregroundMark x1="68740" y1="44179" x2="58852" y2="49601"/>
                          <a14:foregroundMark x1="58852" y1="49601" x2="68262" y2="52313"/>
                          <a14:foregroundMark x1="68262" y1="52313" x2="63636" y2="44817"/>
                          <a14:foregroundMark x1="70255" y1="29585" x2="57496" y2="43301"/>
                          <a14:foregroundMark x1="57496" y1="43301" x2="73525" y2="52153"/>
                          <a14:foregroundMark x1="73525" y1="52153" x2="74960" y2="36523"/>
                          <a14:foregroundMark x1="74960" y1="36523" x2="71212" y2="30622"/>
                          <a14:foregroundMark x1="73285" y1="35885" x2="68660" y2="42424"/>
                          <a14:foregroundMark x1="68660" y1="42424" x2="71292" y2="46491"/>
                          <a14:foregroundMark x1="68740" y1="46411" x2="68900" y2="47687"/>
                          <a14:foregroundMark x1="64593" y1="32137" x2="59968" y2="34450"/>
                          <a14:foregroundMark x1="58054" y1="63317" x2="58373" y2="62759"/>
                          <a14:foregroundMark x1="58931" y1="70813" x2="60128" y2="70255"/>
                          <a14:foregroundMark x1="57895" y1="70574" x2="58692" y2="70335"/>
                          <a14:foregroundMark x1="58214" y1="61324" x2="57815" y2="61802"/>
                          <a14:foregroundMark x1="58852" y1="63158" x2="58692" y2="63158"/>
                          <a14:foregroundMark x1="58453" y1="62679" x2="58533" y2="64434"/>
                          <a14:foregroundMark x1="86922" y1="59888" x2="86045" y2="60287"/>
                          <a14:foregroundMark x1="85167" y1="60447" x2="85486" y2="60287"/>
                          <a14:foregroundMark x1="86523" y1="66986" x2="86683" y2="67384"/>
                          <a14:foregroundMark x1="85726" y1="68341" x2="86683" y2="68102"/>
                          <a14:foregroundMark x1="60845" y1="71132" x2="61404" y2="71053"/>
                        </a14:backgroundRemoval>
                      </a14:imgEffect>
                    </a14:imgLayer>
                  </a14:imgProps>
                </a:ext>
                <a:ext uri="{28A0092B-C50C-407E-A947-70E740481C1C}">
                  <a14:useLocalDpi xmlns:a14="http://schemas.microsoft.com/office/drawing/2010/main" val="0"/>
                </a:ext>
              </a:extLst>
            </a:blip>
            <a:stretch>
              <a:fillRect/>
            </a:stretch>
          </p:blipFill>
          <p:spPr>
            <a:xfrm>
              <a:off x="7568246" y="4597292"/>
              <a:ext cx="879305" cy="879305"/>
            </a:xfrm>
            <a:prstGeom prst="rect">
              <a:avLst/>
            </a:prstGeom>
          </p:spPr>
        </p:pic>
        <p:sp>
          <p:nvSpPr>
            <p:cNvPr id="26" name="Speech Bubble: Rectangle with Corners Rounded 25">
              <a:extLst>
                <a:ext uri="{FF2B5EF4-FFF2-40B4-BE49-F238E27FC236}">
                  <a16:creationId xmlns:a16="http://schemas.microsoft.com/office/drawing/2014/main" id="{89F47026-E271-4458-6E25-1C9FCADB9B08}"/>
                </a:ext>
              </a:extLst>
            </p:cNvPr>
            <p:cNvSpPr/>
            <p:nvPr/>
          </p:nvSpPr>
          <p:spPr>
            <a:xfrm>
              <a:off x="8468321" y="4537609"/>
              <a:ext cx="966882" cy="531996"/>
            </a:xfrm>
            <a:custGeom>
              <a:avLst/>
              <a:gdLst>
                <a:gd name="csX0" fmla="*/ 0 w 1024186"/>
                <a:gd name="csY0" fmla="*/ 76956 h 461725"/>
                <a:gd name="csX1" fmla="*/ 76956 w 1024186"/>
                <a:gd name="csY1" fmla="*/ 0 h 461725"/>
                <a:gd name="csX2" fmla="*/ 170698 w 1024186"/>
                <a:gd name="csY2" fmla="*/ 0 h 461725"/>
                <a:gd name="csX3" fmla="*/ 170698 w 1024186"/>
                <a:gd name="csY3" fmla="*/ 0 h 461725"/>
                <a:gd name="csX4" fmla="*/ 426744 w 1024186"/>
                <a:gd name="csY4" fmla="*/ 0 h 461725"/>
                <a:gd name="csX5" fmla="*/ 947230 w 1024186"/>
                <a:gd name="csY5" fmla="*/ 0 h 461725"/>
                <a:gd name="csX6" fmla="*/ 1024186 w 1024186"/>
                <a:gd name="csY6" fmla="*/ 76956 h 461725"/>
                <a:gd name="csX7" fmla="*/ 1024186 w 1024186"/>
                <a:gd name="csY7" fmla="*/ 269340 h 461725"/>
                <a:gd name="csX8" fmla="*/ 1024186 w 1024186"/>
                <a:gd name="csY8" fmla="*/ 269340 h 461725"/>
                <a:gd name="csX9" fmla="*/ 1024186 w 1024186"/>
                <a:gd name="csY9" fmla="*/ 384771 h 461725"/>
                <a:gd name="csX10" fmla="*/ 1024186 w 1024186"/>
                <a:gd name="csY10" fmla="*/ 384769 h 461725"/>
                <a:gd name="csX11" fmla="*/ 947230 w 1024186"/>
                <a:gd name="csY11" fmla="*/ 461725 h 461725"/>
                <a:gd name="csX12" fmla="*/ 426744 w 1024186"/>
                <a:gd name="csY12" fmla="*/ 461725 h 461725"/>
                <a:gd name="csX13" fmla="*/ 298724 w 1024186"/>
                <a:gd name="csY13" fmla="*/ 519441 h 461725"/>
                <a:gd name="csX14" fmla="*/ 170698 w 1024186"/>
                <a:gd name="csY14" fmla="*/ 461725 h 461725"/>
                <a:gd name="csX15" fmla="*/ 76956 w 1024186"/>
                <a:gd name="csY15" fmla="*/ 461725 h 461725"/>
                <a:gd name="csX16" fmla="*/ 0 w 1024186"/>
                <a:gd name="csY16" fmla="*/ 384769 h 461725"/>
                <a:gd name="csX17" fmla="*/ 0 w 1024186"/>
                <a:gd name="csY17" fmla="*/ 384771 h 461725"/>
                <a:gd name="csX18" fmla="*/ 0 w 1024186"/>
                <a:gd name="csY18" fmla="*/ 269340 h 461725"/>
                <a:gd name="csX19" fmla="*/ 0 w 1024186"/>
                <a:gd name="csY19" fmla="*/ 269340 h 461725"/>
                <a:gd name="csX20" fmla="*/ 0 w 1024186"/>
                <a:gd name="csY20" fmla="*/ 76956 h 461725"/>
                <a:gd name="csX0" fmla="*/ 74696 w 1098882"/>
                <a:gd name="csY0" fmla="*/ 76956 h 643914"/>
                <a:gd name="csX1" fmla="*/ 151652 w 1098882"/>
                <a:gd name="csY1" fmla="*/ 0 h 643914"/>
                <a:gd name="csX2" fmla="*/ 245394 w 1098882"/>
                <a:gd name="csY2" fmla="*/ 0 h 643914"/>
                <a:gd name="csX3" fmla="*/ 245394 w 1098882"/>
                <a:gd name="csY3" fmla="*/ 0 h 643914"/>
                <a:gd name="csX4" fmla="*/ 501440 w 1098882"/>
                <a:gd name="csY4" fmla="*/ 0 h 643914"/>
                <a:gd name="csX5" fmla="*/ 1021926 w 1098882"/>
                <a:gd name="csY5" fmla="*/ 0 h 643914"/>
                <a:gd name="csX6" fmla="*/ 1098882 w 1098882"/>
                <a:gd name="csY6" fmla="*/ 76956 h 643914"/>
                <a:gd name="csX7" fmla="*/ 1098882 w 1098882"/>
                <a:gd name="csY7" fmla="*/ 269340 h 643914"/>
                <a:gd name="csX8" fmla="*/ 1098882 w 1098882"/>
                <a:gd name="csY8" fmla="*/ 269340 h 643914"/>
                <a:gd name="csX9" fmla="*/ 1098882 w 1098882"/>
                <a:gd name="csY9" fmla="*/ 384771 h 643914"/>
                <a:gd name="csX10" fmla="*/ 1098882 w 1098882"/>
                <a:gd name="csY10" fmla="*/ 384769 h 643914"/>
                <a:gd name="csX11" fmla="*/ 1021926 w 1098882"/>
                <a:gd name="csY11" fmla="*/ 461725 h 643914"/>
                <a:gd name="csX12" fmla="*/ 501440 w 1098882"/>
                <a:gd name="csY12" fmla="*/ 461725 h 643914"/>
                <a:gd name="csX13" fmla="*/ 0 w 1098882"/>
                <a:gd name="csY13" fmla="*/ 643914 h 643914"/>
                <a:gd name="csX14" fmla="*/ 245394 w 1098882"/>
                <a:gd name="csY14" fmla="*/ 461725 h 643914"/>
                <a:gd name="csX15" fmla="*/ 151652 w 1098882"/>
                <a:gd name="csY15" fmla="*/ 461725 h 643914"/>
                <a:gd name="csX16" fmla="*/ 74696 w 1098882"/>
                <a:gd name="csY16" fmla="*/ 384769 h 643914"/>
                <a:gd name="csX17" fmla="*/ 74696 w 1098882"/>
                <a:gd name="csY17" fmla="*/ 384771 h 643914"/>
                <a:gd name="csX18" fmla="*/ 74696 w 1098882"/>
                <a:gd name="csY18" fmla="*/ 269340 h 643914"/>
                <a:gd name="csX19" fmla="*/ 74696 w 1098882"/>
                <a:gd name="csY19" fmla="*/ 269340 h 643914"/>
                <a:gd name="csX20" fmla="*/ 74696 w 1098882"/>
                <a:gd name="csY20" fmla="*/ 76956 h 643914"/>
                <a:gd name="csX0" fmla="*/ 0 w 1024186"/>
                <a:gd name="csY0" fmla="*/ 76956 h 638170"/>
                <a:gd name="csX1" fmla="*/ 76956 w 1024186"/>
                <a:gd name="csY1" fmla="*/ 0 h 638170"/>
                <a:gd name="csX2" fmla="*/ 170698 w 1024186"/>
                <a:gd name="csY2" fmla="*/ 0 h 638170"/>
                <a:gd name="csX3" fmla="*/ 170698 w 1024186"/>
                <a:gd name="csY3" fmla="*/ 0 h 638170"/>
                <a:gd name="csX4" fmla="*/ 426744 w 1024186"/>
                <a:gd name="csY4" fmla="*/ 0 h 638170"/>
                <a:gd name="csX5" fmla="*/ 947230 w 1024186"/>
                <a:gd name="csY5" fmla="*/ 0 h 638170"/>
                <a:gd name="csX6" fmla="*/ 1024186 w 1024186"/>
                <a:gd name="csY6" fmla="*/ 76956 h 638170"/>
                <a:gd name="csX7" fmla="*/ 1024186 w 1024186"/>
                <a:gd name="csY7" fmla="*/ 269340 h 638170"/>
                <a:gd name="csX8" fmla="*/ 1024186 w 1024186"/>
                <a:gd name="csY8" fmla="*/ 269340 h 638170"/>
                <a:gd name="csX9" fmla="*/ 1024186 w 1024186"/>
                <a:gd name="csY9" fmla="*/ 384771 h 638170"/>
                <a:gd name="csX10" fmla="*/ 1024186 w 1024186"/>
                <a:gd name="csY10" fmla="*/ 384769 h 638170"/>
                <a:gd name="csX11" fmla="*/ 947230 w 1024186"/>
                <a:gd name="csY11" fmla="*/ 461725 h 638170"/>
                <a:gd name="csX12" fmla="*/ 426744 w 1024186"/>
                <a:gd name="csY12" fmla="*/ 461725 h 638170"/>
                <a:gd name="csX13" fmla="*/ 41941 w 1024186"/>
                <a:gd name="csY13" fmla="*/ 638170 h 638170"/>
                <a:gd name="csX14" fmla="*/ 170698 w 1024186"/>
                <a:gd name="csY14" fmla="*/ 461725 h 638170"/>
                <a:gd name="csX15" fmla="*/ 76956 w 1024186"/>
                <a:gd name="csY15" fmla="*/ 461725 h 638170"/>
                <a:gd name="csX16" fmla="*/ 0 w 1024186"/>
                <a:gd name="csY16" fmla="*/ 384769 h 638170"/>
                <a:gd name="csX17" fmla="*/ 0 w 1024186"/>
                <a:gd name="csY17" fmla="*/ 384771 h 638170"/>
                <a:gd name="csX18" fmla="*/ 0 w 1024186"/>
                <a:gd name="csY18" fmla="*/ 269340 h 638170"/>
                <a:gd name="csX19" fmla="*/ 0 w 1024186"/>
                <a:gd name="csY19" fmla="*/ 269340 h 638170"/>
                <a:gd name="csX20" fmla="*/ 0 w 1024186"/>
                <a:gd name="csY20" fmla="*/ 76956 h 6381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024186" h="638170">
                  <a:moveTo>
                    <a:pt x="0" y="76956"/>
                  </a:moveTo>
                  <a:cubicBezTo>
                    <a:pt x="0" y="34454"/>
                    <a:pt x="34454" y="0"/>
                    <a:pt x="76956" y="0"/>
                  </a:cubicBezTo>
                  <a:lnTo>
                    <a:pt x="170698" y="0"/>
                  </a:lnTo>
                  <a:lnTo>
                    <a:pt x="170698" y="0"/>
                  </a:lnTo>
                  <a:lnTo>
                    <a:pt x="426744" y="0"/>
                  </a:lnTo>
                  <a:lnTo>
                    <a:pt x="947230" y="0"/>
                  </a:lnTo>
                  <a:cubicBezTo>
                    <a:pt x="989732" y="0"/>
                    <a:pt x="1024186" y="34454"/>
                    <a:pt x="1024186" y="76956"/>
                  </a:cubicBezTo>
                  <a:lnTo>
                    <a:pt x="1024186" y="269340"/>
                  </a:lnTo>
                  <a:lnTo>
                    <a:pt x="1024186" y="269340"/>
                  </a:lnTo>
                  <a:lnTo>
                    <a:pt x="1024186" y="384771"/>
                  </a:lnTo>
                  <a:lnTo>
                    <a:pt x="1024186" y="384769"/>
                  </a:lnTo>
                  <a:cubicBezTo>
                    <a:pt x="1024186" y="427271"/>
                    <a:pt x="989732" y="461725"/>
                    <a:pt x="947230" y="461725"/>
                  </a:cubicBezTo>
                  <a:lnTo>
                    <a:pt x="426744" y="461725"/>
                  </a:lnTo>
                  <a:lnTo>
                    <a:pt x="41941" y="638170"/>
                  </a:lnTo>
                  <a:lnTo>
                    <a:pt x="170698" y="461725"/>
                  </a:lnTo>
                  <a:lnTo>
                    <a:pt x="76956" y="461725"/>
                  </a:lnTo>
                  <a:cubicBezTo>
                    <a:pt x="34454" y="461725"/>
                    <a:pt x="0" y="427271"/>
                    <a:pt x="0" y="384769"/>
                  </a:cubicBezTo>
                  <a:lnTo>
                    <a:pt x="0" y="384771"/>
                  </a:lnTo>
                  <a:lnTo>
                    <a:pt x="0" y="269340"/>
                  </a:lnTo>
                  <a:lnTo>
                    <a:pt x="0" y="269340"/>
                  </a:lnTo>
                  <a:lnTo>
                    <a:pt x="0" y="76956"/>
                  </a:lnTo>
                  <a:close/>
                </a:path>
              </a:pathLst>
            </a:custGeom>
            <a:noFill/>
            <a:ln w="38100">
              <a:solidFill>
                <a:srgbClr val="0C74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solidFill>
                    <a:srgbClr val="0C74ED"/>
                  </a:solidFill>
                </a:rPr>
                <a:t>Thank you!</a:t>
              </a:r>
            </a:p>
            <a:p>
              <a:pPr algn="ctr"/>
              <a:endParaRPr lang="en-GB" sz="1100" dirty="0">
                <a:solidFill>
                  <a:srgbClr val="0C74ED"/>
                </a:solidFill>
              </a:endParaRPr>
            </a:p>
          </p:txBody>
        </p:sp>
      </p:grpSp>
    </p:spTree>
    <p:extLst>
      <p:ext uri="{BB962C8B-B14F-4D97-AF65-F5344CB8AC3E}">
        <p14:creationId xmlns:p14="http://schemas.microsoft.com/office/powerpoint/2010/main" val="1644106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1000"/>
                                  </p:stCondLst>
                                  <p:childTnLst>
                                    <p:set>
                                      <p:cBhvr>
                                        <p:cTn id="15"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09530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7A173-FCF9-31E8-22FC-E9B62D3A85FA}"/>
              </a:ext>
            </a:extLst>
          </p:cNvPr>
          <p:cNvSpPr>
            <a:spLocks noGrp="1"/>
          </p:cNvSpPr>
          <p:nvPr>
            <p:ph type="title"/>
          </p:nvPr>
        </p:nvSpPr>
        <p:spPr/>
        <p:txBody>
          <a:bodyPr/>
          <a:lstStyle/>
          <a:p>
            <a:r>
              <a:rPr lang="en-GB" dirty="0"/>
              <a:t>Limitations &amp; Scope</a:t>
            </a:r>
          </a:p>
        </p:txBody>
      </p:sp>
      <p:sp>
        <p:nvSpPr>
          <p:cNvPr id="3" name="Text Placeholder 2">
            <a:extLst>
              <a:ext uri="{FF2B5EF4-FFF2-40B4-BE49-F238E27FC236}">
                <a16:creationId xmlns:a16="http://schemas.microsoft.com/office/drawing/2014/main" id="{2B3D6562-C39E-2C3C-A371-3E1CF90CE863}"/>
              </a:ext>
            </a:extLst>
          </p:cNvPr>
          <p:cNvSpPr>
            <a:spLocks noGrp="1"/>
          </p:cNvSpPr>
          <p:nvPr>
            <p:ph type="body" sz="quarter" idx="10"/>
          </p:nvPr>
        </p:nvSpPr>
        <p:spPr/>
        <p:txBody>
          <a:bodyPr/>
          <a:lstStyle/>
          <a:p>
            <a:r>
              <a:rPr lang="en-GB" b="1" dirty="0"/>
              <a:t>Not a leaderboard of LLMs</a:t>
            </a:r>
            <a:br>
              <a:rPr lang="en-GB" dirty="0"/>
            </a:br>
            <a:r>
              <a:rPr lang="en-GB" dirty="0"/>
              <a:t>We do not claim to find the best model, best prompt, or optimal LLM performance.</a:t>
            </a:r>
          </a:p>
          <a:p>
            <a:r>
              <a:rPr lang="en-GB" b="1" dirty="0"/>
              <a:t>One rich domain</a:t>
            </a:r>
            <a:br>
              <a:rPr lang="en-GB" dirty="0"/>
            </a:br>
            <a:r>
              <a:rPr lang="en-GB" dirty="0"/>
              <a:t>Our conclusions are based on APDP: a logistics, auction, and planning benchmark.</a:t>
            </a:r>
          </a:p>
          <a:p>
            <a:r>
              <a:rPr lang="en-GB" b="1" dirty="0"/>
              <a:t>Representative vibe-coding setting</a:t>
            </a:r>
            <a:br>
              <a:rPr lang="en-GB" dirty="0"/>
            </a:br>
            <a:r>
              <a:rPr lang="en-GB" dirty="0"/>
              <a:t>We evaluate broadly accessible LLMs and prompting strategies, not custom systems or highly specialized pipelines.</a:t>
            </a:r>
          </a:p>
          <a:p>
            <a:r>
              <a:rPr lang="en-GB" b="1" dirty="0"/>
              <a:t>Main implication</a:t>
            </a:r>
            <a:br>
              <a:rPr lang="en-GB" dirty="0"/>
            </a:br>
            <a:r>
              <a:rPr lang="en-GB" dirty="0"/>
              <a:t>We need richer AI evaluations where difficulty emerges from planning, incentives, and interaction between agents.</a:t>
            </a:r>
          </a:p>
          <a:p>
            <a:endParaRPr lang="en-GB" dirty="0"/>
          </a:p>
        </p:txBody>
      </p:sp>
    </p:spTree>
    <p:extLst>
      <p:ext uri="{BB962C8B-B14F-4D97-AF65-F5344CB8AC3E}">
        <p14:creationId xmlns:p14="http://schemas.microsoft.com/office/powerpoint/2010/main" val="824379745"/>
      </p:ext>
    </p:extLst>
  </p:cSld>
  <p:clrMapOvr>
    <a:masterClrMapping/>
  </p:clrMapOvr>
</p:sld>
</file>

<file path=ppt/theme/theme1.xml><?xml version="1.0" encoding="utf-8"?>
<a:theme xmlns:a="http://schemas.openxmlformats.org/drawingml/2006/main" name="UoS_Powerpoint_template WIDESCREEN">
  <a:themeElements>
    <a:clrScheme name="Rich Black">
      <a:dk1>
        <a:srgbClr val="231F20"/>
      </a:dk1>
      <a:lt1>
        <a:srgbClr val="FFFFFF"/>
      </a:lt1>
      <a:dk2>
        <a:srgbClr val="005C84"/>
      </a:dk2>
      <a:lt2>
        <a:srgbClr val="495961"/>
      </a:lt2>
      <a:accent1>
        <a:srgbClr val="9FB1BD"/>
      </a:accent1>
      <a:accent2>
        <a:srgbClr val="E73037"/>
      </a:accent2>
      <a:accent3>
        <a:srgbClr val="C1D100"/>
      </a:accent3>
      <a:accent4>
        <a:srgbClr val="8D3970"/>
      </a:accent4>
      <a:accent5>
        <a:srgbClr val="31BFC7"/>
      </a:accent5>
      <a:accent6>
        <a:srgbClr val="EF7D00"/>
      </a:accent6>
      <a:hlink>
        <a:srgbClr val="74C9E5"/>
      </a:hlink>
      <a:folHlink>
        <a:srgbClr val="D5007F"/>
      </a:folHlink>
    </a:clrScheme>
    <a:fontScheme name="Custom 1">
      <a:majorFont>
        <a:latin typeface="Lucida Sans"/>
        <a:ea typeface=""/>
        <a:cs typeface=""/>
      </a:majorFont>
      <a:minorFont>
        <a:latin typeface="Lucida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2" id="{0EEB19A3-E5AF-B743-8C08-9AD556682854}" vid="{671753E0-2D72-0A42-810F-2669D10CC1B4}"/>
    </a:ext>
  </a:extLst>
</a:theme>
</file>

<file path=ppt/theme/theme2.xml><?xml version="1.0" encoding="utf-8"?>
<a:theme xmlns:a="http://schemas.openxmlformats.org/drawingml/2006/main" name="Title and content">
  <a:themeElements>
    <a:clrScheme name="Custom 6">
      <a:dk1>
        <a:srgbClr val="231F20"/>
      </a:dk1>
      <a:lt1>
        <a:srgbClr val="FFFFFF"/>
      </a:lt1>
      <a:dk2>
        <a:srgbClr val="005C84"/>
      </a:dk2>
      <a:lt2>
        <a:srgbClr val="495961"/>
      </a:lt2>
      <a:accent1>
        <a:srgbClr val="9FB1BD"/>
      </a:accent1>
      <a:accent2>
        <a:srgbClr val="E73037"/>
      </a:accent2>
      <a:accent3>
        <a:srgbClr val="C1D100"/>
      </a:accent3>
      <a:accent4>
        <a:srgbClr val="8D3970"/>
      </a:accent4>
      <a:accent5>
        <a:srgbClr val="31BFC7"/>
      </a:accent5>
      <a:accent6>
        <a:srgbClr val="EF7D00"/>
      </a:accent6>
      <a:hlink>
        <a:srgbClr val="005C83"/>
      </a:hlink>
      <a:folHlink>
        <a:srgbClr val="495961"/>
      </a:folHlink>
    </a:clrScheme>
    <a:fontScheme name="UoS Powerpoint Fonts">
      <a:majorFont>
        <a:latin typeface="Lucida Sans"/>
        <a:ea typeface=""/>
        <a:cs typeface=""/>
      </a:majorFont>
      <a:minorFont>
        <a:latin typeface="Lucida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2" id="{0EEB19A3-E5AF-B743-8C08-9AD556682854}" vid="{F81E0AD6-EF14-2A4C-975C-394B6C331CD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E596EA4FAEC4442816FD0897DB0514A" ma:contentTypeVersion="16" ma:contentTypeDescription="Create a new document." ma:contentTypeScope="" ma:versionID="c4a3ec780ae8b6bc7180fb12cc6fd349">
  <xsd:schema xmlns:xsd="http://www.w3.org/2001/XMLSchema" xmlns:xs="http://www.w3.org/2001/XMLSchema" xmlns:p="http://schemas.microsoft.com/office/2006/metadata/properties" xmlns:ns2="993a5681-5c5b-4cef-91da-e6501083dd4a" xmlns:ns3="1fc98906-40c9-4f56-92bd-f396bbed9311" targetNamespace="http://schemas.microsoft.com/office/2006/metadata/properties" ma:root="true" ma:fieldsID="332b0e68908c8f6fca65ffd23b5d39b5" ns2:_="" ns3:_="">
    <xsd:import namespace="993a5681-5c5b-4cef-91da-e6501083dd4a"/>
    <xsd:import namespace="1fc98906-40c9-4f56-92bd-f396bbed931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Indicator"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3a5681-5c5b-4cef-91da-e6501083dd4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Indicator" ma:index="15" nillable="true" ma:displayName="Indicator" ma:internalName="Indicator">
      <xsd:simpleType>
        <xsd:restriction base="dms:Text">
          <xsd:maxLength value="255"/>
        </xsd:restrictio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bf2f534-9c3d-494b-83fb-768e807180c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fc98906-40c9-4f56-92bd-f396bbed9311"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40bfaa32-be88-4c32-8520-a8dac6cdd59d}" ma:internalName="TaxCatchAll" ma:showField="CatchAllData" ma:web="1fc98906-40c9-4f56-92bd-f396bbed931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Indicator xmlns="993a5681-5c5b-4cef-91da-e6501083dd4a" xsi:nil="true"/>
    <lcf76f155ced4ddcb4097134ff3c332f xmlns="993a5681-5c5b-4cef-91da-e6501083dd4a">
      <Terms xmlns="http://schemas.microsoft.com/office/infopath/2007/PartnerControls"/>
    </lcf76f155ced4ddcb4097134ff3c332f>
    <TaxCatchAll xmlns="1fc98906-40c9-4f56-92bd-f396bbed931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B4C1696-DD8E-4EBB-BDB2-52D14A2D545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93a5681-5c5b-4cef-91da-e6501083dd4a"/>
    <ds:schemaRef ds:uri="1fc98906-40c9-4f56-92bd-f396bbed931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8E36CD4-E1A5-4115-83AF-EADAA977D6D0}">
  <ds:schemaRefs>
    <ds:schemaRef ds:uri="http://www.w3.org/XML/1998/namespace"/>
    <ds:schemaRef ds:uri="993a5681-5c5b-4cef-91da-e6501083dd4a"/>
    <ds:schemaRef ds:uri="http://purl.org/dc/elements/1.1/"/>
    <ds:schemaRef ds:uri="http://schemas.microsoft.com/office/infopath/2007/PartnerControls"/>
    <ds:schemaRef ds:uri="http://schemas.openxmlformats.org/package/2006/metadata/core-properties"/>
    <ds:schemaRef ds:uri="http://schemas.microsoft.com/office/2006/documentManagement/types"/>
    <ds:schemaRef ds:uri="http://purl.org/dc/dcmitype/"/>
    <ds:schemaRef ds:uri="1fc98906-40c9-4f56-92bd-f396bbed9311"/>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3A1DFD40-91FD-4A36-A4B6-E835E4A9346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2026 AAMAS Presentation</Template>
  <TotalTime>1566</TotalTime>
  <Words>3146</Words>
  <Application>Microsoft Office PowerPoint</Application>
  <PresentationFormat>Widescreen</PresentationFormat>
  <Paragraphs>267</Paragraphs>
  <Slides>17</Slides>
  <Notes>16</Notes>
  <HiddenSlides>2</HiddenSlides>
  <MMClips>2</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17</vt:i4>
      </vt:variant>
    </vt:vector>
  </HeadingPairs>
  <TitlesOfParts>
    <vt:vector size="24" baseType="lpstr">
      <vt:lpstr>Arial</vt:lpstr>
      <vt:lpstr>Calibri</vt:lpstr>
      <vt:lpstr>Google Sans</vt:lpstr>
      <vt:lpstr>Google Sans Medium</vt:lpstr>
      <vt:lpstr>Lucida Sans</vt:lpstr>
      <vt:lpstr>UoS_Powerpoint_template WIDESCREEN</vt:lpstr>
      <vt:lpstr>Title and content</vt:lpstr>
      <vt:lpstr>Can Vibe Coding Beat Graduate CS Students?</vt:lpstr>
      <vt:lpstr>PowerPoint Presentation</vt:lpstr>
      <vt:lpstr>AI Code Generation</vt:lpstr>
      <vt:lpstr>The Vibe Coding Promise</vt:lpstr>
      <vt:lpstr>The Vibe Coding Promise</vt:lpstr>
      <vt:lpstr>Putting Vibe Coding to the Test</vt:lpstr>
      <vt:lpstr>Putting Vibe Coding to the Test</vt:lpstr>
      <vt:lpstr>Putting Vibe Coding to the Test</vt:lpstr>
      <vt:lpstr>New Frontier in Automated Code Generation</vt:lpstr>
      <vt:lpstr>Why this is not just coding?</vt:lpstr>
      <vt:lpstr>The Competitors: CS Students vs. SOTA LLMs</vt:lpstr>
      <vt:lpstr>A Tournament, Not a Unit Test</vt:lpstr>
      <vt:lpstr>Results</vt:lpstr>
      <vt:lpstr>🎯 Takeaways</vt:lpstr>
      <vt:lpstr>Summary: Vibe Coding Meets Reality</vt:lpstr>
      <vt:lpstr>PowerPoint Presentation</vt:lpstr>
      <vt:lpstr>Limitations &amp; Scope</vt:lpstr>
    </vt:vector>
  </TitlesOfParts>
  <Company>University of Southampton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Panayiotis Danassis</dc:creator>
  <cp:lastModifiedBy>Panayiotis Danassis</cp:lastModifiedBy>
  <cp:revision>85</cp:revision>
  <dcterms:created xsi:type="dcterms:W3CDTF">2026-05-07T08:22:34Z</dcterms:created>
  <dcterms:modified xsi:type="dcterms:W3CDTF">2026-05-21T09:23:16Z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0x0101000E596EA4FAEC4442816FD0897DB0514A</vt:lpwstr>
  </property>
</Properties>
</file>